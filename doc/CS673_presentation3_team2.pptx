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Hi everyone, we're Team 2, and this is Cadence, our spaced-repetition study app. Iteration 3 adds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the two things we set out to do differently from Anki. Cadence can now write your flashcards with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AI, and it can check the answers you type. The P4 walkthrough completed successfully. I'm Nurzat, and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I'll cover the team and our scope.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AI usage: slide content and scripts adapted with OpenAI Codex from the supplied Iteration 3 plan and Iteration 2 deck.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We're the same four people, in the same roles. We split this iteration into twelve tasks with one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owner each, and agreed the interfaces between them before writing code, so all four of us could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build at once. Miles built the foundations, the Gemini connection and the generate form. Duc built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the prompt rules, the generate endpoint, the review list and our deployment. Von built accepting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suggestions and the AI badge. And I built typed-answer mode.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Here's where our scope landed. From any deck, you can ask for up to 25 cards in three ways: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describe a topic, upload a PDF, text or Markdown file, or, once a deck has 10 cards, have Cadence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suggest more of what it already covers. You accept or reject every suggestion, and accepted cards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keep an AI-generated badge for good. We cut multiple choice so typed answers could ship complete,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and you edit a suggestion after accepting it, not before. Study history and statistics stay on the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roadmap.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Typed answers were the requirement that changed the most. Our Lab 3 story graded small typos 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"close". We made grading strict instead, because spelling and accents are part of knowing the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answer, especially in a language deck. Capital letters, extra spaces and punctuation at the ends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are forgiven; spelling, accents and numbers count. A correct answer suggests Good, and a wrong one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suggests Again. That button is already focused, so Enter accepts it, and any other rating is one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click away. Now Duc will show how AI generation is built.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Thanks, Nurzat. I'm Duc. AI generation fits into the same four layers as before. When you press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Generate, the page sends one JSON request, with any file inside it as base64, and nginx lets that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one route take up to 6 megabytes. The generate endpoint checks that you own the deck, validates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every field, and checks the daily limits. Then come three steps. First, the prompt: twelve rules,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like one fact per card and answers of five words or fewer, with the learner's text inside tags, so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the model treats it as material, never instructions. Second, the call: only provider.py talks to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Google, and a stand-in behind the same interface means tests never need a key. Third, cleanup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drops malformed cards, cards whose question gives the answer away, and repeats of cards already in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the deck. What's left is saved as a pending batch, and the review list I built shows each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suggestion with Accept and Reject. Only the accept endpoint turns a suggestion into a card marked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as AI, so the label can't be forged, and every AI card links back to the request that made it.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 sz="1200"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Our workflow hasn't changed: a feature branch, a pull request, the CI passed check and one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approval, then develop, then main. CI still runs linting, both backend test suites, the migration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check, the frontend tests and the image scan. What's new is the end of the pipeline. Cadence 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configured for Render's free tier, with the database, backend and frontend all defined in render.yaml,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with automatic deployment configured for green merges to main. Free hosting brought surprises. Free services can't receive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private-network traffic, so nginx calls the backend's public address. Render's pre-deploy step 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paid-only, so migrations run as the backend starts. And services sleep after 15 minutes, so the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first visit takes about 30 seconds. The Gemini key lives only in Render's settings; CI has none,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and needs none. Next, Von will cover how we tested 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Thanks, Duc. I'm Von, and I'll cover how we tested Iteration 3, starting with the automated tests.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The backend now has 391 tests, up from 201, at 98 percent coverage, and every one runs on both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SQLite and PostgreSQL. None of them touches the network. Generation runs against the stand-in, and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the Gemini provider is tested with a fake client that simulates quota errors, timeouts, replies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cut off for length, and safety stops. CI has no API key, and needs none. The frontend has 318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tests, up from 174, at 95 percent, including the generate page, the review list and the typed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study flow. Both sides keep their 90 percent gates, so a merge that drops coverage is blocked.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 sz="1200"/>
          </a:p>
        </p:txBody>
      </p:sp>
      <p:sp>
        <p:nvSpPr>
          <p:cNvPr id="245" name="Google Shape;24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Automated tests cannot tell us whether the real model writes good cards. Our plan sets eight acceptance criteria for P4, covering generation from a prompt, a PDF and Suggest more, accepting and rejecting, the AI badge, switching study modes, and typed grading. The P4 walkthrough completed successfully, and successful generation took under a second during the walkthrough. This is an observed result, not a latency guarantee. The documentation plan adds fourteen manual cases. We did not measure performance under load.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 update: Nurzat confirmed the successful P4 walkthrough, generation under one second, and personal-use plans in this conversation.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 sz="1200"/>
          </a:p>
        </p:txBody>
      </p:sp>
      <p:sp>
        <p:nvSpPr>
          <p:cNvPr id="282" name="Google Shape;2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Testing and review kept catching real problems before a user could. In the generate form, a file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you'd removed could still be sent after switching modes. Duc caught it in review, and it was fixed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before merging. On my study-card change, the AI badge sat under the state badge instead of beside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it. A code-scanning alert in my own tests was fixed before my pull request merged. And the lock 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my accept endpoint was tested hard: in review, Miles raced two accepts 40 times on Postgres. With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the lock, zero duplicate cards; without it, 39 races made duplicates. Next, Miles will cover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security.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 sz="1200"/>
          </a:p>
        </p:txBody>
      </p:sp>
      <p:sp>
        <p:nvSpPr>
          <p:cNvPr id="316" name="Google Shape;31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Thanks, Von. I'm Miles. Everything from the first two iterations still applies: hashed passwords,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owner checks, input limits, CSRF protection, and code and image scanning. AI added five more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safeguards. The Gemini key lives only in the backend's settings, never in the browser, a commit or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 log, and our logs never record what a learner sent. Billing is never turned on for the Google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project, so no bug can run up a bill. We send Google only the deck's name and description and the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prompt or file, and the form warns you first, because on the free tier, Google may read what's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sent. Learner text is treated as data, and every reply is shown as plain text. And there are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limits wherever something costs, including a daily cap for the whole site, because Google's free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quota is shared by everyone. A generation also belongs to whoever made it; anyone else gets "not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found".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 sz="1200"/>
          </a:p>
        </p:txBody>
      </p:sp>
      <p:sp>
        <p:nvSpPr>
          <p:cNvPr id="350" name="Google Shape;35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Four lessons. First, agree the contracts before the code. With every endpoint, prop and file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owner fixed in the plan, thirteen pull requests from four people fit together in four days.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Second, a stand-in makes AI testable: no test calls Google, so CI is free and needs no key. Third,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free tiers have real limits, like twenty requests a day and services that sleep, and each one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shaped a design decision, from the site-wide cap to how migrations run. Fourth, review pays off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before the code, too: Duc's review of our plan found the private-network problem before anyone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wrote a line.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 sz="1200"/>
          </a:p>
        </p:txBody>
      </p:sp>
      <p:sp>
        <p:nvSpPr>
          <p:cNvPr id="396" name="Google Shape;39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To wrap up: Cadence now writes cards, lets you review every one, and checks the answers you type.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You can see it all working in our separate demo video. Next, Nurzat plans to use Cadence personally for a while before exploring further development. We'd love your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feedback: are the generated cards useful, and is strict grading the right call? Thank you.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Source update: Nurzat confirmed the successful P4 walkthrough, generation under one second, and personal-use plans in this conversation.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Sources: Iteration 3 Presentation Plan.md; code/plans/ITERATION_3_PLAN.md; CI run 38207403783 (as cited in the supplied plan).</a:t>
            </a:r>
            <a:endParaRPr/>
          </a:p>
        </p:txBody>
      </p:sp>
      <p:sp>
        <p:nvSpPr>
          <p:cNvPr id="430" name="Google Shape;43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3771" cy="82296"/>
          </a:xfrm>
          <a:prstGeom prst="rect">
            <a:avLst/>
          </a:prstGeom>
          <a:solidFill>
            <a:srgbClr val="29A3A3"/>
          </a:solidFill>
          <a:ln cap="flat" cmpd="sng" w="12700">
            <a:solidFill>
              <a:srgbClr val="29A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338060" y="4855464"/>
            <a:ext cx="14401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r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CS673 • Team 2</a:t>
            </a:r>
            <a:endParaRPr b="0" i="0" sz="6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5897880" y="82296"/>
            <a:ext cx="3243900" cy="4773300"/>
          </a:xfrm>
          <a:prstGeom prst="rect">
            <a:avLst/>
          </a:prstGeom>
          <a:solidFill>
            <a:srgbClr val="E7F2F3"/>
          </a:solidFill>
          <a:ln cap="flat" cmpd="sng" w="12700">
            <a:solidFill>
              <a:srgbClr val="E7F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" name="Google Shape;22;p4"/>
          <p:cNvSpPr/>
          <p:nvPr/>
        </p:nvSpPr>
        <p:spPr>
          <a:xfrm>
            <a:off x="480060" y="445770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CS673 SOFTWARE ENGINEERING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80050" y="1347503"/>
            <a:ext cx="52122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7212B"/>
                </a:solidFill>
              </a:rPr>
              <a:t>Cadence</a:t>
            </a:r>
            <a:endParaRPr b="1" sz="2300">
              <a:solidFill>
                <a:srgbClr val="17212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300"/>
              <a:buFont typeface="Arial"/>
              <a:buNone/>
            </a:pPr>
            <a:r>
              <a:t/>
            </a:r>
            <a:endParaRPr b="1" sz="1600">
              <a:solidFill>
                <a:srgbClr val="17212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300"/>
              <a:buFont typeface="Arial"/>
              <a:buNone/>
            </a:pPr>
            <a:r>
              <a:rPr b="1" i="0" lang="en-US" sz="1600" u="none" cap="non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AI-Powered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b="1" i="0" lang="en-US" sz="1600" u="none" cap="non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Spaced Repetition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b="1" i="0" lang="en-US" sz="1600" u="none" cap="non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Learning Platform</a:t>
            </a:r>
            <a:endParaRPr b="0" i="0" sz="16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93776" y="2503170"/>
            <a:ext cx="5143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Arial"/>
              <a:buNone/>
            </a:pPr>
            <a:r>
              <a:rPr b="0" lang="en-US" sz="13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AI card generation and typed answers · Iteration 3</a:t>
            </a:r>
            <a:endParaRPr b="0" i="0" sz="13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93776" y="2942844"/>
            <a:ext cx="137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-US" sz="1100" u="none" cap="non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Team 2</a:t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412230" y="754380"/>
            <a:ext cx="2091600" cy="3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/>
          <p:nvPr/>
        </p:nvSpPr>
        <p:spPr>
          <a:xfrm>
            <a:off x="6665976" y="1474470"/>
            <a:ext cx="157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500"/>
              <a:buFont typeface="Arial"/>
              <a:buNone/>
            </a:pPr>
            <a:r>
              <a:rPr b="1" i="0" lang="en-US" sz="1500" u="none" cap="non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New in</a:t>
            </a:r>
            <a:endParaRPr b="0" i="0" sz="15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500"/>
              <a:buFont typeface="Arial"/>
              <a:buNone/>
            </a:pPr>
            <a:r>
              <a:rPr b="1" i="0" lang="en-US" sz="1500" u="none" cap="non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Iteration 3</a:t>
            </a:r>
            <a:endParaRPr b="0" i="0" sz="15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6686550" y="2180844"/>
            <a:ext cx="1543200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6665976" y="2386584"/>
            <a:ext cx="15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AI writes the cards.</a:t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You review every one.</a:t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Cadence checks</a:t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what you type.</a:t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>
            <p:ph idx="4294967295" type="sldNum"/>
          </p:nvPr>
        </p:nvSpPr>
        <p:spPr>
          <a:xfrm>
            <a:off x="8881110" y="4855464"/>
            <a:ext cx="123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ORGANIZATION / NURZAT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-US" sz="2100" u="none" cap="non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Team &amp; Roles</a:t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845960" y="1491615"/>
            <a:ext cx="493800" cy="493800"/>
          </a:xfrm>
          <a:prstGeom prst="ellipse">
            <a:avLst/>
          </a:prstGeom>
          <a:solidFill>
            <a:srgbClr val="DDEEE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" name="Google Shape;39;p5"/>
          <p:cNvSpPr/>
          <p:nvPr/>
        </p:nvSpPr>
        <p:spPr>
          <a:xfrm>
            <a:off x="1845960" y="1615059"/>
            <a:ext cx="49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-US" sz="1500" u="none" cap="non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5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2497470" y="1600200"/>
            <a:ext cx="1851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Miles Cameron</a:t>
            </a:r>
            <a:endParaRPr sz="1800"/>
          </a:p>
        </p:txBody>
      </p:sp>
      <p:sp>
        <p:nvSpPr>
          <p:cNvPr id="41" name="Google Shape;41;p5"/>
          <p:cNvSpPr/>
          <p:nvPr/>
        </p:nvSpPr>
        <p:spPr>
          <a:xfrm>
            <a:off x="2497470" y="1866900"/>
            <a:ext cx="195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Team Leader, Security Leader</a:t>
            </a:r>
            <a:endParaRPr sz="1800"/>
          </a:p>
        </p:txBody>
      </p:sp>
      <p:sp>
        <p:nvSpPr>
          <p:cNvPr id="42" name="Google Shape;42;p5"/>
          <p:cNvSpPr/>
          <p:nvPr/>
        </p:nvSpPr>
        <p:spPr>
          <a:xfrm>
            <a:off x="4692030" y="1491615"/>
            <a:ext cx="493800" cy="493800"/>
          </a:xfrm>
          <a:prstGeom prst="ellipse">
            <a:avLst/>
          </a:prstGeom>
          <a:solidFill>
            <a:srgbClr val="E7E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" name="Google Shape;43;p5"/>
          <p:cNvSpPr/>
          <p:nvPr/>
        </p:nvSpPr>
        <p:spPr>
          <a:xfrm>
            <a:off x="4692030" y="1615059"/>
            <a:ext cx="49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-US" sz="1500" u="none" cap="non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5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343540" y="1600200"/>
            <a:ext cx="1851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Nurzat Mukhamedali</a:t>
            </a:r>
            <a:br>
              <a:rPr lang="en-US" sz="1800"/>
            </a:br>
            <a:endParaRPr sz="1800"/>
          </a:p>
        </p:txBody>
      </p:sp>
      <p:sp>
        <p:nvSpPr>
          <p:cNvPr id="45" name="Google Shape;45;p5"/>
          <p:cNvSpPr/>
          <p:nvPr/>
        </p:nvSpPr>
        <p:spPr>
          <a:xfrm>
            <a:off x="5343540" y="1866900"/>
            <a:ext cx="195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Requirements Leader</a:t>
            </a:r>
            <a:endParaRPr sz="1800"/>
          </a:p>
        </p:txBody>
      </p:sp>
      <p:sp>
        <p:nvSpPr>
          <p:cNvPr id="46" name="Google Shape;46;p5"/>
          <p:cNvSpPr/>
          <p:nvPr/>
        </p:nvSpPr>
        <p:spPr>
          <a:xfrm>
            <a:off x="1845960" y="3034665"/>
            <a:ext cx="493800" cy="493800"/>
          </a:xfrm>
          <a:prstGeom prst="ellipse">
            <a:avLst/>
          </a:prstGeom>
          <a:solidFill>
            <a:srgbClr val="DDEEE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" name="Google Shape;47;p5"/>
          <p:cNvSpPr/>
          <p:nvPr/>
        </p:nvSpPr>
        <p:spPr>
          <a:xfrm>
            <a:off x="1845960" y="3158109"/>
            <a:ext cx="49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59A9C"/>
                </a:solidFill>
              </a:rPr>
              <a:t>O</a:t>
            </a:r>
            <a:endParaRPr b="0" i="0" sz="15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497470" y="3143250"/>
            <a:ext cx="1851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Osasenaga Von Okunbor</a:t>
            </a:r>
            <a:br>
              <a:rPr lang="en-US" sz="1800"/>
            </a:br>
            <a:endParaRPr sz="1800"/>
          </a:p>
        </p:txBody>
      </p:sp>
      <p:sp>
        <p:nvSpPr>
          <p:cNvPr id="49" name="Google Shape;49;p5"/>
          <p:cNvSpPr/>
          <p:nvPr/>
        </p:nvSpPr>
        <p:spPr>
          <a:xfrm>
            <a:off x="2497470" y="3409950"/>
            <a:ext cx="195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QA Leader</a:t>
            </a:r>
            <a:endParaRPr sz="1800"/>
          </a:p>
        </p:txBody>
      </p:sp>
      <p:sp>
        <p:nvSpPr>
          <p:cNvPr id="50" name="Google Shape;50;p5"/>
          <p:cNvSpPr/>
          <p:nvPr/>
        </p:nvSpPr>
        <p:spPr>
          <a:xfrm>
            <a:off x="4692030" y="3034665"/>
            <a:ext cx="493800" cy="493800"/>
          </a:xfrm>
          <a:prstGeom prst="ellipse">
            <a:avLst/>
          </a:prstGeom>
          <a:solidFill>
            <a:srgbClr val="E7E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" name="Google Shape;51;p5"/>
          <p:cNvSpPr/>
          <p:nvPr/>
        </p:nvSpPr>
        <p:spPr>
          <a:xfrm>
            <a:off x="4692030" y="3158109"/>
            <a:ext cx="49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-US" sz="1500" u="none" cap="non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5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343540" y="3143250"/>
            <a:ext cx="1851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Duc Anh Nguyen</a:t>
            </a:r>
            <a:endParaRPr sz="1800"/>
          </a:p>
        </p:txBody>
      </p:sp>
      <p:sp>
        <p:nvSpPr>
          <p:cNvPr id="53" name="Google Shape;53;p5"/>
          <p:cNvSpPr/>
          <p:nvPr/>
        </p:nvSpPr>
        <p:spPr>
          <a:xfrm>
            <a:off x="5343540" y="3409950"/>
            <a:ext cx="195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Config / DevOps Leader, Design &amp; Implementation Leader</a:t>
            </a:r>
            <a:endParaRPr sz="1800"/>
          </a:p>
        </p:txBody>
      </p:sp>
      <p:sp>
        <p:nvSpPr>
          <p:cNvPr id="54" name="Google Shape;54;p5"/>
          <p:cNvSpPr txBox="1"/>
          <p:nvPr>
            <p:ph idx="4294967295" type="sldNum"/>
          </p:nvPr>
        </p:nvSpPr>
        <p:spPr>
          <a:xfrm>
            <a:off x="8881110" y="4855464"/>
            <a:ext cx="123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495550" y="220980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Foundations, Gemini provider,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generate form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343525" y="220980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Typed-answer mode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2495550" y="37528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Accept and reject, AI badges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343525" y="3971925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Prompt rules, generate endpoint,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review list, Render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14350" y="1062990"/>
            <a:ext cx="2503200" cy="31548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" name="Google Shape;67;p6"/>
          <p:cNvSpPr/>
          <p:nvPr/>
        </p:nvSpPr>
        <p:spPr>
          <a:xfrm>
            <a:off x="514350" y="1062990"/>
            <a:ext cx="48000" cy="315480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8" name="Google Shape;68;p6"/>
          <p:cNvSpPr/>
          <p:nvPr/>
        </p:nvSpPr>
        <p:spPr>
          <a:xfrm>
            <a:off x="685800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85800" y="1488186"/>
            <a:ext cx="21945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85800" y="3806190"/>
            <a:ext cx="994500" cy="240000"/>
          </a:xfrm>
          <a:prstGeom prst="roundRect">
            <a:avLst>
              <a:gd fmla="val 16667" name="adj"/>
            </a:avLst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1" name="Google Shape;71;p6"/>
          <p:cNvSpPr/>
          <p:nvPr/>
        </p:nvSpPr>
        <p:spPr>
          <a:xfrm>
            <a:off x="685800" y="3854196"/>
            <a:ext cx="994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291840" y="1062990"/>
            <a:ext cx="2503200" cy="31548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3" name="Google Shape;73;p6"/>
          <p:cNvSpPr/>
          <p:nvPr/>
        </p:nvSpPr>
        <p:spPr>
          <a:xfrm>
            <a:off x="3291840" y="1062990"/>
            <a:ext cx="48000" cy="315480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4" name="Google Shape;74;p6"/>
          <p:cNvSpPr/>
          <p:nvPr/>
        </p:nvSpPr>
        <p:spPr>
          <a:xfrm>
            <a:off x="3463290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463290" y="1488186"/>
            <a:ext cx="21945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463290" y="3806190"/>
            <a:ext cx="994500" cy="240000"/>
          </a:xfrm>
          <a:prstGeom prst="roundRect">
            <a:avLst>
              <a:gd fmla="val 16667" name="adj"/>
            </a:avLst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7" name="Google Shape;77;p6"/>
          <p:cNvSpPr/>
          <p:nvPr/>
        </p:nvSpPr>
        <p:spPr>
          <a:xfrm>
            <a:off x="3463290" y="3854196"/>
            <a:ext cx="994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069330" y="1062990"/>
            <a:ext cx="2503200" cy="31548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9" name="Google Shape;79;p6"/>
          <p:cNvSpPr/>
          <p:nvPr/>
        </p:nvSpPr>
        <p:spPr>
          <a:xfrm>
            <a:off x="6069330" y="1062990"/>
            <a:ext cx="48000" cy="315480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" name="Google Shape;80;p6"/>
          <p:cNvSpPr/>
          <p:nvPr/>
        </p:nvSpPr>
        <p:spPr>
          <a:xfrm>
            <a:off x="6240780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240780" y="1488186"/>
            <a:ext cx="21945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240780" y="3806190"/>
            <a:ext cx="994500" cy="240000"/>
          </a:xfrm>
          <a:prstGeom prst="roundRect">
            <a:avLst>
              <a:gd fmla="val 16667" name="adj"/>
            </a:avLst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3" name="Google Shape;83;p6"/>
          <p:cNvSpPr/>
          <p:nvPr/>
        </p:nvSpPr>
        <p:spPr>
          <a:xfrm>
            <a:off x="6240780" y="3854196"/>
            <a:ext cx="994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REQUIREMENTS / NURZAT</a:t>
            </a:r>
            <a:endParaRPr sz="1800"/>
          </a:p>
        </p:txBody>
      </p:sp>
      <p:sp>
        <p:nvSpPr>
          <p:cNvPr id="86" name="Google Shape;86;p6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What we built, what we cut</a:t>
            </a:r>
            <a:endParaRPr sz="1800"/>
          </a:p>
        </p:txBody>
      </p:sp>
      <p:sp>
        <p:nvSpPr>
          <p:cNvPr id="87" name="Google Shape;87;p6"/>
          <p:cNvSpPr/>
          <p:nvPr/>
        </p:nvSpPr>
        <p:spPr>
          <a:xfrm>
            <a:off x="685800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DELIVERED</a:t>
            </a:r>
            <a:endParaRPr sz="1800"/>
          </a:p>
        </p:txBody>
      </p:sp>
      <p:sp>
        <p:nvSpPr>
          <p:cNvPr id="88" name="Google Shape;88;p6"/>
          <p:cNvSpPr/>
          <p:nvPr/>
        </p:nvSpPr>
        <p:spPr>
          <a:xfrm>
            <a:off x="685800" y="1571625"/>
            <a:ext cx="214312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Generate from a prompt, a file,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or Suggest more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Accept or reject every suggestion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Permanent AI-generated badge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Typed-answer study mode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P4 walkthrough completed successfully</a:t>
            </a:r>
            <a:endParaRPr sz="1800"/>
          </a:p>
        </p:txBody>
      </p:sp>
      <p:sp>
        <p:nvSpPr>
          <p:cNvPr id="89" name="Google Shape;89;p6"/>
          <p:cNvSpPr/>
          <p:nvPr/>
        </p:nvSpPr>
        <p:spPr>
          <a:xfrm>
            <a:off x="3476625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CUT</a:t>
            </a:r>
            <a:endParaRPr sz="1800"/>
          </a:p>
        </p:txBody>
      </p:sp>
      <p:sp>
        <p:nvSpPr>
          <p:cNvPr id="90" name="Google Shape;90;p6"/>
          <p:cNvSpPr/>
          <p:nvPr/>
        </p:nvSpPr>
        <p:spPr>
          <a:xfrm>
            <a:off x="3476625" y="1571625"/>
            <a:ext cx="214312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Multiple choice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Editing suggestions before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accepting them</a:t>
            </a:r>
            <a:endParaRPr sz="1800"/>
          </a:p>
        </p:txBody>
      </p:sp>
      <p:sp>
        <p:nvSpPr>
          <p:cNvPr id="91" name="Google Shape;91;p6"/>
          <p:cNvSpPr/>
          <p:nvPr/>
        </p:nvSpPr>
        <p:spPr>
          <a:xfrm>
            <a:off x="6267450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LATER</a:t>
            </a:r>
            <a:endParaRPr sz="1800"/>
          </a:p>
        </p:txBody>
      </p:sp>
      <p:sp>
        <p:nvSpPr>
          <p:cNvPr id="92" name="Google Shape;92;p6"/>
          <p:cNvSpPr/>
          <p:nvPr/>
        </p:nvSpPr>
        <p:spPr>
          <a:xfrm>
            <a:off x="6267450" y="1571625"/>
            <a:ext cx="214312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Study history and statistics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More forgiving grading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Voice</a:t>
            </a:r>
            <a:endParaRPr sz="1800"/>
          </a:p>
        </p:txBody>
      </p:sp>
      <p:sp>
        <p:nvSpPr>
          <p:cNvPr id="93" name="Google Shape;93;p6"/>
          <p:cNvSpPr/>
          <p:nvPr/>
        </p:nvSpPr>
        <p:spPr>
          <a:xfrm>
            <a:off x="762000" y="3857625"/>
            <a:ext cx="114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DELIVERED</a:t>
            </a:r>
            <a:endParaRPr sz="1800"/>
          </a:p>
        </p:txBody>
      </p:sp>
      <p:sp>
        <p:nvSpPr>
          <p:cNvPr id="94" name="Google Shape;94;p6"/>
          <p:cNvSpPr/>
          <p:nvPr/>
        </p:nvSpPr>
        <p:spPr>
          <a:xfrm>
            <a:off x="3543300" y="3857625"/>
            <a:ext cx="114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CUT</a:t>
            </a:r>
            <a:endParaRPr sz="1800"/>
          </a:p>
        </p:txBody>
      </p:sp>
      <p:sp>
        <p:nvSpPr>
          <p:cNvPr id="95" name="Google Shape;95;p6"/>
          <p:cNvSpPr/>
          <p:nvPr/>
        </p:nvSpPr>
        <p:spPr>
          <a:xfrm>
            <a:off x="6334125" y="3857625"/>
            <a:ext cx="114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LATER</a:t>
            </a:r>
            <a:endParaRPr sz="1800"/>
          </a:p>
        </p:txBody>
      </p:sp>
      <p:sp>
        <p:nvSpPr>
          <p:cNvPr id="96" name="Google Shape;96;p6"/>
          <p:cNvSpPr/>
          <p:nvPr/>
        </p:nvSpPr>
        <p:spPr>
          <a:xfrm>
            <a:off x="514350" y="4400550"/>
            <a:ext cx="809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Scope change: multiple choice cut so typed answers could ship complete.</a:t>
            </a:r>
            <a:endParaRPr b="1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14350" y="1062990"/>
            <a:ext cx="2503200" cy="31548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5" name="Google Shape;105;p7"/>
          <p:cNvSpPr/>
          <p:nvPr/>
        </p:nvSpPr>
        <p:spPr>
          <a:xfrm>
            <a:off x="514350" y="1062990"/>
            <a:ext cx="48000" cy="315480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7"/>
          <p:cNvSpPr/>
          <p:nvPr/>
        </p:nvSpPr>
        <p:spPr>
          <a:xfrm>
            <a:off x="685800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85800" y="1488186"/>
            <a:ext cx="21945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85800" y="3806190"/>
            <a:ext cx="994500" cy="240000"/>
          </a:xfrm>
          <a:prstGeom prst="roundRect">
            <a:avLst>
              <a:gd fmla="val 16667" name="adj"/>
            </a:avLst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9" name="Google Shape;109;p7"/>
          <p:cNvSpPr/>
          <p:nvPr/>
        </p:nvSpPr>
        <p:spPr>
          <a:xfrm>
            <a:off x="685800" y="3854196"/>
            <a:ext cx="994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291840" y="1062990"/>
            <a:ext cx="2503200" cy="31548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7"/>
          <p:cNvSpPr/>
          <p:nvPr/>
        </p:nvSpPr>
        <p:spPr>
          <a:xfrm>
            <a:off x="3291840" y="1062990"/>
            <a:ext cx="48000" cy="315480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7"/>
          <p:cNvSpPr/>
          <p:nvPr/>
        </p:nvSpPr>
        <p:spPr>
          <a:xfrm>
            <a:off x="3463290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463290" y="1488186"/>
            <a:ext cx="21945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463290" y="3806190"/>
            <a:ext cx="994500" cy="240000"/>
          </a:xfrm>
          <a:prstGeom prst="roundRect">
            <a:avLst>
              <a:gd fmla="val 16667" name="adj"/>
            </a:avLst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5" name="Google Shape;115;p7"/>
          <p:cNvSpPr/>
          <p:nvPr/>
        </p:nvSpPr>
        <p:spPr>
          <a:xfrm>
            <a:off x="3463290" y="3854196"/>
            <a:ext cx="994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069330" y="1062990"/>
            <a:ext cx="2503200" cy="31548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7"/>
          <p:cNvSpPr/>
          <p:nvPr/>
        </p:nvSpPr>
        <p:spPr>
          <a:xfrm>
            <a:off x="6069330" y="1062990"/>
            <a:ext cx="48000" cy="315480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8" name="Google Shape;118;p7"/>
          <p:cNvSpPr/>
          <p:nvPr/>
        </p:nvSpPr>
        <p:spPr>
          <a:xfrm>
            <a:off x="6240780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240780" y="1488186"/>
            <a:ext cx="21945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240780" y="3806190"/>
            <a:ext cx="994500" cy="240000"/>
          </a:xfrm>
          <a:prstGeom prst="roundRect">
            <a:avLst>
              <a:gd fmla="val 16667" name="adj"/>
            </a:avLst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1" name="Google Shape;121;p7"/>
          <p:cNvSpPr/>
          <p:nvPr/>
        </p:nvSpPr>
        <p:spPr>
          <a:xfrm>
            <a:off x="6240780" y="3854196"/>
            <a:ext cx="994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REQUIREMENTS / NURZAT</a:t>
            </a:r>
            <a:endParaRPr sz="1800"/>
          </a:p>
        </p:txBody>
      </p:sp>
      <p:sp>
        <p:nvSpPr>
          <p:cNvPr id="124" name="Google Shape;124;p7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Typed answers: strict, but you decide</a:t>
            </a:r>
            <a:endParaRPr sz="1800"/>
          </a:p>
        </p:txBody>
      </p:sp>
      <p:sp>
        <p:nvSpPr>
          <p:cNvPr id="125" name="Google Shape;125;p7"/>
          <p:cNvSpPr/>
          <p:nvPr/>
        </p:nvSpPr>
        <p:spPr>
          <a:xfrm>
            <a:off x="685800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FORGIVEN</a:t>
            </a:r>
            <a:endParaRPr sz="1800"/>
          </a:p>
        </p:txBody>
      </p:sp>
      <p:sp>
        <p:nvSpPr>
          <p:cNvPr id="126" name="Google Shape;126;p7"/>
          <p:cNvSpPr/>
          <p:nvPr/>
        </p:nvSpPr>
        <p:spPr>
          <a:xfrm>
            <a:off x="685800" y="1571625"/>
            <a:ext cx="214312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Capital letters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Extra spaces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Punctuation at the ends</a:t>
            </a:r>
            <a:endParaRPr sz="1800"/>
          </a:p>
        </p:txBody>
      </p:sp>
      <p:sp>
        <p:nvSpPr>
          <p:cNvPr id="127" name="Google Shape;127;p7"/>
          <p:cNvSpPr/>
          <p:nvPr/>
        </p:nvSpPr>
        <p:spPr>
          <a:xfrm>
            <a:off x="3476625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COUNTS</a:t>
            </a:r>
            <a:endParaRPr sz="1800"/>
          </a:p>
        </p:txBody>
      </p:sp>
      <p:sp>
        <p:nvSpPr>
          <p:cNvPr id="128" name="Google Shape;128;p7"/>
          <p:cNvSpPr/>
          <p:nvPr/>
        </p:nvSpPr>
        <p:spPr>
          <a:xfrm>
            <a:off x="3476625" y="1571625"/>
            <a:ext cx="214312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Spelling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Accents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Numbers</a:t>
            </a:r>
            <a:endParaRPr sz="1800"/>
          </a:p>
        </p:txBody>
      </p:sp>
      <p:sp>
        <p:nvSpPr>
          <p:cNvPr id="129" name="Google Shape;129;p7"/>
          <p:cNvSpPr/>
          <p:nvPr/>
        </p:nvSpPr>
        <p:spPr>
          <a:xfrm>
            <a:off x="6267450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YOU DECIDE</a:t>
            </a:r>
            <a:endParaRPr sz="1800"/>
          </a:p>
        </p:txBody>
      </p:sp>
      <p:sp>
        <p:nvSpPr>
          <p:cNvPr id="130" name="Google Shape;130;p7"/>
          <p:cNvSpPr/>
          <p:nvPr/>
        </p:nvSpPr>
        <p:spPr>
          <a:xfrm>
            <a:off x="6267450" y="1571625"/>
            <a:ext cx="214312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Correct: Good suggested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Incorrect: Again suggested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Enter accepts the suggestion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Any rating is one click away</a:t>
            </a:r>
            <a:endParaRPr sz="1800"/>
          </a:p>
        </p:txBody>
      </p:sp>
      <p:sp>
        <p:nvSpPr>
          <p:cNvPr id="131" name="Google Shape;131;p7"/>
          <p:cNvSpPr/>
          <p:nvPr/>
        </p:nvSpPr>
        <p:spPr>
          <a:xfrm>
            <a:off x="762000" y="3857625"/>
            <a:ext cx="114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FORGIVEN</a:t>
            </a:r>
            <a:endParaRPr sz="1800"/>
          </a:p>
        </p:txBody>
      </p:sp>
      <p:sp>
        <p:nvSpPr>
          <p:cNvPr id="132" name="Google Shape;132;p7"/>
          <p:cNvSpPr/>
          <p:nvPr/>
        </p:nvSpPr>
        <p:spPr>
          <a:xfrm>
            <a:off x="3543300" y="3857625"/>
            <a:ext cx="114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COUNTS</a:t>
            </a:r>
            <a:endParaRPr sz="1800"/>
          </a:p>
        </p:txBody>
      </p:sp>
      <p:sp>
        <p:nvSpPr>
          <p:cNvPr id="133" name="Google Shape;133;p7"/>
          <p:cNvSpPr/>
          <p:nvPr/>
        </p:nvSpPr>
        <p:spPr>
          <a:xfrm>
            <a:off x="6334125" y="3857625"/>
            <a:ext cx="114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DECIDE</a:t>
            </a:r>
            <a:endParaRPr sz="1800"/>
          </a:p>
        </p:txBody>
      </p:sp>
      <p:sp>
        <p:nvSpPr>
          <p:cNvPr id="134" name="Google Shape;134;p7"/>
          <p:cNvSpPr/>
          <p:nvPr/>
        </p:nvSpPr>
        <p:spPr>
          <a:xfrm>
            <a:off x="514350" y="4400550"/>
            <a:ext cx="809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‘The Library.’ matches ‘the library’. ‘adios’ differs from ‘adiós’. Checked in the browser.</a:t>
            </a:r>
            <a:endParaRPr b="1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14350" y="1062990"/>
            <a:ext cx="1817400" cy="1200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3" name="Google Shape;143;p8"/>
          <p:cNvSpPr/>
          <p:nvPr/>
        </p:nvSpPr>
        <p:spPr>
          <a:xfrm>
            <a:off x="514350" y="1062990"/>
            <a:ext cx="48000" cy="120030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4" name="Google Shape;144;p8"/>
          <p:cNvSpPr/>
          <p:nvPr/>
        </p:nvSpPr>
        <p:spPr>
          <a:xfrm>
            <a:off x="685800" y="1200150"/>
            <a:ext cx="150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85800" y="1488186"/>
            <a:ext cx="1508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606040" y="1062990"/>
            <a:ext cx="1817400" cy="1200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8"/>
          <p:cNvSpPr/>
          <p:nvPr/>
        </p:nvSpPr>
        <p:spPr>
          <a:xfrm>
            <a:off x="2606040" y="1062990"/>
            <a:ext cx="48000" cy="120030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8" name="Google Shape;148;p8"/>
          <p:cNvSpPr/>
          <p:nvPr/>
        </p:nvSpPr>
        <p:spPr>
          <a:xfrm>
            <a:off x="2777490" y="1200150"/>
            <a:ext cx="150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777490" y="1488186"/>
            <a:ext cx="1508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697730" y="1062990"/>
            <a:ext cx="1817400" cy="1200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1" name="Google Shape;151;p8"/>
          <p:cNvSpPr/>
          <p:nvPr/>
        </p:nvSpPr>
        <p:spPr>
          <a:xfrm>
            <a:off x="4697730" y="1062990"/>
            <a:ext cx="48000" cy="1200300"/>
          </a:xfrm>
          <a:prstGeom prst="rect">
            <a:avLst/>
          </a:prstGeom>
          <a:solidFill>
            <a:srgbClr val="5C8F68"/>
          </a:solidFill>
          <a:ln cap="flat" cmpd="sng" w="12700">
            <a:solidFill>
              <a:srgbClr val="5C8F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2" name="Google Shape;152;p8"/>
          <p:cNvSpPr/>
          <p:nvPr/>
        </p:nvSpPr>
        <p:spPr>
          <a:xfrm>
            <a:off x="4869180" y="1200150"/>
            <a:ext cx="150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869180" y="1488186"/>
            <a:ext cx="1508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789420" y="1062990"/>
            <a:ext cx="1817400" cy="1200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8"/>
          <p:cNvSpPr/>
          <p:nvPr/>
        </p:nvSpPr>
        <p:spPr>
          <a:xfrm>
            <a:off x="6789420" y="1062990"/>
            <a:ext cx="48000" cy="120030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8"/>
          <p:cNvSpPr/>
          <p:nvPr/>
        </p:nvSpPr>
        <p:spPr>
          <a:xfrm>
            <a:off x="6960870" y="1200150"/>
            <a:ext cx="150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960870" y="1488186"/>
            <a:ext cx="1508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8"/>
          <p:cNvCxnSpPr/>
          <p:nvPr/>
        </p:nvCxnSpPr>
        <p:spPr>
          <a:xfrm>
            <a:off x="1303020" y="2846070"/>
            <a:ext cx="6480900" cy="0"/>
          </a:xfrm>
          <a:prstGeom prst="straightConnector1">
            <a:avLst/>
          </a:prstGeom>
          <a:noFill/>
          <a:ln cap="flat" cmpd="sng" w="254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8"/>
          <p:cNvSpPr/>
          <p:nvPr/>
        </p:nvSpPr>
        <p:spPr>
          <a:xfrm>
            <a:off x="514350" y="3120390"/>
            <a:ext cx="185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14350" y="3417210"/>
            <a:ext cx="18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606040" y="3120390"/>
            <a:ext cx="185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606040" y="3417210"/>
            <a:ext cx="18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697730" y="3120390"/>
            <a:ext cx="185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697730" y="3417210"/>
            <a:ext cx="18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789420" y="3120390"/>
            <a:ext cx="185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789420" y="3417210"/>
            <a:ext cx="18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14350" y="421767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DESIGN &amp; IMPLEMENTATION / DUC</a:t>
            </a:r>
            <a:endParaRPr sz="1800"/>
          </a:p>
        </p:txBody>
      </p:sp>
      <p:sp>
        <p:nvSpPr>
          <p:cNvPr id="170" name="Google Shape;170;p8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How AI generation is built</a:t>
            </a:r>
            <a:endParaRPr sz="1800"/>
          </a:p>
        </p:txBody>
      </p:sp>
      <p:sp>
        <p:nvSpPr>
          <p:cNvPr id="171" name="Google Shape;171;p8"/>
          <p:cNvSpPr/>
          <p:nvPr/>
        </p:nvSpPr>
        <p:spPr>
          <a:xfrm>
            <a:off x="685800" y="1200150"/>
            <a:ext cx="150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React UI</a:t>
            </a:r>
            <a:endParaRPr sz="1800"/>
          </a:p>
        </p:txBody>
      </p:sp>
      <p:sp>
        <p:nvSpPr>
          <p:cNvPr id="172" name="Google Shape;172;p8"/>
          <p:cNvSpPr/>
          <p:nvPr/>
        </p:nvSpPr>
        <p:spPr>
          <a:xfrm>
            <a:off x="685800" y="1524000"/>
            <a:ext cx="1508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Generate form and review list.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Typed study mode.</a:t>
            </a:r>
            <a:endParaRPr sz="1800"/>
          </a:p>
        </p:txBody>
      </p:sp>
      <p:sp>
        <p:nvSpPr>
          <p:cNvPr id="173" name="Google Shape;173;p8"/>
          <p:cNvSpPr/>
          <p:nvPr/>
        </p:nvSpPr>
        <p:spPr>
          <a:xfrm>
            <a:off x="2777490" y="1200150"/>
            <a:ext cx="150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nginx</a:t>
            </a:r>
            <a:endParaRPr sz="1800"/>
          </a:p>
        </p:txBody>
      </p:sp>
      <p:sp>
        <p:nvSpPr>
          <p:cNvPr id="174" name="Google Shape;174;p8"/>
          <p:cNvSpPr/>
          <p:nvPr/>
        </p:nvSpPr>
        <p:spPr>
          <a:xfrm>
            <a:off x="2777490" y="1524000"/>
            <a:ext cx="1508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Serves the frontend. Forwards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/api. Allows 6 MB uploads.</a:t>
            </a:r>
            <a:endParaRPr sz="1800"/>
          </a:p>
        </p:txBody>
      </p:sp>
      <p:sp>
        <p:nvSpPr>
          <p:cNvPr id="175" name="Google Shape;175;p8"/>
          <p:cNvSpPr/>
          <p:nvPr/>
        </p:nvSpPr>
        <p:spPr>
          <a:xfrm>
            <a:off x="4869180" y="1200150"/>
            <a:ext cx="150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Flask API</a:t>
            </a:r>
            <a:endParaRPr sz="1800"/>
          </a:p>
        </p:txBody>
      </p:sp>
      <p:sp>
        <p:nvSpPr>
          <p:cNvPr id="176" name="Google Shape;176;p8"/>
          <p:cNvSpPr/>
          <p:nvPr/>
        </p:nvSpPr>
        <p:spPr>
          <a:xfrm>
            <a:off x="4869180" y="1524000"/>
            <a:ext cx="1508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Generate, accept, reject.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Owner checks and daily caps.</a:t>
            </a:r>
            <a:endParaRPr sz="1800"/>
          </a:p>
        </p:txBody>
      </p:sp>
      <p:sp>
        <p:nvSpPr>
          <p:cNvPr id="177" name="Google Shape;177;p8"/>
          <p:cNvSpPr/>
          <p:nvPr/>
        </p:nvSpPr>
        <p:spPr>
          <a:xfrm>
            <a:off x="6960870" y="1200150"/>
            <a:ext cx="150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800"/>
          </a:p>
        </p:txBody>
      </p:sp>
      <p:sp>
        <p:nvSpPr>
          <p:cNvPr id="178" name="Google Shape;178;p8"/>
          <p:cNvSpPr/>
          <p:nvPr/>
        </p:nvSpPr>
        <p:spPr>
          <a:xfrm>
            <a:off x="6960870" y="1524000"/>
            <a:ext cx="1508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ai_generations: pending batches.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cards.origin.</a:t>
            </a:r>
            <a:endParaRPr sz="1800"/>
          </a:p>
        </p:txBody>
      </p:sp>
      <p:sp>
        <p:nvSpPr>
          <p:cNvPr id="179" name="Google Shape;179;p8"/>
          <p:cNvSpPr/>
          <p:nvPr/>
        </p:nvSpPr>
        <p:spPr>
          <a:xfrm>
            <a:off x="2381250" y="1657350"/>
            <a:ext cx="171600" cy="171600"/>
          </a:xfrm>
          <a:prstGeom prst="chevron">
            <a:avLst>
              <a:gd fmla="val 50000" name="adj"/>
            </a:avLst>
          </a:prstGeom>
          <a:solidFill>
            <a:srgbClr val="CBDA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0" name="Google Shape;180;p8"/>
          <p:cNvSpPr/>
          <p:nvPr/>
        </p:nvSpPr>
        <p:spPr>
          <a:xfrm>
            <a:off x="4476750" y="1657350"/>
            <a:ext cx="171600" cy="171600"/>
          </a:xfrm>
          <a:prstGeom prst="chevron">
            <a:avLst>
              <a:gd fmla="val 50000" name="adj"/>
            </a:avLst>
          </a:prstGeom>
          <a:solidFill>
            <a:srgbClr val="CBDA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8"/>
          <p:cNvSpPr/>
          <p:nvPr/>
        </p:nvSpPr>
        <p:spPr>
          <a:xfrm>
            <a:off x="6572250" y="1657350"/>
            <a:ext cx="171600" cy="171600"/>
          </a:xfrm>
          <a:prstGeom prst="chevron">
            <a:avLst>
              <a:gd fmla="val 50000" name="adj"/>
            </a:avLst>
          </a:prstGeom>
          <a:solidFill>
            <a:srgbClr val="CBDA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2" name="Google Shape;182;p8"/>
          <p:cNvSpPr/>
          <p:nvPr/>
        </p:nvSpPr>
        <p:spPr>
          <a:xfrm>
            <a:off x="514350" y="3124200"/>
            <a:ext cx="18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prompts.py</a:t>
            </a:r>
            <a:endParaRPr sz="1800"/>
          </a:p>
        </p:txBody>
      </p:sp>
      <p:sp>
        <p:nvSpPr>
          <p:cNvPr id="183" name="Google Shape;183;p8"/>
          <p:cNvSpPr/>
          <p:nvPr/>
        </p:nvSpPr>
        <p:spPr>
          <a:xfrm>
            <a:off x="514350" y="3448050"/>
            <a:ext cx="1857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12 rules. Learner text as data.</a:t>
            </a:r>
            <a:endParaRPr sz="1800"/>
          </a:p>
        </p:txBody>
      </p:sp>
      <p:sp>
        <p:nvSpPr>
          <p:cNvPr id="184" name="Google Shape;184;p8"/>
          <p:cNvSpPr/>
          <p:nvPr/>
        </p:nvSpPr>
        <p:spPr>
          <a:xfrm>
            <a:off x="2606040" y="3124200"/>
            <a:ext cx="18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provider.py</a:t>
            </a:r>
            <a:endParaRPr sz="1800"/>
          </a:p>
        </p:txBody>
      </p:sp>
      <p:sp>
        <p:nvSpPr>
          <p:cNvPr id="185" name="Google Shape;185;p8"/>
          <p:cNvSpPr/>
          <p:nvPr/>
        </p:nvSpPr>
        <p:spPr>
          <a:xfrm>
            <a:off x="2606040" y="3448050"/>
            <a:ext cx="1857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Gemini, or a stand-in for tests.</a:t>
            </a:r>
            <a:endParaRPr sz="1800"/>
          </a:p>
        </p:txBody>
      </p:sp>
      <p:sp>
        <p:nvSpPr>
          <p:cNvPr id="186" name="Google Shape;186;p8"/>
          <p:cNvSpPr/>
          <p:nvPr/>
        </p:nvSpPr>
        <p:spPr>
          <a:xfrm>
            <a:off x="4697730" y="3124200"/>
            <a:ext cx="18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cleanup.py</a:t>
            </a:r>
            <a:endParaRPr sz="1800"/>
          </a:p>
        </p:txBody>
      </p:sp>
      <p:sp>
        <p:nvSpPr>
          <p:cNvPr id="187" name="Google Shape;187;p8"/>
          <p:cNvSpPr/>
          <p:nvPr/>
        </p:nvSpPr>
        <p:spPr>
          <a:xfrm>
            <a:off x="4697730" y="3448050"/>
            <a:ext cx="1857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Drops bad, giveaway and duplicate cards.</a:t>
            </a:r>
            <a:endParaRPr sz="1800"/>
          </a:p>
        </p:txBody>
      </p:sp>
      <p:sp>
        <p:nvSpPr>
          <p:cNvPr id="188" name="Google Shape;188;p8"/>
          <p:cNvSpPr/>
          <p:nvPr/>
        </p:nvSpPr>
        <p:spPr>
          <a:xfrm>
            <a:off x="6789420" y="3124200"/>
            <a:ext cx="18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Gemini API</a:t>
            </a:r>
            <a:endParaRPr sz="1800"/>
          </a:p>
        </p:txBody>
      </p:sp>
      <p:sp>
        <p:nvSpPr>
          <p:cNvPr id="189" name="Google Shape;189;p8"/>
          <p:cNvSpPr/>
          <p:nvPr/>
        </p:nvSpPr>
        <p:spPr>
          <a:xfrm>
            <a:off x="6789420" y="3448050"/>
            <a:ext cx="1857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Free tier, Flash model,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45 s limit.</a:t>
            </a:r>
            <a:endParaRPr sz="1800"/>
          </a:p>
        </p:txBody>
      </p:sp>
      <p:sp>
        <p:nvSpPr>
          <p:cNvPr id="190" name="Google Shape;190;p8"/>
          <p:cNvSpPr/>
          <p:nvPr/>
        </p:nvSpPr>
        <p:spPr>
          <a:xfrm>
            <a:off x="514350" y="4333875"/>
            <a:ext cx="8096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Suggestions wait on the server. Only Accept turns them into cards.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68823" y="2108835"/>
            <a:ext cx="1181026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9" name="Google Shape;199;p9"/>
          <p:cNvSpPr/>
          <p:nvPr/>
        </p:nvSpPr>
        <p:spPr>
          <a:xfrm>
            <a:off x="368823" y="2108835"/>
            <a:ext cx="39365" cy="92583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0" name="Google Shape;200;p9"/>
          <p:cNvSpPr/>
          <p:nvPr/>
        </p:nvSpPr>
        <p:spPr>
          <a:xfrm>
            <a:off x="509412" y="2245995"/>
            <a:ext cx="927887" cy="20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09412" y="2534031"/>
            <a:ext cx="92788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594759" y="2403729"/>
            <a:ext cx="168785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3" name="Google Shape;203;p9"/>
          <p:cNvSpPr/>
          <p:nvPr/>
        </p:nvSpPr>
        <p:spPr>
          <a:xfrm>
            <a:off x="1763466" y="2108835"/>
            <a:ext cx="1181026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9"/>
          <p:cNvSpPr/>
          <p:nvPr/>
        </p:nvSpPr>
        <p:spPr>
          <a:xfrm>
            <a:off x="1763466" y="2108835"/>
            <a:ext cx="39365" cy="92583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5" name="Google Shape;205;p9"/>
          <p:cNvSpPr/>
          <p:nvPr/>
        </p:nvSpPr>
        <p:spPr>
          <a:xfrm>
            <a:off x="1904055" y="2245995"/>
            <a:ext cx="927887" cy="20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904055" y="2534031"/>
            <a:ext cx="92788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989402" y="2403729"/>
            <a:ext cx="168785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8" name="Google Shape;208;p9"/>
          <p:cNvSpPr/>
          <p:nvPr/>
        </p:nvSpPr>
        <p:spPr>
          <a:xfrm>
            <a:off x="3158109" y="2108835"/>
            <a:ext cx="1181026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9" name="Google Shape;209;p9"/>
          <p:cNvSpPr/>
          <p:nvPr/>
        </p:nvSpPr>
        <p:spPr>
          <a:xfrm>
            <a:off x="3158109" y="2108835"/>
            <a:ext cx="39365" cy="92583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0" name="Google Shape;210;p9"/>
          <p:cNvSpPr/>
          <p:nvPr/>
        </p:nvSpPr>
        <p:spPr>
          <a:xfrm>
            <a:off x="3298698" y="2245995"/>
            <a:ext cx="927887" cy="20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298698" y="2534031"/>
            <a:ext cx="92788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384045" y="2403729"/>
            <a:ext cx="168785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3" name="Google Shape;213;p9"/>
          <p:cNvSpPr/>
          <p:nvPr/>
        </p:nvSpPr>
        <p:spPr>
          <a:xfrm>
            <a:off x="4552752" y="2108835"/>
            <a:ext cx="1181026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4" name="Google Shape;214;p9"/>
          <p:cNvSpPr/>
          <p:nvPr/>
        </p:nvSpPr>
        <p:spPr>
          <a:xfrm>
            <a:off x="4552752" y="2108835"/>
            <a:ext cx="39365" cy="92583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5" name="Google Shape;215;p9"/>
          <p:cNvSpPr/>
          <p:nvPr/>
        </p:nvSpPr>
        <p:spPr>
          <a:xfrm>
            <a:off x="4693341" y="2245995"/>
            <a:ext cx="927887" cy="20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693341" y="2534031"/>
            <a:ext cx="92788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778688" y="2403729"/>
            <a:ext cx="168785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8" name="Google Shape;218;p9"/>
          <p:cNvSpPr/>
          <p:nvPr/>
        </p:nvSpPr>
        <p:spPr>
          <a:xfrm>
            <a:off x="5947395" y="2108835"/>
            <a:ext cx="1181026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9"/>
          <p:cNvSpPr/>
          <p:nvPr/>
        </p:nvSpPr>
        <p:spPr>
          <a:xfrm>
            <a:off x="5947395" y="2108835"/>
            <a:ext cx="39365" cy="925830"/>
          </a:xfrm>
          <a:prstGeom prst="rect">
            <a:avLst/>
          </a:prstGeom>
          <a:solidFill>
            <a:srgbClr val="5C8F68"/>
          </a:solidFill>
          <a:ln cap="flat" cmpd="sng" w="12700">
            <a:solidFill>
              <a:srgbClr val="5C8F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0" name="Google Shape;220;p9"/>
          <p:cNvSpPr/>
          <p:nvPr/>
        </p:nvSpPr>
        <p:spPr>
          <a:xfrm>
            <a:off x="6087984" y="2245995"/>
            <a:ext cx="927887" cy="20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087984" y="2534031"/>
            <a:ext cx="92788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86918" y="2571750"/>
            <a:ext cx="1124712" cy="20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86918" y="2880360"/>
            <a:ext cx="6523408" cy="308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CONFIGURATION / DUC</a:t>
            </a:r>
            <a:endParaRPr sz="1800"/>
          </a:p>
        </p:txBody>
      </p:sp>
      <p:sp>
        <p:nvSpPr>
          <p:cNvPr id="226" name="Google Shape;226;p9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Release and deployment workflow</a:t>
            </a:r>
            <a:endParaRPr sz="1800"/>
          </a:p>
        </p:txBody>
      </p:sp>
      <p:sp>
        <p:nvSpPr>
          <p:cNvPr id="227" name="Google Shape;227;p9"/>
          <p:cNvSpPr/>
          <p:nvPr/>
        </p:nvSpPr>
        <p:spPr>
          <a:xfrm>
            <a:off x="493791" y="2251710"/>
            <a:ext cx="11326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Feature branch</a:t>
            </a:r>
            <a:endParaRPr sz="1800"/>
          </a:p>
        </p:txBody>
      </p:sp>
      <p:sp>
        <p:nvSpPr>
          <p:cNvPr id="228" name="Google Shape;228;p9"/>
          <p:cNvSpPr/>
          <p:nvPr/>
        </p:nvSpPr>
        <p:spPr>
          <a:xfrm>
            <a:off x="493791" y="2566035"/>
            <a:ext cx="1132601" cy="43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Implement a change</a:t>
            </a:r>
            <a:endParaRPr sz="1800"/>
          </a:p>
        </p:txBody>
      </p:sp>
      <p:sp>
        <p:nvSpPr>
          <p:cNvPr id="229" name="Google Shape;229;p9"/>
          <p:cNvSpPr/>
          <p:nvPr/>
        </p:nvSpPr>
        <p:spPr>
          <a:xfrm>
            <a:off x="1888434" y="2251710"/>
            <a:ext cx="11326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Pull request</a:t>
            </a:r>
            <a:endParaRPr sz="1800"/>
          </a:p>
        </p:txBody>
      </p:sp>
      <p:sp>
        <p:nvSpPr>
          <p:cNvPr id="230" name="Google Shape;230;p9"/>
          <p:cNvSpPr/>
          <p:nvPr/>
        </p:nvSpPr>
        <p:spPr>
          <a:xfrm>
            <a:off x="1888434" y="2566035"/>
            <a:ext cx="1132601" cy="43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Explain and compare</a:t>
            </a:r>
            <a:endParaRPr sz="1800"/>
          </a:p>
        </p:txBody>
      </p:sp>
      <p:sp>
        <p:nvSpPr>
          <p:cNvPr id="231" name="Google Shape;231;p9"/>
          <p:cNvSpPr/>
          <p:nvPr/>
        </p:nvSpPr>
        <p:spPr>
          <a:xfrm>
            <a:off x="3283077" y="2251710"/>
            <a:ext cx="11326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Checks +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sz="1800"/>
          </a:p>
        </p:txBody>
      </p:sp>
      <p:sp>
        <p:nvSpPr>
          <p:cNvPr id="232" name="Google Shape;232;p9"/>
          <p:cNvSpPr/>
          <p:nvPr/>
        </p:nvSpPr>
        <p:spPr>
          <a:xfrm>
            <a:off x="3283077" y="2566035"/>
            <a:ext cx="1132601" cy="43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“CI passed” + one approval</a:t>
            </a:r>
            <a:endParaRPr sz="1800"/>
          </a:p>
        </p:txBody>
      </p:sp>
      <p:sp>
        <p:nvSpPr>
          <p:cNvPr id="233" name="Google Shape;233;p9"/>
          <p:cNvSpPr/>
          <p:nvPr/>
        </p:nvSpPr>
        <p:spPr>
          <a:xfrm>
            <a:off x="4677720" y="2251710"/>
            <a:ext cx="11326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  <a:endParaRPr sz="1800"/>
          </a:p>
        </p:txBody>
      </p:sp>
      <p:sp>
        <p:nvSpPr>
          <p:cNvPr id="234" name="Google Shape;234;p9"/>
          <p:cNvSpPr/>
          <p:nvPr/>
        </p:nvSpPr>
        <p:spPr>
          <a:xfrm>
            <a:off x="4677720" y="2566035"/>
            <a:ext cx="1132601" cy="43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Integrate the team’s </a:t>
            </a:r>
            <a:endParaRPr b="0" sz="900">
              <a:solidFill>
                <a:srgbClr val="5F6B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endParaRPr sz="1800"/>
          </a:p>
        </p:txBody>
      </p:sp>
      <p:sp>
        <p:nvSpPr>
          <p:cNvPr id="235" name="Google Shape;235;p9"/>
          <p:cNvSpPr/>
          <p:nvPr/>
        </p:nvSpPr>
        <p:spPr>
          <a:xfrm>
            <a:off x="6072363" y="2251710"/>
            <a:ext cx="11326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800"/>
          </a:p>
        </p:txBody>
      </p:sp>
      <p:sp>
        <p:nvSpPr>
          <p:cNvPr id="236" name="Google Shape;236;p9"/>
          <p:cNvSpPr/>
          <p:nvPr/>
        </p:nvSpPr>
        <p:spPr>
          <a:xfrm>
            <a:off x="6072363" y="2566035"/>
            <a:ext cx="1132601" cy="43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Release after validation</a:t>
            </a:r>
            <a:endParaRPr sz="1800"/>
          </a:p>
        </p:txBody>
      </p:sp>
      <p:sp>
        <p:nvSpPr>
          <p:cNvPr id="237" name="Google Shape;237;p9"/>
          <p:cNvSpPr/>
          <p:nvPr/>
        </p:nvSpPr>
        <p:spPr>
          <a:xfrm>
            <a:off x="514350" y="3745300"/>
            <a:ext cx="7905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New this iteration</a:t>
            </a:r>
            <a:endParaRPr sz="1800"/>
          </a:p>
        </p:txBody>
      </p:sp>
      <p:sp>
        <p:nvSpPr>
          <p:cNvPr id="238" name="Google Shape;238;p9"/>
          <p:cNvSpPr/>
          <p:nvPr/>
        </p:nvSpPr>
        <p:spPr>
          <a:xfrm>
            <a:off x="519075" y="3993100"/>
            <a:ext cx="8048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Render free-tier configuration in render.yaml. Public backend address.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Migrations at start-up. No API key in CI.</a:t>
            </a:r>
            <a:endParaRPr sz="1800"/>
          </a:p>
        </p:txBody>
      </p:sp>
      <p:sp>
        <p:nvSpPr>
          <p:cNvPr id="239" name="Google Shape;239;p9"/>
          <p:cNvSpPr/>
          <p:nvPr/>
        </p:nvSpPr>
        <p:spPr>
          <a:xfrm>
            <a:off x="7419975" y="2108835"/>
            <a:ext cx="1219200" cy="925830"/>
          </a:xfrm>
          <a:prstGeom prst="roundRect">
            <a:avLst>
              <a:gd fmla="val 5144" name="adj"/>
            </a:avLst>
          </a:prstGeom>
          <a:solidFill>
            <a:srgbClr val="FFFFFF"/>
          </a:solidFill>
          <a:ln cap="flat" cmpd="sng" w="9525">
            <a:solidFill>
              <a:srgbClr val="D5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524750" y="2247900"/>
            <a:ext cx="100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7524750" y="2562225"/>
            <a:ext cx="1028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Deploy on green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merges to main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14350" y="1062990"/>
            <a:ext cx="250320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0" name="Google Shape;250;p10"/>
          <p:cNvSpPr/>
          <p:nvPr/>
        </p:nvSpPr>
        <p:spPr>
          <a:xfrm>
            <a:off x="514350" y="1062990"/>
            <a:ext cx="48000" cy="137160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1" name="Google Shape;251;p10"/>
          <p:cNvSpPr/>
          <p:nvPr/>
        </p:nvSpPr>
        <p:spPr>
          <a:xfrm>
            <a:off x="685800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85800" y="1488186"/>
            <a:ext cx="21945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312414" y="1062990"/>
            <a:ext cx="250320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4" name="Google Shape;254;p10"/>
          <p:cNvSpPr/>
          <p:nvPr/>
        </p:nvSpPr>
        <p:spPr>
          <a:xfrm>
            <a:off x="3312414" y="1062990"/>
            <a:ext cx="48000" cy="137160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5" name="Google Shape;255;p10"/>
          <p:cNvSpPr/>
          <p:nvPr/>
        </p:nvSpPr>
        <p:spPr>
          <a:xfrm>
            <a:off x="3483864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483864" y="1488186"/>
            <a:ext cx="21945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110478" y="1062990"/>
            <a:ext cx="250320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8" name="Google Shape;258;p10"/>
          <p:cNvSpPr/>
          <p:nvPr/>
        </p:nvSpPr>
        <p:spPr>
          <a:xfrm>
            <a:off x="6110478" y="1062990"/>
            <a:ext cx="48000" cy="137160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9" name="Google Shape;259;p10"/>
          <p:cNvSpPr/>
          <p:nvPr/>
        </p:nvSpPr>
        <p:spPr>
          <a:xfrm>
            <a:off x="6281928" y="120015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281928" y="1488186"/>
            <a:ext cx="21945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14350" y="2880360"/>
            <a:ext cx="157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14350" y="3257550"/>
            <a:ext cx="89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440180" y="3236976"/>
            <a:ext cx="164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291840" y="3257550"/>
            <a:ext cx="89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6EAA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217670" y="3236976"/>
            <a:ext cx="164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069330" y="3257550"/>
            <a:ext cx="89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F6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995160" y="3236976"/>
            <a:ext cx="164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QUALITY ASSURANCE / VON</a:t>
            </a:r>
            <a:endParaRPr sz="1800"/>
          </a:p>
        </p:txBody>
      </p:sp>
      <p:sp>
        <p:nvSpPr>
          <p:cNvPr id="270" name="Google Shape;270;p10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Automated tests</a:t>
            </a:r>
            <a:endParaRPr sz="1800"/>
          </a:p>
        </p:txBody>
      </p:sp>
      <p:sp>
        <p:nvSpPr>
          <p:cNvPr id="271" name="Google Shape;271;p10"/>
          <p:cNvSpPr/>
          <p:nvPr/>
        </p:nvSpPr>
        <p:spPr>
          <a:xfrm>
            <a:off x="685800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Backend tests</a:t>
            </a:r>
            <a:endParaRPr sz="1800"/>
          </a:p>
        </p:txBody>
      </p:sp>
      <p:sp>
        <p:nvSpPr>
          <p:cNvPr id="272" name="Google Shape;272;p10"/>
          <p:cNvSpPr/>
          <p:nvPr/>
        </p:nvSpPr>
        <p:spPr>
          <a:xfrm>
            <a:off x="685800" y="1524000"/>
            <a:ext cx="219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391 pytest tests on SQLite and PostgreSQL.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98.10% coverage.</a:t>
            </a:r>
            <a:endParaRPr sz="1800"/>
          </a:p>
        </p:txBody>
      </p:sp>
      <p:sp>
        <p:nvSpPr>
          <p:cNvPr id="273" name="Google Shape;273;p10"/>
          <p:cNvSpPr/>
          <p:nvPr/>
        </p:nvSpPr>
        <p:spPr>
          <a:xfrm>
            <a:off x="3484245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Frontend checks</a:t>
            </a:r>
            <a:endParaRPr sz="1800"/>
          </a:p>
        </p:txBody>
      </p:sp>
      <p:sp>
        <p:nvSpPr>
          <p:cNvPr id="274" name="Google Shape;274;p10"/>
          <p:cNvSpPr/>
          <p:nvPr/>
        </p:nvSpPr>
        <p:spPr>
          <a:xfrm>
            <a:off x="3484245" y="1524000"/>
            <a:ext cx="219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318 Vitest and React Testing Library tests.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95.21% statement coverage.</a:t>
            </a:r>
            <a:endParaRPr sz="1800"/>
          </a:p>
        </p:txBody>
      </p:sp>
      <p:sp>
        <p:nvSpPr>
          <p:cNvPr id="275" name="Google Shape;275;p10"/>
          <p:cNvSpPr/>
          <p:nvPr/>
        </p:nvSpPr>
        <p:spPr>
          <a:xfrm>
            <a:off x="6281738" y="1200150"/>
            <a:ext cx="2190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AI without the network</a:t>
            </a:r>
            <a:endParaRPr sz="1800"/>
          </a:p>
        </p:txBody>
      </p:sp>
      <p:sp>
        <p:nvSpPr>
          <p:cNvPr id="276" name="Google Shape;276;p10"/>
          <p:cNvSpPr/>
          <p:nvPr/>
        </p:nvSpPr>
        <p:spPr>
          <a:xfrm>
            <a:off x="6281738" y="1524000"/>
            <a:ext cx="219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Stand-in provider and fake Gemini client.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No test calls Google.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CI has no key.</a:t>
            </a:r>
            <a:endParaRPr sz="1800"/>
          </a:p>
        </p:txBody>
      </p:sp>
      <p:sp>
        <p:nvSpPr>
          <p:cNvPr id="277" name="Google Shape;277;p10"/>
          <p:cNvSpPr/>
          <p:nvPr/>
        </p:nvSpPr>
        <p:spPr>
          <a:xfrm>
            <a:off x="514350" y="2857500"/>
            <a:ext cx="790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Gates</a:t>
            </a:r>
            <a:endParaRPr sz="1800"/>
          </a:p>
        </p:txBody>
      </p:sp>
      <p:sp>
        <p:nvSpPr>
          <p:cNvPr id="278" name="Google Shape;278;p10"/>
          <p:cNvSpPr/>
          <p:nvPr/>
        </p:nvSpPr>
        <p:spPr>
          <a:xfrm>
            <a:off x="514350" y="3238500"/>
            <a:ext cx="8048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90% coverage on both sides.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“CI passed” and one approval required to merge.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14350" y="1066800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7" name="Google Shape;287;p11"/>
          <p:cNvSpPr/>
          <p:nvPr/>
        </p:nvSpPr>
        <p:spPr>
          <a:xfrm>
            <a:off x="514350" y="1066800"/>
            <a:ext cx="48006" cy="1476375"/>
          </a:xfrm>
          <a:prstGeom prst="rect">
            <a:avLst/>
          </a:prstGeom>
          <a:solidFill>
            <a:srgbClr val="B85B5B"/>
          </a:solidFill>
          <a:ln cap="flat" cmpd="sng" w="12700">
            <a:solidFill>
              <a:srgbClr val="B8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8" name="Google Shape;288;p11"/>
          <p:cNvSpPr/>
          <p:nvPr/>
        </p:nvSpPr>
        <p:spPr>
          <a:xfrm>
            <a:off x="685800" y="113157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85800" y="141960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663440" y="1066800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1" name="Google Shape;291;p11"/>
          <p:cNvSpPr/>
          <p:nvPr/>
        </p:nvSpPr>
        <p:spPr>
          <a:xfrm>
            <a:off x="4663440" y="1066800"/>
            <a:ext cx="48006" cy="1476375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2" name="Google Shape;292;p11"/>
          <p:cNvSpPr/>
          <p:nvPr/>
        </p:nvSpPr>
        <p:spPr>
          <a:xfrm>
            <a:off x="4834890" y="113157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834890" y="141960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14350" y="2809875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5" name="Google Shape;295;p11"/>
          <p:cNvSpPr/>
          <p:nvPr/>
        </p:nvSpPr>
        <p:spPr>
          <a:xfrm>
            <a:off x="514350" y="2809875"/>
            <a:ext cx="48006" cy="1476375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6" name="Google Shape;296;p11"/>
          <p:cNvSpPr/>
          <p:nvPr/>
        </p:nvSpPr>
        <p:spPr>
          <a:xfrm>
            <a:off x="685800" y="219456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85800" y="248259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663440" y="2809875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9" name="Google Shape;299;p11"/>
          <p:cNvSpPr/>
          <p:nvPr/>
        </p:nvSpPr>
        <p:spPr>
          <a:xfrm>
            <a:off x="4663440" y="2809875"/>
            <a:ext cx="48006" cy="1476375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0" name="Google Shape;300;p11"/>
          <p:cNvSpPr/>
          <p:nvPr/>
        </p:nvSpPr>
        <p:spPr>
          <a:xfrm>
            <a:off x="4834890" y="219456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834890" y="248259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QUALITY ASSURANCE / VON</a:t>
            </a:r>
            <a:endParaRPr sz="1800"/>
          </a:p>
        </p:txBody>
      </p:sp>
      <p:sp>
        <p:nvSpPr>
          <p:cNvPr id="304" name="Google Shape;304;p11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Acceptance testing with the real model</a:t>
            </a:r>
            <a:endParaRPr sz="1800"/>
          </a:p>
        </p:txBody>
      </p:sp>
      <p:sp>
        <p:nvSpPr>
          <p:cNvPr id="305" name="Google Shape;305;p11"/>
          <p:cNvSpPr/>
          <p:nvPr/>
        </p:nvSpPr>
        <p:spPr>
          <a:xfrm>
            <a:off x="685800" y="12573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sz="1800"/>
          </a:p>
        </p:txBody>
      </p:sp>
      <p:sp>
        <p:nvSpPr>
          <p:cNvPr id="306" name="Google Shape;306;p11"/>
          <p:cNvSpPr/>
          <p:nvPr/>
        </p:nvSpPr>
        <p:spPr>
          <a:xfrm>
            <a:off x="685800" y="1685925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P4 walkthrough completed successfully.</a:t>
            </a:r>
            <a:endParaRPr sz="1800"/>
          </a:p>
        </p:txBody>
      </p:sp>
      <p:sp>
        <p:nvSpPr>
          <p:cNvPr id="307" name="Google Shape;307;p11"/>
          <p:cNvSpPr/>
          <p:nvPr/>
        </p:nvSpPr>
        <p:spPr>
          <a:xfrm>
            <a:off x="4834890" y="12573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Manual test cases</a:t>
            </a:r>
            <a:endParaRPr sz="1800"/>
          </a:p>
        </p:txBody>
      </p:sp>
      <p:sp>
        <p:nvSpPr>
          <p:cNvPr id="308" name="Google Shape;308;p11"/>
          <p:cNvSpPr/>
          <p:nvPr/>
        </p:nvSpPr>
        <p:spPr>
          <a:xfrm>
            <a:off x="4834890" y="1685925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14 new cases in the test plan: TC-14 to TC-27.</a:t>
            </a:r>
            <a:endParaRPr sz="1800"/>
          </a:p>
        </p:txBody>
      </p:sp>
      <p:sp>
        <p:nvSpPr>
          <p:cNvPr id="309" name="Google Shape;309;p11"/>
          <p:cNvSpPr/>
          <p:nvPr/>
        </p:nvSpPr>
        <p:spPr>
          <a:xfrm>
            <a:off x="685800" y="3000375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Generation time</a:t>
            </a:r>
            <a:endParaRPr sz="1800"/>
          </a:p>
        </p:txBody>
      </p:sp>
      <p:sp>
        <p:nvSpPr>
          <p:cNvPr id="310" name="Google Shape;310;p11"/>
          <p:cNvSpPr/>
          <p:nvPr/>
        </p:nvSpPr>
        <p:spPr>
          <a:xfrm>
            <a:off x="685800" y="3429000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Successful generation took under 1 second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in the walkthrough.</a:t>
            </a:r>
            <a:endParaRPr sz="1800"/>
          </a:p>
        </p:txBody>
      </p:sp>
      <p:sp>
        <p:nvSpPr>
          <p:cNvPr id="311" name="Google Shape;311;p11"/>
          <p:cNvSpPr/>
          <p:nvPr/>
        </p:nvSpPr>
        <p:spPr>
          <a:xfrm>
            <a:off x="4834890" y="3000375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Not measured</a:t>
            </a:r>
            <a:endParaRPr sz="1800"/>
          </a:p>
        </p:txBody>
      </p:sp>
      <p:sp>
        <p:nvSpPr>
          <p:cNvPr id="312" name="Google Shape;312;p11"/>
          <p:cNvSpPr/>
          <p:nvPr/>
        </p:nvSpPr>
        <p:spPr>
          <a:xfrm>
            <a:off x="4834890" y="3429000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Performance under load.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14350" y="1066800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1" name="Google Shape;321;p12"/>
          <p:cNvSpPr/>
          <p:nvPr/>
        </p:nvSpPr>
        <p:spPr>
          <a:xfrm>
            <a:off x="514350" y="1066800"/>
            <a:ext cx="48006" cy="1476375"/>
          </a:xfrm>
          <a:prstGeom prst="rect">
            <a:avLst/>
          </a:prstGeom>
          <a:solidFill>
            <a:srgbClr val="B85B5B"/>
          </a:solidFill>
          <a:ln cap="flat" cmpd="sng" w="12700">
            <a:solidFill>
              <a:srgbClr val="B8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2" name="Google Shape;322;p12"/>
          <p:cNvSpPr/>
          <p:nvPr/>
        </p:nvSpPr>
        <p:spPr>
          <a:xfrm>
            <a:off x="685800" y="113157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85800" y="141960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663440" y="1066800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5" name="Google Shape;325;p12"/>
          <p:cNvSpPr/>
          <p:nvPr/>
        </p:nvSpPr>
        <p:spPr>
          <a:xfrm>
            <a:off x="4663440" y="1066800"/>
            <a:ext cx="48006" cy="1476375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6" name="Google Shape;326;p12"/>
          <p:cNvSpPr/>
          <p:nvPr/>
        </p:nvSpPr>
        <p:spPr>
          <a:xfrm>
            <a:off x="4834890" y="113157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4834890" y="141960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14350" y="2809875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9" name="Google Shape;329;p12"/>
          <p:cNvSpPr/>
          <p:nvPr/>
        </p:nvSpPr>
        <p:spPr>
          <a:xfrm>
            <a:off x="514350" y="2809875"/>
            <a:ext cx="48006" cy="1476375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12"/>
          <p:cNvSpPr/>
          <p:nvPr/>
        </p:nvSpPr>
        <p:spPr>
          <a:xfrm>
            <a:off x="685800" y="219456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685800" y="248259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663440" y="2809875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3" name="Google Shape;333;p12"/>
          <p:cNvSpPr/>
          <p:nvPr/>
        </p:nvSpPr>
        <p:spPr>
          <a:xfrm>
            <a:off x="4663440" y="2809875"/>
            <a:ext cx="48006" cy="1476375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4" name="Google Shape;334;p12"/>
          <p:cNvSpPr/>
          <p:nvPr/>
        </p:nvSpPr>
        <p:spPr>
          <a:xfrm>
            <a:off x="4834890" y="219456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4834890" y="248259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QUALITY ASSURANCE / VON</a:t>
            </a:r>
            <a:endParaRPr sz="1800"/>
          </a:p>
        </p:txBody>
      </p:sp>
      <p:sp>
        <p:nvSpPr>
          <p:cNvPr id="338" name="Google Shape;338;p12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What testing and review caught</a:t>
            </a:r>
            <a:endParaRPr sz="1800"/>
          </a:p>
        </p:txBody>
      </p:sp>
      <p:sp>
        <p:nvSpPr>
          <p:cNvPr id="339" name="Google Shape;339;p12"/>
          <p:cNvSpPr/>
          <p:nvPr/>
        </p:nvSpPr>
        <p:spPr>
          <a:xfrm>
            <a:off x="685800" y="12573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A removed file still sent</a:t>
            </a:r>
            <a:endParaRPr sz="1800"/>
          </a:p>
        </p:txBody>
      </p:sp>
      <p:sp>
        <p:nvSpPr>
          <p:cNvPr id="340" name="Google Shape;340;p12"/>
          <p:cNvSpPr/>
          <p:nvPr/>
        </p:nvSpPr>
        <p:spPr>
          <a:xfrm>
            <a:off x="685800" y="1685925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After switching modes.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Found in review and fixed (PR #62).</a:t>
            </a:r>
            <a:endParaRPr sz="1800"/>
          </a:p>
        </p:txBody>
      </p:sp>
      <p:sp>
        <p:nvSpPr>
          <p:cNvPr id="341" name="Google Shape;341;p12"/>
          <p:cNvSpPr/>
          <p:nvPr/>
        </p:nvSpPr>
        <p:spPr>
          <a:xfrm>
            <a:off x="4834890" y="12573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Badge in the wrong place</a:t>
            </a:r>
            <a:endParaRPr sz="1800"/>
          </a:p>
        </p:txBody>
      </p:sp>
      <p:sp>
        <p:nvSpPr>
          <p:cNvPr id="342" name="Google Shape;342;p12"/>
          <p:cNvSpPr/>
          <p:nvPr/>
        </p:nvSpPr>
        <p:spPr>
          <a:xfrm>
            <a:off x="4834890" y="1685925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Under the state badge instead of beside it.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Fixed (PR #70).</a:t>
            </a:r>
            <a:endParaRPr sz="1800"/>
          </a:p>
        </p:txBody>
      </p:sp>
      <p:sp>
        <p:nvSpPr>
          <p:cNvPr id="343" name="Google Shape;343;p12"/>
          <p:cNvSpPr/>
          <p:nvPr/>
        </p:nvSpPr>
        <p:spPr>
          <a:xfrm>
            <a:off x="685800" y="3000375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A code-scanning alert</a:t>
            </a:r>
            <a:endParaRPr sz="1800"/>
          </a:p>
        </p:txBody>
      </p:sp>
      <p:sp>
        <p:nvSpPr>
          <p:cNvPr id="344" name="Google Shape;344;p12"/>
          <p:cNvSpPr/>
          <p:nvPr/>
        </p:nvSpPr>
        <p:spPr>
          <a:xfrm>
            <a:off x="685800" y="3429000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 side effect inside a test’s assert.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Fixed (PR #69).</a:t>
            </a:r>
            <a:endParaRPr sz="1800"/>
          </a:p>
        </p:txBody>
      </p:sp>
      <p:sp>
        <p:nvSpPr>
          <p:cNvPr id="345" name="Google Shape;345;p12"/>
          <p:cNvSpPr/>
          <p:nvPr/>
        </p:nvSpPr>
        <p:spPr>
          <a:xfrm>
            <a:off x="4834890" y="3000375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Duplicate accepts</a:t>
            </a:r>
            <a:endParaRPr sz="1800"/>
          </a:p>
        </p:txBody>
      </p:sp>
      <p:sp>
        <p:nvSpPr>
          <p:cNvPr id="346" name="Google Shape;346;p12"/>
          <p:cNvSpPr/>
          <p:nvPr/>
        </p:nvSpPr>
        <p:spPr>
          <a:xfrm>
            <a:off x="4834890" y="3429000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40 races on Postgres.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0 duplicates with the lock, 39 without.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14350" y="994410"/>
            <a:ext cx="3874800" cy="7887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5" name="Google Shape;355;p13"/>
          <p:cNvSpPr/>
          <p:nvPr/>
        </p:nvSpPr>
        <p:spPr>
          <a:xfrm>
            <a:off x="514350" y="994410"/>
            <a:ext cx="48000" cy="788700"/>
          </a:xfrm>
          <a:prstGeom prst="rect">
            <a:avLst/>
          </a:prstGeom>
          <a:solidFill>
            <a:srgbClr val="B85B5B"/>
          </a:solidFill>
          <a:ln cap="flat" cmpd="sng" w="12700">
            <a:solidFill>
              <a:srgbClr val="B8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6" name="Google Shape;356;p13"/>
          <p:cNvSpPr/>
          <p:nvPr/>
        </p:nvSpPr>
        <p:spPr>
          <a:xfrm>
            <a:off x="685800" y="113157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685800" y="141960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663440" y="994410"/>
            <a:ext cx="3874800" cy="7887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9" name="Google Shape;359;p13"/>
          <p:cNvSpPr/>
          <p:nvPr/>
        </p:nvSpPr>
        <p:spPr>
          <a:xfrm>
            <a:off x="4663440" y="994410"/>
            <a:ext cx="48000" cy="78870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0" name="Google Shape;360;p13"/>
          <p:cNvSpPr/>
          <p:nvPr/>
        </p:nvSpPr>
        <p:spPr>
          <a:xfrm>
            <a:off x="4834890" y="113157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834890" y="141960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14350" y="2057400"/>
            <a:ext cx="3874800" cy="7887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3" name="Google Shape;363;p13"/>
          <p:cNvSpPr/>
          <p:nvPr/>
        </p:nvSpPr>
        <p:spPr>
          <a:xfrm>
            <a:off x="514350" y="2057400"/>
            <a:ext cx="48000" cy="78870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4" name="Google Shape;364;p13"/>
          <p:cNvSpPr/>
          <p:nvPr/>
        </p:nvSpPr>
        <p:spPr>
          <a:xfrm>
            <a:off x="685800" y="219456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685800" y="248259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663440" y="2057400"/>
            <a:ext cx="3874800" cy="7887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7" name="Google Shape;367;p13"/>
          <p:cNvSpPr/>
          <p:nvPr/>
        </p:nvSpPr>
        <p:spPr>
          <a:xfrm>
            <a:off x="4663440" y="2057400"/>
            <a:ext cx="48000" cy="78870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8" name="Google Shape;368;p13"/>
          <p:cNvSpPr/>
          <p:nvPr/>
        </p:nvSpPr>
        <p:spPr>
          <a:xfrm>
            <a:off x="4834890" y="219456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4834890" y="248259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514350" y="3120390"/>
            <a:ext cx="3874800" cy="7887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1" name="Google Shape;371;p13"/>
          <p:cNvSpPr/>
          <p:nvPr/>
        </p:nvSpPr>
        <p:spPr>
          <a:xfrm>
            <a:off x="514350" y="3120390"/>
            <a:ext cx="48000" cy="78870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2" name="Google Shape;372;p13"/>
          <p:cNvSpPr/>
          <p:nvPr/>
        </p:nvSpPr>
        <p:spPr>
          <a:xfrm>
            <a:off x="685800" y="325755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685800" y="354558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663440" y="3120390"/>
            <a:ext cx="3874800" cy="7887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5" name="Google Shape;375;p13"/>
          <p:cNvSpPr/>
          <p:nvPr/>
        </p:nvSpPr>
        <p:spPr>
          <a:xfrm>
            <a:off x="4663440" y="3120390"/>
            <a:ext cx="48000" cy="788700"/>
          </a:xfrm>
          <a:prstGeom prst="rect">
            <a:avLst/>
          </a:prstGeom>
          <a:solidFill>
            <a:srgbClr val="5C8F68"/>
          </a:solidFill>
          <a:ln cap="flat" cmpd="sng" w="12700">
            <a:solidFill>
              <a:srgbClr val="5C8F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6" name="Google Shape;376;p13"/>
          <p:cNvSpPr/>
          <p:nvPr/>
        </p:nvSpPr>
        <p:spPr>
          <a:xfrm>
            <a:off x="4834890" y="325755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4834890" y="354558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SECURITY / MILES</a:t>
            </a:r>
            <a:endParaRPr sz="1800"/>
          </a:p>
        </p:txBody>
      </p:sp>
      <p:sp>
        <p:nvSpPr>
          <p:cNvPr id="380" name="Google Shape;380;p13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Security for AI features</a:t>
            </a:r>
            <a:endParaRPr sz="1800"/>
          </a:p>
        </p:txBody>
      </p:sp>
      <p:sp>
        <p:nvSpPr>
          <p:cNvPr id="381" name="Google Shape;381;p13"/>
          <p:cNvSpPr/>
          <p:nvPr/>
        </p:nvSpPr>
        <p:spPr>
          <a:xfrm>
            <a:off x="685800" y="1131570"/>
            <a:ext cx="3566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Key stays on the server</a:t>
            </a:r>
            <a:endParaRPr sz="1800"/>
          </a:p>
        </p:txBody>
      </p:sp>
      <p:sp>
        <p:nvSpPr>
          <p:cNvPr id="382" name="Google Shape;382;p13"/>
          <p:cNvSpPr/>
          <p:nvPr/>
        </p:nvSpPr>
        <p:spPr>
          <a:xfrm>
            <a:off x="685800" y="1455420"/>
            <a:ext cx="356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Render settings only. Never in the browser, a commit or a log.</a:t>
            </a:r>
            <a:endParaRPr sz="1800"/>
          </a:p>
        </p:txBody>
      </p:sp>
      <p:sp>
        <p:nvSpPr>
          <p:cNvPr id="383" name="Google Shape;383;p13"/>
          <p:cNvSpPr/>
          <p:nvPr/>
        </p:nvSpPr>
        <p:spPr>
          <a:xfrm>
            <a:off x="4834890" y="1131570"/>
            <a:ext cx="3566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No bill possible</a:t>
            </a:r>
            <a:endParaRPr sz="1800"/>
          </a:p>
        </p:txBody>
      </p:sp>
      <p:sp>
        <p:nvSpPr>
          <p:cNvPr id="384" name="Google Shape;384;p13"/>
          <p:cNvSpPr/>
          <p:nvPr/>
        </p:nvSpPr>
        <p:spPr>
          <a:xfrm>
            <a:off x="4834890" y="1455420"/>
            <a:ext cx="356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Billing stays disabled on the Google project.</a:t>
            </a:r>
            <a:endParaRPr sz="1800"/>
          </a:p>
        </p:txBody>
      </p:sp>
      <p:sp>
        <p:nvSpPr>
          <p:cNvPr id="385" name="Google Shape;385;p13"/>
          <p:cNvSpPr/>
          <p:nvPr/>
        </p:nvSpPr>
        <p:spPr>
          <a:xfrm>
            <a:off x="685800" y="2194560"/>
            <a:ext cx="3566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Send only what’s needed</a:t>
            </a:r>
            <a:endParaRPr sz="1800"/>
          </a:p>
        </p:txBody>
      </p:sp>
      <p:sp>
        <p:nvSpPr>
          <p:cNvPr id="386" name="Google Shape;386;p13"/>
          <p:cNvSpPr/>
          <p:nvPr/>
        </p:nvSpPr>
        <p:spPr>
          <a:xfrm>
            <a:off x="685800" y="2518410"/>
            <a:ext cx="356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Deck details and prompt or file. A warning before sending.</a:t>
            </a:r>
            <a:endParaRPr sz="1800"/>
          </a:p>
        </p:txBody>
      </p:sp>
      <p:sp>
        <p:nvSpPr>
          <p:cNvPr id="387" name="Google Shape;387;p13"/>
          <p:cNvSpPr/>
          <p:nvPr/>
        </p:nvSpPr>
        <p:spPr>
          <a:xfrm>
            <a:off x="4834890" y="2194560"/>
            <a:ext cx="3566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Learner text is data</a:t>
            </a:r>
            <a:endParaRPr sz="1800"/>
          </a:p>
        </p:txBody>
      </p:sp>
      <p:sp>
        <p:nvSpPr>
          <p:cNvPr id="388" name="Google Shape;388;p13"/>
          <p:cNvSpPr/>
          <p:nvPr/>
        </p:nvSpPr>
        <p:spPr>
          <a:xfrm>
            <a:off x="4834890" y="2518410"/>
            <a:ext cx="356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Tagged, escaped, schema-checked and shown as plain text.</a:t>
            </a:r>
            <a:endParaRPr sz="1800"/>
          </a:p>
        </p:txBody>
      </p:sp>
      <p:sp>
        <p:nvSpPr>
          <p:cNvPr id="389" name="Google Shape;389;p13"/>
          <p:cNvSpPr/>
          <p:nvPr/>
        </p:nvSpPr>
        <p:spPr>
          <a:xfrm>
            <a:off x="685800" y="3257550"/>
            <a:ext cx="3566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Limits where it costs</a:t>
            </a:r>
            <a:endParaRPr sz="1800"/>
          </a:p>
        </p:txBody>
      </p:sp>
      <p:sp>
        <p:nvSpPr>
          <p:cNvPr id="390" name="Google Shape;390;p13"/>
          <p:cNvSpPr/>
          <p:nvPr/>
        </p:nvSpPr>
        <p:spPr>
          <a:xfrm>
            <a:off x="685800" y="3581400"/>
            <a:ext cx="356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6 MB route, 4 MB files, 25 cards. Daily caps: 100 per user, </a:t>
            </a:r>
            <a:r>
              <a:rPr lang="en-US" sz="1013">
                <a:solidFill>
                  <a:srgbClr val="606C78"/>
                </a:solidFill>
              </a:rPr>
              <a:t>500</a:t>
            </a: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 site-wide.</a:t>
            </a:r>
            <a:endParaRPr sz="1800"/>
          </a:p>
        </p:txBody>
      </p:sp>
      <p:sp>
        <p:nvSpPr>
          <p:cNvPr id="391" name="Google Shape;391;p13"/>
          <p:cNvSpPr/>
          <p:nvPr/>
        </p:nvSpPr>
        <p:spPr>
          <a:xfrm>
            <a:off x="4834890" y="3257550"/>
            <a:ext cx="3566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Generation ownership</a:t>
            </a:r>
            <a:endParaRPr sz="1800"/>
          </a:p>
        </p:txBody>
      </p:sp>
      <p:sp>
        <p:nvSpPr>
          <p:cNvPr id="392" name="Google Shape;392;p13"/>
          <p:cNvSpPr/>
          <p:nvPr/>
        </p:nvSpPr>
        <p:spPr>
          <a:xfrm>
            <a:off x="4834890" y="3581400"/>
            <a:ext cx="356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Only the owner can access a generation. Other users get “not found”.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"/>
          <p:cNvSpPr/>
          <p:nvPr/>
        </p:nvSpPr>
        <p:spPr>
          <a:xfrm>
            <a:off x="445770" y="2606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445770" y="493776"/>
            <a:ext cx="822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514350" y="1066800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1" name="Google Shape;401;p14"/>
          <p:cNvSpPr/>
          <p:nvPr/>
        </p:nvSpPr>
        <p:spPr>
          <a:xfrm>
            <a:off x="514350" y="1066800"/>
            <a:ext cx="48006" cy="1476375"/>
          </a:xfrm>
          <a:prstGeom prst="rect">
            <a:avLst/>
          </a:prstGeom>
          <a:solidFill>
            <a:srgbClr val="B85B5B"/>
          </a:solidFill>
          <a:ln cap="flat" cmpd="sng" w="12700">
            <a:solidFill>
              <a:srgbClr val="B8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2" name="Google Shape;402;p14"/>
          <p:cNvSpPr/>
          <p:nvPr/>
        </p:nvSpPr>
        <p:spPr>
          <a:xfrm>
            <a:off x="685800" y="113157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685800" y="141960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4663440" y="1066800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5" name="Google Shape;405;p14"/>
          <p:cNvSpPr/>
          <p:nvPr/>
        </p:nvSpPr>
        <p:spPr>
          <a:xfrm>
            <a:off x="4663440" y="1066800"/>
            <a:ext cx="48006" cy="1476375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6" name="Google Shape;406;p14"/>
          <p:cNvSpPr/>
          <p:nvPr/>
        </p:nvSpPr>
        <p:spPr>
          <a:xfrm>
            <a:off x="4834890" y="113157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4834890" y="141960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514350" y="2809875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9" name="Google Shape;409;p14"/>
          <p:cNvSpPr/>
          <p:nvPr/>
        </p:nvSpPr>
        <p:spPr>
          <a:xfrm>
            <a:off x="514350" y="2809875"/>
            <a:ext cx="48006" cy="1476375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0" name="Google Shape;410;p14"/>
          <p:cNvSpPr/>
          <p:nvPr/>
        </p:nvSpPr>
        <p:spPr>
          <a:xfrm>
            <a:off x="685800" y="219456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85800" y="248259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4663440" y="2809875"/>
            <a:ext cx="3874770" cy="1476375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3" name="Google Shape;413;p14"/>
          <p:cNvSpPr/>
          <p:nvPr/>
        </p:nvSpPr>
        <p:spPr>
          <a:xfrm>
            <a:off x="4663440" y="2809875"/>
            <a:ext cx="48006" cy="1476375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4" name="Google Shape;414;p14"/>
          <p:cNvSpPr/>
          <p:nvPr/>
        </p:nvSpPr>
        <p:spPr>
          <a:xfrm>
            <a:off x="4834890" y="2194560"/>
            <a:ext cx="356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4834890" y="2482596"/>
            <a:ext cx="356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4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47675" y="257175"/>
            <a:ext cx="819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WRAP-UP / MILES</a:t>
            </a:r>
            <a:endParaRPr sz="1800"/>
          </a:p>
        </p:txBody>
      </p:sp>
      <p:sp>
        <p:nvSpPr>
          <p:cNvPr id="418" name="Google Shape;418;p14"/>
          <p:cNvSpPr/>
          <p:nvPr/>
        </p:nvSpPr>
        <p:spPr>
          <a:xfrm>
            <a:off x="447675" y="495300"/>
            <a:ext cx="82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What we learned</a:t>
            </a:r>
            <a:endParaRPr sz="1800"/>
          </a:p>
        </p:txBody>
      </p:sp>
      <p:sp>
        <p:nvSpPr>
          <p:cNvPr id="419" name="Google Shape;419;p14"/>
          <p:cNvSpPr/>
          <p:nvPr/>
        </p:nvSpPr>
        <p:spPr>
          <a:xfrm>
            <a:off x="685800" y="12573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Contracts before code</a:t>
            </a:r>
            <a:endParaRPr sz="1800"/>
          </a:p>
        </p:txBody>
      </p:sp>
      <p:sp>
        <p:nvSpPr>
          <p:cNvPr id="420" name="Google Shape;420;p14"/>
          <p:cNvSpPr/>
          <p:nvPr/>
        </p:nvSpPr>
        <p:spPr>
          <a:xfrm>
            <a:off x="685800" y="1685925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Agree endpoints, props and file owners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before implementation.</a:t>
            </a:r>
            <a:endParaRPr sz="1800"/>
          </a:p>
        </p:txBody>
      </p:sp>
      <p:sp>
        <p:nvSpPr>
          <p:cNvPr id="421" name="Google Shape;421;p14"/>
          <p:cNvSpPr/>
          <p:nvPr/>
        </p:nvSpPr>
        <p:spPr>
          <a:xfrm>
            <a:off x="4834890" y="12573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A stand-in makes AI testable</a:t>
            </a:r>
            <a:endParaRPr sz="1800"/>
          </a:p>
        </p:txBody>
      </p:sp>
      <p:sp>
        <p:nvSpPr>
          <p:cNvPr id="422" name="Google Shape;422;p14"/>
          <p:cNvSpPr/>
          <p:nvPr/>
        </p:nvSpPr>
        <p:spPr>
          <a:xfrm>
            <a:off x="4834890" y="1685925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No tests call Google.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CI needs no API key.</a:t>
            </a:r>
            <a:endParaRPr sz="1800"/>
          </a:p>
        </p:txBody>
      </p:sp>
      <p:sp>
        <p:nvSpPr>
          <p:cNvPr id="423" name="Google Shape;423;p14"/>
          <p:cNvSpPr/>
          <p:nvPr/>
        </p:nvSpPr>
        <p:spPr>
          <a:xfrm>
            <a:off x="685800" y="3000375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Free tiers have real limits</a:t>
            </a:r>
            <a:endParaRPr sz="1800"/>
          </a:p>
        </p:txBody>
      </p:sp>
      <p:sp>
        <p:nvSpPr>
          <p:cNvPr id="424" name="Google Shape;424;p14"/>
          <p:cNvSpPr/>
          <p:nvPr/>
        </p:nvSpPr>
        <p:spPr>
          <a:xfrm>
            <a:off x="685800" y="3429000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Quota and sleeping services shaped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the deployment and request limits.</a:t>
            </a:r>
            <a:endParaRPr sz="1800"/>
          </a:p>
        </p:txBody>
      </p:sp>
      <p:sp>
        <p:nvSpPr>
          <p:cNvPr id="425" name="Google Shape;425;p14"/>
          <p:cNvSpPr/>
          <p:nvPr/>
        </p:nvSpPr>
        <p:spPr>
          <a:xfrm>
            <a:off x="4834890" y="3000375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32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8232D"/>
                </a:solidFill>
                <a:latin typeface="Arial"/>
                <a:ea typeface="Arial"/>
                <a:cs typeface="Arial"/>
                <a:sym typeface="Arial"/>
              </a:rPr>
              <a:t>Review before the code</a:t>
            </a:r>
            <a:endParaRPr sz="1800"/>
          </a:p>
        </p:txBody>
      </p:sp>
      <p:sp>
        <p:nvSpPr>
          <p:cNvPr id="426" name="Google Shape;426;p14"/>
          <p:cNvSpPr/>
          <p:nvPr/>
        </p:nvSpPr>
        <p:spPr>
          <a:xfrm>
            <a:off x="4834890" y="3429000"/>
            <a:ext cx="3524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Plan review caught the private-network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013"/>
              <a:buFont typeface="Arial"/>
              <a:buNone/>
            </a:pPr>
            <a:r>
              <a:rPr b="0" lang="en-US" sz="1013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problem before implementation.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"/>
          <p:cNvSpPr/>
          <p:nvPr/>
        </p:nvSpPr>
        <p:spPr>
          <a:xfrm>
            <a:off x="514350" y="548640"/>
            <a:ext cx="274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14350" y="1097280"/>
            <a:ext cx="76809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514350" y="1817370"/>
            <a:ext cx="768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6EAA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514350" y="2914650"/>
            <a:ext cx="740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5"/>
          <p:cNvSpPr txBox="1"/>
          <p:nvPr>
            <p:ph idx="4294967295" type="sldNum"/>
          </p:nvPr>
        </p:nvSpPr>
        <p:spPr>
          <a:xfrm>
            <a:off x="8820150" y="4855464"/>
            <a:ext cx="2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14350" y="55245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9B9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09B9F"/>
                </a:solidFill>
                <a:latin typeface="Arial"/>
                <a:ea typeface="Arial"/>
                <a:cs typeface="Arial"/>
                <a:sym typeface="Arial"/>
              </a:rPr>
              <a:t>TEAM 2 / ITERATION 3</a:t>
            </a:r>
            <a:endParaRPr sz="1800"/>
          </a:p>
        </p:txBody>
      </p:sp>
      <p:sp>
        <p:nvSpPr>
          <p:cNvPr id="438" name="Google Shape;438;p15"/>
          <p:cNvSpPr/>
          <p:nvPr/>
        </p:nvSpPr>
        <p:spPr>
          <a:xfrm>
            <a:off x="514350" y="109537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Feedback and next steps</a:t>
            </a:r>
            <a:endParaRPr sz="1800"/>
          </a:p>
        </p:txBody>
      </p:sp>
      <p:sp>
        <p:nvSpPr>
          <p:cNvPr id="439" name="Google Shape;439;p15"/>
          <p:cNvSpPr/>
          <p:nvPr/>
        </p:nvSpPr>
        <p:spPr>
          <a:xfrm>
            <a:off x="514350" y="2000250"/>
            <a:ext cx="80010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See it working: our Iteration 3 demo video.</a:t>
            </a:r>
            <a:endParaRPr sz="15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06C78"/>
                </a:solidFill>
              </a:rPr>
              <a:t>Our next steps are pretty simple: we will use Cadence in our daily lives and continue to improve it :)</a:t>
            </a:r>
            <a:endParaRPr sz="1500">
              <a:solidFill>
                <a:srgbClr val="606C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606C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C7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06C78"/>
                </a:solidFill>
              </a:rPr>
              <a:t>Thanks for watching Team 2 presentation. </a:t>
            </a:r>
            <a:r>
              <a:rPr b="0" lang="en-US" sz="1500">
                <a:solidFill>
                  <a:srgbClr val="606C78"/>
                </a:solidFill>
                <a:latin typeface="Arial"/>
                <a:ea typeface="Arial"/>
                <a:cs typeface="Arial"/>
                <a:sym typeface="Arial"/>
              </a:rPr>
              <a:t>We welcome your feedback</a:t>
            </a:r>
            <a:r>
              <a:rPr lang="en-US" sz="1500">
                <a:solidFill>
                  <a:srgbClr val="606C78"/>
                </a:solidFill>
              </a:rPr>
              <a:t>!</a:t>
            </a:r>
            <a:endParaRPr sz="1500">
              <a:solidFill>
                <a:srgbClr val="5F6B7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