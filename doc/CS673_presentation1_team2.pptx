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 name="Shape 12"/>
        <p:cNvGrpSpPr/>
        <p:nvPr/>
      </p:nvGrpSpPr>
      <p:grpSpPr>
        <a:xfrm>
          <a:off x="0" y="0"/>
          <a:ext cx="0" cy="0"/>
          <a:chOff x="0" y="0"/>
          <a:chExt cx="0" cy="0"/>
        </a:xfrm>
      </p:grpSpPr>
      <p:sp>
        <p:nvSpPr>
          <p:cNvPr id="13" name="Google Shape;13;g3fbd05f0d7b_3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 name="Google Shape;14;g3fbd05f0d7b_3_0: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
              <a:t>Miles</a:t>
            </a:r>
            <a:endParaRPr/>
          </a:p>
          <a:p>
            <a:pPr indent="0" lvl="0" marL="0" rtl="0" algn="l">
              <a:lnSpc>
                <a:spcPct val="115000"/>
              </a:lnSpc>
              <a:spcBef>
                <a:spcPts val="1200"/>
              </a:spcBef>
              <a:spcAft>
                <a:spcPts val="1200"/>
              </a:spcAft>
              <a:buSzPts val="1100"/>
              <a:buNone/>
            </a:pPr>
            <a:r>
              <a:rPr lang="en"/>
              <a:t>Hi everyone, we're Team 2, and this is Cadence, an AI-powered spaced repetition platform. Quick definition, on the right: spaced repetition means reviewing material at increasing intervals, based on how well you recalled it last time. Cards you know well come back less often. Cards you struggle with come back sooner. The idea is to review each card just before you'd forget it. Today we'll cover what Cadence is for, what we built in Iteration 1, how it's put together, how we're testing and securing it, and then a live demo of the full user flow.</a:t>
            </a:r>
            <a:endParaRPr/>
          </a:p>
        </p:txBody>
      </p:sp>
      <p:sp>
        <p:nvSpPr>
          <p:cNvPr id="15" name="Google Shape;15;g3fbd05f0d7b_3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g3fbd05f0d7b_3_1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g3fbd05f0d7b_3_14:notes"/>
          <p:cNvSpPr txBox="1"/>
          <p:nvPr>
            <p:ph idx="1" type="body"/>
          </p:nvPr>
        </p:nvSpPr>
        <p:spPr>
          <a:xfrm>
            <a:off x="685800" y="3300413"/>
            <a:ext cx="5486400" cy="2700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1200"/>
              </a:spcAft>
              <a:buSzPts val="1100"/>
              <a:buNone/>
            </a:pPr>
            <a:r>
              <a:t/>
            </a:r>
            <a:endParaRPr/>
          </a:p>
        </p:txBody>
      </p:sp>
      <p:sp>
        <p:nvSpPr>
          <p:cNvPr id="30" name="Google Shape;30;g3fbd05f0d7b_3_1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
              <a:t>Miles</a:t>
            </a:r>
            <a:endParaRPr/>
          </a:p>
          <a:p>
            <a:pPr indent="0" lvl="0" marL="0" rtl="0" algn="l">
              <a:lnSpc>
                <a:spcPct val="115000"/>
              </a:lnSpc>
              <a:spcBef>
                <a:spcPts val="1200"/>
              </a:spcBef>
              <a:spcAft>
                <a:spcPts val="1200"/>
              </a:spcAft>
              <a:buSzPts val="1100"/>
              <a:buNone/>
            </a:pPr>
            <a:r>
              <a:rPr lang="en"/>
              <a:t>The problem is twofold. Writing good flashcards takes a lot of time, and once you have them, you still have to work out what to study next. Our vision is one workflow that does both. AI helps you write the cards, you review what it proposes, and spaced repetition decides when each card comes up. We're aimed at people who have to retain a lot of discrete facts: students, language learners, and people studying for professional exams. Iteration 1 builds the foundation everything else sits on: accounts, sign-in, and saved decks where you can add, edit, and delete cards. Study mode, scheduling, and AI generation all build on this data.</a:t>
            </a:r>
            <a:endParaRPr/>
          </a:p>
        </p:txBody>
      </p:sp>
      <p:sp>
        <p:nvSpPr>
          <p:cNvPr id="55" name="Google Shape;55;p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663d3e8e9b099072_7_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h663d3e8e9b099072_7_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t/>
            </a:r>
            <a:endParaRPr/>
          </a:p>
        </p:txBody>
      </p:sp>
      <p:sp>
        <p:nvSpPr>
          <p:cNvPr id="80" name="Google Shape;80;h663d3e8e9b099072_7_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663d3e8e9b099072_7_5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h663d3e8e9b099072_7_5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 sz="1200"/>
              <a:t>Miles</a:t>
            </a:r>
            <a:endParaRPr sz="1200"/>
          </a:p>
          <a:p>
            <a:pPr indent="0" lvl="0" marL="0" rtl="0" algn="l">
              <a:lnSpc>
                <a:spcPct val="115000"/>
              </a:lnSpc>
              <a:spcBef>
                <a:spcPts val="1200"/>
              </a:spcBef>
              <a:spcAft>
                <a:spcPts val="0"/>
              </a:spcAft>
              <a:buSzPts val="1100"/>
              <a:buNone/>
            </a:pPr>
            <a:r>
              <a:t/>
            </a:r>
            <a:endParaRPr sz="1200"/>
          </a:p>
          <a:p>
            <a:pPr indent="0" lvl="0" marL="0" rtl="0" algn="l">
              <a:lnSpc>
                <a:spcPct val="115000"/>
              </a:lnSpc>
              <a:spcBef>
                <a:spcPts val="1200"/>
              </a:spcBef>
              <a:spcAft>
                <a:spcPts val="0"/>
              </a:spcAft>
              <a:buSzPts val="1100"/>
              <a:buNone/>
            </a:pPr>
            <a:r>
              <a:rPr lang="en" sz="1200"/>
              <a:t>The architecture has four layers, left to right. The React UI has our screens, our forms, and one shared API client. Every request goes through that client. The Vite dev server serves the frontend and forwards anything under /api to Flask. To the browser it all looks like one origin, so the login cookie works without any cross-origin setup. Flask handles authentication and input validation, and it checks that you own every deck and card you touch. PostgreSQL stores users, decks, and cards in a persistent Docker volume. What ties the two sides together is a shared contract: agreed paths, JSON fields, and error codes. That let our frontend and backend developers work in parallel.</a:t>
            </a:r>
            <a:endParaRPr sz="1200"/>
          </a:p>
        </p:txBody>
      </p:sp>
      <p:sp>
        <p:nvSpPr>
          <p:cNvPr id="118" name="Google Shape;118;h663d3e8e9b099072_7_5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h663d3e8e9b099072_7_1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h663d3e8e9b099072_7_1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 sz="1200"/>
              <a:t>On the backend, pytest covers authentication, input validation, deck and card operations, and cross-user access. That last one means we check that one user can't read or change another user's decks.</a:t>
            </a:r>
            <a:endParaRPr sz="1200"/>
          </a:p>
          <a:p>
            <a:pPr indent="0" lvl="0" marL="0" rtl="0" algn="l">
              <a:lnSpc>
                <a:spcPct val="115000"/>
              </a:lnSpc>
              <a:spcBef>
                <a:spcPts val="1200"/>
              </a:spcBef>
              <a:spcAft>
                <a:spcPts val="0"/>
              </a:spcAft>
              <a:buClr>
                <a:schemeClr val="dk1"/>
              </a:buClr>
              <a:buSzPts val="1100"/>
              <a:buFont typeface="Arial"/>
              <a:buNone/>
            </a:pPr>
            <a:r>
              <a:rPr lang="en" sz="1200"/>
              <a:t>On the frontend, Node tests cover the deck API client, including how it handles errors, and every change has to pass a Vite production build. When code review finds a bug, the fix comes with a regression test.</a:t>
            </a:r>
            <a:endParaRPr sz="1200"/>
          </a:p>
          <a:p>
            <a:pPr indent="0" lvl="0" marL="0" rtl="0" algn="l">
              <a:lnSpc>
                <a:spcPct val="115000"/>
              </a:lnSpc>
              <a:spcBef>
                <a:spcPts val="1200"/>
              </a:spcBef>
              <a:spcAft>
                <a:spcPts val="0"/>
              </a:spcAft>
              <a:buClr>
                <a:schemeClr val="dk1"/>
              </a:buClr>
              <a:buSzPts val="1100"/>
              <a:buFont typeface="Arial"/>
              <a:buNone/>
            </a:pPr>
            <a:r>
              <a:rPr lang="en" sz="1200"/>
              <a:t>On the right is the next layer, which is merging into our develop branch right now: running the tests against PostgreSQL as well as SQLite, database migration checks, linting, and a 90% coverage gate in CI.</a:t>
            </a:r>
            <a:endParaRPr sz="1200"/>
          </a:p>
          <a:p>
            <a:pPr indent="0" lvl="0" marL="0" rtl="0" algn="l">
              <a:lnSpc>
                <a:spcPct val="115000"/>
              </a:lnSpc>
              <a:spcBef>
                <a:spcPts val="1200"/>
              </a:spcBef>
              <a:spcAft>
                <a:spcPts val="0"/>
              </a:spcAft>
              <a:buClr>
                <a:schemeClr val="dk1"/>
              </a:buClr>
              <a:buSzPts val="1100"/>
              <a:buFont typeface="Arial"/>
              <a:buNone/>
            </a:pPr>
            <a:r>
              <a:rPr lang="en" sz="1200"/>
              <a:t>Our automated tests run on SQLite today, so the live demo is what shows the whole flow working on Postgres.</a:t>
            </a:r>
            <a:endParaRPr sz="1200"/>
          </a:p>
        </p:txBody>
      </p:sp>
      <p:sp>
        <p:nvSpPr>
          <p:cNvPr id="174" name="Google Shape;174;h663d3e8e9b099072_7_1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h663d3e8e9b099072_7_16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0" name="Google Shape;210;h663d3e8e9b099072_7_16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t/>
            </a:r>
            <a:endParaRPr/>
          </a:p>
        </p:txBody>
      </p:sp>
      <p:sp>
        <p:nvSpPr>
          <p:cNvPr id="211" name="Google Shape;211;h663d3e8e9b099072_7_16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h663d3e8e9b099072_7_2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h663d3e8e9b099072_7_2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 sz="1200"/>
              <a:t>Security has been part of the build from the start.</a:t>
            </a:r>
            <a:endParaRPr sz="1200"/>
          </a:p>
          <a:p>
            <a:pPr indent="0" lvl="0" marL="0" rtl="0" algn="l">
              <a:lnSpc>
                <a:spcPct val="115000"/>
              </a:lnSpc>
              <a:spcBef>
                <a:spcPts val="1200"/>
              </a:spcBef>
              <a:spcAft>
                <a:spcPts val="0"/>
              </a:spcAft>
              <a:buSzPts val="1100"/>
              <a:buNone/>
            </a:pPr>
            <a:r>
              <a:rPr lang="en" sz="1200"/>
              <a:t>We store passwords only as hashes. A failed login always gives the same message, "Invalid email or password," so attackers can't use it to find out which emails have accounts.</a:t>
            </a:r>
            <a:endParaRPr sz="1200"/>
          </a:p>
          <a:p>
            <a:pPr indent="0" lvl="0" marL="0" rtl="0" algn="l">
              <a:lnSpc>
                <a:spcPct val="115000"/>
              </a:lnSpc>
              <a:spcBef>
                <a:spcPts val="1200"/>
              </a:spcBef>
              <a:spcAft>
                <a:spcPts val="0"/>
              </a:spcAft>
              <a:buSzPts val="1100"/>
              <a:buNone/>
            </a:pPr>
            <a:r>
              <a:rPr lang="en" sz="1200"/>
              <a:t>You have to be logged in for every deck and card request, and every database query is filtered by owner. If you ask for someone else's deck, it simply isn't found.</a:t>
            </a:r>
            <a:endParaRPr sz="1200"/>
          </a:p>
          <a:p>
            <a:pPr indent="0" lvl="0" marL="0" rtl="0" algn="l">
              <a:lnSpc>
                <a:spcPct val="115000"/>
              </a:lnSpc>
              <a:spcBef>
                <a:spcPts val="1200"/>
              </a:spcBef>
              <a:spcAft>
                <a:spcPts val="0"/>
              </a:spcAft>
              <a:buSzPts val="1100"/>
              <a:buNone/>
            </a:pPr>
            <a:r>
              <a:rPr lang="en" sz="1200"/>
              <a:t>We validate every input field, cap request bodies at one megabyte, and go through SQLAlchemy rather than raw SQL, which protects against SQL injection.</a:t>
            </a:r>
            <a:endParaRPr sz="1200"/>
          </a:p>
          <a:p>
            <a:pPr indent="0" lvl="0" marL="0" rtl="0" algn="l">
              <a:lnSpc>
                <a:spcPct val="115000"/>
              </a:lnSpc>
              <a:spcBef>
                <a:spcPts val="1200"/>
              </a:spcBef>
              <a:spcAft>
                <a:spcPts val="0"/>
              </a:spcAft>
              <a:buSzPts val="1100"/>
              <a:buNone/>
            </a:pPr>
            <a:r>
              <a:rPr lang="en" sz="1200"/>
              <a:t>CodeQL scans each change, and Dependabot flags vulnerable dependencies. Both caught issues we've already fixed.</a:t>
            </a:r>
            <a:endParaRPr sz="1200"/>
          </a:p>
          <a:p>
            <a:pPr indent="0" lvl="0" marL="0" rtl="0" algn="l">
              <a:lnSpc>
                <a:spcPct val="115000"/>
              </a:lnSpc>
              <a:spcBef>
                <a:spcPts val="1200"/>
              </a:spcBef>
              <a:spcAft>
                <a:spcPts val="0"/>
              </a:spcAft>
              <a:buSzPts val="1100"/>
              <a:buNone/>
            </a:pPr>
            <a:r>
              <a:rPr lang="en" sz="1200"/>
              <a:t>Next up: HTTPS and secure cookie settings for deployment, CSRF protection, and dynamic scanning.</a:t>
            </a:r>
            <a:endParaRPr sz="1200"/>
          </a:p>
        </p:txBody>
      </p:sp>
      <p:sp>
        <p:nvSpPr>
          <p:cNvPr id="259" name="Google Shape;259;h663d3e8e9b099072_7_2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h663d3e8e9b099072_7_26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h663d3e8e9b099072_7_26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2400"/>
              </a:spcBef>
              <a:spcAft>
                <a:spcPts val="0"/>
              </a:spcAft>
              <a:buSzPts val="1100"/>
              <a:buNone/>
            </a:pPr>
            <a:r>
              <a:rPr lang="en" sz="1200"/>
              <a:t>Now let's see it working. This one flow touches every layer we just talked about.</a:t>
            </a:r>
            <a:endParaRPr sz="1200"/>
          </a:p>
          <a:p>
            <a:pPr indent="0" lvl="0" marL="0" rtl="0" algn="l">
              <a:lnSpc>
                <a:spcPct val="115000"/>
              </a:lnSpc>
              <a:spcBef>
                <a:spcPts val="2400"/>
              </a:spcBef>
              <a:spcAft>
                <a:spcPts val="0"/>
              </a:spcAft>
              <a:buSzPts val="1100"/>
              <a:buNone/>
            </a:pPr>
            <a:r>
              <a:rPr lang="en" sz="1200"/>
              <a:t>I'll sign in, which takes me to my personal library. I'll create a new deck and give it a name, and the app goes straight to adding cards. I'll save two cards. Then I'll edit one and delete the other.</a:t>
            </a:r>
            <a:endParaRPr sz="1200"/>
          </a:p>
          <a:p>
            <a:pPr indent="0" lvl="0" marL="0" rtl="0" algn="l">
              <a:lnSpc>
                <a:spcPct val="115000"/>
              </a:lnSpc>
              <a:spcBef>
                <a:spcPts val="2400"/>
              </a:spcBef>
              <a:spcAft>
                <a:spcPts val="0"/>
              </a:spcAft>
              <a:buSzPts val="1100"/>
              <a:buNone/>
            </a:pPr>
            <a:r>
              <a:rPr lang="en" sz="1200"/>
              <a:t>Then the key part: I'll refresh the page, sign out, and sign back in. The deck and cards are still there, because they're stored in PostgreSQL and not just in the browser.</a:t>
            </a:r>
            <a:endParaRPr sz="1200"/>
          </a:p>
        </p:txBody>
      </p:sp>
      <p:sp>
        <p:nvSpPr>
          <p:cNvPr id="305" name="Google Shape;305;h663d3e8e9b099072_7_26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h663d3e8e9b099072_7_3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5" name="Google Shape;355;h663d3e8e9b099072_7_3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t/>
            </a:r>
            <a:endParaRPr/>
          </a:p>
        </p:txBody>
      </p:sp>
      <p:sp>
        <p:nvSpPr>
          <p:cNvPr id="356" name="Google Shape;356;h663d3e8e9b099072_7_3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p:cSld name="MASTER">
    <p:bg>
      <p:bgPr>
        <a:solidFill>
          <a:srgbClr val="F7F8FA"/>
        </a:solidFill>
      </p:bgPr>
    </p:bg>
    <p:spTree>
      <p:nvGrpSpPr>
        <p:cNvPr id="7" name="Shape 7"/>
        <p:cNvGrpSpPr/>
        <p:nvPr/>
      </p:nvGrpSpPr>
      <p:grpSpPr>
        <a:xfrm>
          <a:off x="0" y="0"/>
          <a:ext cx="0" cy="0"/>
          <a:chOff x="0" y="0"/>
          <a:chExt cx="0" cy="0"/>
        </a:xfrm>
      </p:grpSpPr>
      <p:sp>
        <p:nvSpPr>
          <p:cNvPr id="8" name="Google Shape;8;p2"/>
          <p:cNvSpPr/>
          <p:nvPr/>
        </p:nvSpPr>
        <p:spPr>
          <a:xfrm>
            <a:off x="0" y="0"/>
            <a:ext cx="9143771" cy="82296"/>
          </a:xfrm>
          <a:prstGeom prst="rect">
            <a:avLst/>
          </a:prstGeom>
          <a:solidFill>
            <a:srgbClr val="29A3A3"/>
          </a:solidFill>
          <a:ln cap="flat" cmpd="sng" w="12700">
            <a:solidFill>
              <a:srgbClr val="29A3A3"/>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 name="Google Shape;9;p2"/>
          <p:cNvSpPr/>
          <p:nvPr/>
        </p:nvSpPr>
        <p:spPr>
          <a:xfrm>
            <a:off x="7338060" y="4855464"/>
            <a:ext cx="1440180" cy="1234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7A8491"/>
              </a:buClr>
              <a:buSzPts val="600"/>
              <a:buFont typeface="Arial"/>
              <a:buNone/>
            </a:pPr>
            <a:r>
              <a:rPr b="0" i="0" lang="en" sz="600" u="none" cap="none" strike="noStrike">
                <a:solidFill>
                  <a:srgbClr val="7A8491"/>
                </a:solidFill>
                <a:latin typeface="Arial"/>
                <a:ea typeface="Arial"/>
                <a:cs typeface="Arial"/>
                <a:sym typeface="Arial"/>
              </a:rPr>
              <a:t>CS673 • Team 2</a:t>
            </a:r>
            <a:endParaRPr b="0" i="0" sz="600" u="none" cap="none" strike="noStrike">
              <a:solidFill>
                <a:schemeClr val="dk1"/>
              </a:solidFill>
              <a:latin typeface="Arial"/>
              <a:ea typeface="Arial"/>
              <a:cs typeface="Arial"/>
              <a:sym typeface="Arial"/>
            </a:endParaRPr>
          </a:p>
        </p:txBody>
      </p:sp>
      <p:sp>
        <p:nvSpPr>
          <p:cNvPr id="10" name="Google Shape;10;p2"/>
          <p:cNvSpPr txBox="1"/>
          <p:nvPr>
            <p:ph idx="12" type="sldNum"/>
          </p:nvPr>
        </p:nvSpPr>
        <p:spPr>
          <a:xfrm>
            <a:off x="8881110" y="4855464"/>
            <a:ext cx="123444" cy="123444"/>
          </a:xfrm>
          <a:prstGeom prst="rect">
            <a:avLst/>
          </a:prstGeom>
          <a:noFill/>
          <a:ln>
            <a:noFill/>
          </a:ln>
        </p:spPr>
        <p:txBody>
          <a:bodyPr anchorCtr="0" anchor="t" bIns="34275" lIns="68575" spcFirstLastPara="1" rIns="68575" wrap="square" tIns="34275">
            <a:noAutofit/>
          </a:bodyPr>
          <a:lstStyle>
            <a:lvl1pPr indent="0" lvl="0" marL="0" marR="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1"/>
          <p:cNvSpPr txBox="1"/>
          <p:nvPr>
            <p:ph idx="12" type="sldNum"/>
          </p:nvPr>
        </p:nvSpPr>
        <p:spPr>
          <a:xfrm>
            <a:off x="8881110" y="4855464"/>
            <a:ext cx="123444" cy="123444"/>
          </a:xfrm>
          <a:prstGeom prst="rect">
            <a:avLst/>
          </a:prstGeom>
          <a:noFill/>
          <a:ln>
            <a:noFill/>
          </a:ln>
        </p:spPr>
        <p:txBody>
          <a:bodyPr anchorCtr="0" anchor="t" bIns="34275" lIns="68575" spcFirstLastPara="1" rIns="68575" wrap="square" tIns="34275">
            <a:noAutofit/>
          </a:bodyPr>
          <a:lstStyle>
            <a:lvl1pPr indent="0" lvl="0" marL="0" marR="0" rtl="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600"/>
              <a:buFont typeface="Arial"/>
              <a:buNone/>
              <a:defRPr b="0" i="0" sz="600" u="none" cap="none" strike="noStrike">
                <a:solidFill>
                  <a:srgbClr val="7A849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8FA"/>
        </a:solidFill>
      </p:bgPr>
    </p:bg>
    <p:spTree>
      <p:nvGrpSpPr>
        <p:cNvPr id="16" name="Shape 16"/>
        <p:cNvGrpSpPr/>
        <p:nvPr/>
      </p:nvGrpSpPr>
      <p:grpSpPr>
        <a:xfrm>
          <a:off x="0" y="0"/>
          <a:ext cx="0" cy="0"/>
          <a:chOff x="0" y="0"/>
          <a:chExt cx="0" cy="0"/>
        </a:xfrm>
      </p:grpSpPr>
      <p:sp>
        <p:nvSpPr>
          <p:cNvPr id="17" name="Google Shape;17;p4"/>
          <p:cNvSpPr/>
          <p:nvPr/>
        </p:nvSpPr>
        <p:spPr>
          <a:xfrm>
            <a:off x="5897880" y="82296"/>
            <a:ext cx="3243900" cy="4773300"/>
          </a:xfrm>
          <a:prstGeom prst="rect">
            <a:avLst/>
          </a:prstGeom>
          <a:solidFill>
            <a:srgbClr val="E7F2F3"/>
          </a:solidFill>
          <a:ln cap="flat" cmpd="sng" w="12700">
            <a:solidFill>
              <a:srgbClr val="E7F2F3"/>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 name="Google Shape;18;p4"/>
          <p:cNvSpPr/>
          <p:nvPr/>
        </p:nvSpPr>
        <p:spPr>
          <a:xfrm>
            <a:off x="480060" y="445770"/>
            <a:ext cx="34290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800"/>
              <a:buFont typeface="Arial"/>
              <a:buNone/>
            </a:pPr>
            <a:r>
              <a:rPr b="1" i="0" lang="en" sz="800" u="none" cap="none" strike="noStrike">
                <a:solidFill>
                  <a:srgbClr val="159A9C"/>
                </a:solidFill>
                <a:latin typeface="Arial"/>
                <a:ea typeface="Arial"/>
                <a:cs typeface="Arial"/>
                <a:sym typeface="Arial"/>
              </a:rPr>
              <a:t>CS673 SOFTWARE ENGINEERING</a:t>
            </a:r>
            <a:endParaRPr b="0" i="0" sz="800" u="none" cap="none" strike="noStrike">
              <a:solidFill>
                <a:schemeClr val="dk1"/>
              </a:solidFill>
              <a:latin typeface="Arial"/>
              <a:ea typeface="Arial"/>
              <a:cs typeface="Arial"/>
              <a:sym typeface="Arial"/>
            </a:endParaRPr>
          </a:p>
        </p:txBody>
      </p:sp>
      <p:sp>
        <p:nvSpPr>
          <p:cNvPr id="19" name="Google Shape;19;p4"/>
          <p:cNvSpPr/>
          <p:nvPr/>
        </p:nvSpPr>
        <p:spPr>
          <a:xfrm>
            <a:off x="480050" y="1347503"/>
            <a:ext cx="5212200" cy="995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2300"/>
              <a:buFont typeface="Arial"/>
              <a:buNone/>
            </a:pPr>
            <a:r>
              <a:rPr b="1" lang="en" sz="2300">
                <a:solidFill>
                  <a:srgbClr val="17212B"/>
                </a:solidFill>
              </a:rPr>
              <a:t>Cadence</a:t>
            </a:r>
            <a:endParaRPr b="1" sz="2300">
              <a:solidFill>
                <a:srgbClr val="17212B"/>
              </a:solidFill>
            </a:endParaRPr>
          </a:p>
          <a:p>
            <a:pPr indent="0" lvl="0" marL="0" marR="0" rtl="0" algn="l">
              <a:spcBef>
                <a:spcPts val="0"/>
              </a:spcBef>
              <a:spcAft>
                <a:spcPts val="0"/>
              </a:spcAft>
              <a:buClr>
                <a:srgbClr val="17212B"/>
              </a:buClr>
              <a:buSzPts val="2300"/>
              <a:buFont typeface="Arial"/>
              <a:buNone/>
            </a:pPr>
            <a:r>
              <a:t/>
            </a:r>
            <a:endParaRPr b="1" sz="1600">
              <a:solidFill>
                <a:srgbClr val="17212B"/>
              </a:solidFill>
            </a:endParaRPr>
          </a:p>
          <a:p>
            <a:pPr indent="0" lvl="0" marL="0" marR="0" rtl="0" algn="l">
              <a:spcBef>
                <a:spcPts val="0"/>
              </a:spcBef>
              <a:spcAft>
                <a:spcPts val="0"/>
              </a:spcAft>
              <a:buClr>
                <a:srgbClr val="17212B"/>
              </a:buClr>
              <a:buSzPts val="2300"/>
              <a:buFont typeface="Arial"/>
              <a:buNone/>
            </a:pPr>
            <a:r>
              <a:rPr b="1" i="0" lang="en" sz="1600" u="none" cap="none" strike="noStrike">
                <a:solidFill>
                  <a:srgbClr val="17212B"/>
                </a:solidFill>
                <a:latin typeface="Arial"/>
                <a:ea typeface="Arial"/>
                <a:cs typeface="Arial"/>
                <a:sym typeface="Arial"/>
              </a:rPr>
              <a:t>AI-Powered</a:t>
            </a:r>
            <a:r>
              <a:rPr lang="en" sz="1600">
                <a:solidFill>
                  <a:schemeClr val="dk1"/>
                </a:solidFill>
              </a:rPr>
              <a:t> </a:t>
            </a:r>
            <a:r>
              <a:rPr b="1" i="0" lang="en" sz="1600" u="none" cap="none" strike="noStrike">
                <a:solidFill>
                  <a:srgbClr val="17212B"/>
                </a:solidFill>
                <a:latin typeface="Arial"/>
                <a:ea typeface="Arial"/>
                <a:cs typeface="Arial"/>
                <a:sym typeface="Arial"/>
              </a:rPr>
              <a:t>Spaced Repetition</a:t>
            </a:r>
            <a:r>
              <a:rPr lang="en" sz="1600">
                <a:solidFill>
                  <a:schemeClr val="dk1"/>
                </a:solidFill>
              </a:rPr>
              <a:t> </a:t>
            </a:r>
            <a:r>
              <a:rPr b="1" i="0" lang="en" sz="1600" u="none" cap="none" strike="noStrike">
                <a:solidFill>
                  <a:srgbClr val="17212B"/>
                </a:solidFill>
                <a:latin typeface="Arial"/>
                <a:ea typeface="Arial"/>
                <a:cs typeface="Arial"/>
                <a:sym typeface="Arial"/>
              </a:rPr>
              <a:t>Learning Platform</a:t>
            </a:r>
            <a:endParaRPr b="0" i="0" sz="1600" u="none" cap="none" strike="noStrike">
              <a:solidFill>
                <a:schemeClr val="dk1"/>
              </a:solidFill>
              <a:latin typeface="Arial"/>
              <a:ea typeface="Arial"/>
              <a:cs typeface="Arial"/>
              <a:sym typeface="Arial"/>
            </a:endParaRPr>
          </a:p>
        </p:txBody>
      </p:sp>
      <p:sp>
        <p:nvSpPr>
          <p:cNvPr id="20" name="Google Shape;20;p4"/>
          <p:cNvSpPr/>
          <p:nvPr/>
        </p:nvSpPr>
        <p:spPr>
          <a:xfrm>
            <a:off x="493776" y="2503170"/>
            <a:ext cx="4114800" cy="24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1300"/>
              <a:buFont typeface="Arial"/>
              <a:buNone/>
            </a:pPr>
            <a:r>
              <a:rPr lang="en" sz="1300">
                <a:solidFill>
                  <a:srgbClr val="5F6B76"/>
                </a:solidFill>
              </a:rPr>
              <a:t>Project architecture and first features </a:t>
            </a:r>
            <a:r>
              <a:rPr b="0" i="0" lang="en" sz="1300" u="none" cap="none" strike="noStrike">
                <a:solidFill>
                  <a:srgbClr val="5F6B76"/>
                </a:solidFill>
                <a:latin typeface="Arial"/>
                <a:ea typeface="Arial"/>
                <a:cs typeface="Arial"/>
                <a:sym typeface="Arial"/>
              </a:rPr>
              <a:t>• Iteration </a:t>
            </a:r>
            <a:r>
              <a:rPr lang="en" sz="1300">
                <a:solidFill>
                  <a:srgbClr val="5F6B76"/>
                </a:solidFill>
              </a:rPr>
              <a:t>1</a:t>
            </a:r>
            <a:endParaRPr b="0" i="0" sz="1300" u="none" cap="none" strike="noStrike">
              <a:solidFill>
                <a:schemeClr val="dk1"/>
              </a:solidFill>
              <a:latin typeface="Arial"/>
              <a:ea typeface="Arial"/>
              <a:cs typeface="Arial"/>
              <a:sym typeface="Arial"/>
            </a:endParaRPr>
          </a:p>
        </p:txBody>
      </p:sp>
      <p:sp>
        <p:nvSpPr>
          <p:cNvPr id="21" name="Google Shape;21;p4"/>
          <p:cNvSpPr/>
          <p:nvPr/>
        </p:nvSpPr>
        <p:spPr>
          <a:xfrm>
            <a:off x="493776" y="2942844"/>
            <a:ext cx="137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00"/>
              <a:buFont typeface="Arial"/>
              <a:buNone/>
            </a:pPr>
            <a:r>
              <a:rPr b="1" i="0" lang="en" sz="1100" u="none" cap="none" strike="noStrike">
                <a:solidFill>
                  <a:srgbClr val="17212B"/>
                </a:solidFill>
                <a:latin typeface="Arial"/>
                <a:ea typeface="Arial"/>
                <a:cs typeface="Arial"/>
                <a:sym typeface="Arial"/>
              </a:rPr>
              <a:t>Team 2</a:t>
            </a:r>
            <a:endParaRPr b="0" i="0" sz="1100" u="none" cap="none" strike="noStrike">
              <a:solidFill>
                <a:schemeClr val="dk1"/>
              </a:solidFill>
              <a:latin typeface="Arial"/>
              <a:ea typeface="Arial"/>
              <a:cs typeface="Arial"/>
              <a:sym typeface="Arial"/>
            </a:endParaRPr>
          </a:p>
        </p:txBody>
      </p:sp>
      <p:sp>
        <p:nvSpPr>
          <p:cNvPr id="22" name="Google Shape;22;p4"/>
          <p:cNvSpPr/>
          <p:nvPr/>
        </p:nvSpPr>
        <p:spPr>
          <a:xfrm>
            <a:off x="6412230" y="754380"/>
            <a:ext cx="2091600" cy="3257700"/>
          </a:xfrm>
          <a:prstGeom prst="roundRect">
            <a:avLst>
              <a:gd fmla="val 1666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 name="Google Shape;23;p4"/>
          <p:cNvSpPr/>
          <p:nvPr/>
        </p:nvSpPr>
        <p:spPr>
          <a:xfrm>
            <a:off x="6665976" y="1474470"/>
            <a:ext cx="15774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500"/>
              <a:buFont typeface="Arial"/>
              <a:buNone/>
            </a:pPr>
            <a:r>
              <a:rPr b="1" i="0" lang="en" sz="1500" u="none" cap="none" strike="noStrike">
                <a:solidFill>
                  <a:srgbClr val="17212B"/>
                </a:solidFill>
                <a:latin typeface="Arial"/>
                <a:ea typeface="Arial"/>
                <a:cs typeface="Arial"/>
                <a:sym typeface="Arial"/>
              </a:rPr>
              <a:t>What is spaced</a:t>
            </a:r>
            <a:endParaRPr b="0" i="0" sz="15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17212B"/>
              </a:buClr>
              <a:buSzPts val="1500"/>
              <a:buFont typeface="Arial"/>
              <a:buNone/>
            </a:pPr>
            <a:r>
              <a:rPr b="1" i="0" lang="en" sz="1500" u="none" cap="none" strike="noStrike">
                <a:solidFill>
                  <a:srgbClr val="17212B"/>
                </a:solidFill>
                <a:latin typeface="Arial"/>
                <a:ea typeface="Arial"/>
                <a:cs typeface="Arial"/>
                <a:sym typeface="Arial"/>
              </a:rPr>
              <a:t>repetition?</a:t>
            </a:r>
            <a:endParaRPr b="0" i="0" sz="1500" u="none" cap="none" strike="noStrike">
              <a:solidFill>
                <a:schemeClr val="dk1"/>
              </a:solidFill>
              <a:latin typeface="Arial"/>
              <a:ea typeface="Arial"/>
              <a:cs typeface="Arial"/>
              <a:sym typeface="Arial"/>
            </a:endParaRPr>
          </a:p>
        </p:txBody>
      </p:sp>
      <p:cxnSp>
        <p:nvCxnSpPr>
          <p:cNvPr id="24" name="Google Shape;24;p4"/>
          <p:cNvCxnSpPr/>
          <p:nvPr/>
        </p:nvCxnSpPr>
        <p:spPr>
          <a:xfrm>
            <a:off x="6686550" y="2180844"/>
            <a:ext cx="1543200" cy="0"/>
          </a:xfrm>
          <a:prstGeom prst="straightConnector1">
            <a:avLst/>
          </a:prstGeom>
          <a:noFill/>
          <a:ln cap="flat" cmpd="sng" w="12700">
            <a:solidFill>
              <a:srgbClr val="D9E0E6"/>
            </a:solidFill>
            <a:prstDash val="solid"/>
            <a:round/>
            <a:headEnd len="sm" w="sm" type="none"/>
            <a:tailEnd len="sm" w="sm" type="none"/>
          </a:ln>
        </p:spPr>
      </p:cxnSp>
      <p:sp>
        <p:nvSpPr>
          <p:cNvPr id="25" name="Google Shape;25;p4"/>
          <p:cNvSpPr/>
          <p:nvPr/>
        </p:nvSpPr>
        <p:spPr>
          <a:xfrm>
            <a:off x="6665976" y="2386584"/>
            <a:ext cx="15432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1100"/>
              <a:buFont typeface="Arial"/>
              <a:buNone/>
            </a:pPr>
            <a:r>
              <a:rPr b="0" i="0" lang="en" sz="1100" u="none" cap="none" strike="noStrike">
                <a:solidFill>
                  <a:srgbClr val="5F6B76"/>
                </a:solidFill>
                <a:latin typeface="Arial"/>
                <a:ea typeface="Arial"/>
                <a:cs typeface="Arial"/>
                <a:sym typeface="Arial"/>
              </a:rPr>
              <a:t>Review information at</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5F6B76"/>
              </a:buClr>
              <a:buSzPts val="1100"/>
              <a:buFont typeface="Arial"/>
              <a:buNone/>
            </a:pPr>
            <a:r>
              <a:rPr b="0" i="0" lang="en" sz="1100" u="none" cap="none" strike="noStrike">
                <a:solidFill>
                  <a:srgbClr val="5F6B76"/>
                </a:solidFill>
                <a:latin typeface="Arial"/>
                <a:ea typeface="Arial"/>
                <a:cs typeface="Arial"/>
                <a:sym typeface="Arial"/>
              </a:rPr>
              <a:t>increasing intervals based</a:t>
            </a:r>
            <a:endParaRPr b="0" i="0" sz="1100" u="none" cap="none" strike="noStrike">
              <a:solidFill>
                <a:schemeClr val="dk1"/>
              </a:solidFill>
              <a:latin typeface="Arial"/>
              <a:ea typeface="Arial"/>
              <a:cs typeface="Arial"/>
              <a:sym typeface="Arial"/>
            </a:endParaRPr>
          </a:p>
          <a:p>
            <a:pPr indent="0" lvl="0" marL="0" marR="0" rtl="0" algn="l">
              <a:spcBef>
                <a:spcPts val="0"/>
              </a:spcBef>
              <a:spcAft>
                <a:spcPts val="0"/>
              </a:spcAft>
              <a:buClr>
                <a:srgbClr val="5F6B76"/>
              </a:buClr>
              <a:buSzPts val="1100"/>
              <a:buFont typeface="Arial"/>
              <a:buNone/>
            </a:pPr>
            <a:r>
              <a:rPr b="0" i="0" lang="en" sz="1100" u="none" cap="none" strike="noStrike">
                <a:solidFill>
                  <a:srgbClr val="5F6B76"/>
                </a:solidFill>
                <a:latin typeface="Arial"/>
                <a:ea typeface="Arial"/>
                <a:cs typeface="Arial"/>
                <a:sym typeface="Arial"/>
              </a:rPr>
              <a:t>on recall performance.</a:t>
            </a:r>
            <a:endParaRPr b="0" i="0" sz="1100" u="none" cap="none" strike="noStrike">
              <a:solidFill>
                <a:schemeClr val="dk1"/>
              </a:solidFill>
              <a:latin typeface="Arial"/>
              <a:ea typeface="Arial"/>
              <a:cs typeface="Arial"/>
              <a:sym typeface="Arial"/>
            </a:endParaRPr>
          </a:p>
        </p:txBody>
      </p:sp>
      <p:sp>
        <p:nvSpPr>
          <p:cNvPr id="26" name="Google Shape;26;p4"/>
          <p:cNvSpPr txBox="1"/>
          <p:nvPr>
            <p:ph idx="4294967295" type="sldNum"/>
          </p:nvPr>
        </p:nvSpPr>
        <p:spPr>
          <a:xfrm>
            <a:off x="8881110" y="4855464"/>
            <a:ext cx="123300" cy="123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b="0" i="0" lang="en" sz="600" u="none" cap="none" strike="noStrike">
                <a:solidFill>
                  <a:srgbClr val="7A8491"/>
                </a:solidFill>
                <a:latin typeface="Arial"/>
                <a:ea typeface="Arial"/>
                <a:cs typeface="Arial"/>
                <a:sym typeface="Arial"/>
              </a:rPr>
              <a:t>‹#›</a:t>
            </a:fld>
            <a:endParaRPr b="0" i="0" sz="600" u="none" cap="none" strike="noStrike">
              <a:solidFill>
                <a:srgbClr val="7A849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5"/>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rPr b="1" i="0" lang="en" sz="800" u="none" cap="none" strike="noStrike">
                <a:solidFill>
                  <a:srgbClr val="159A9C"/>
                </a:solidFill>
                <a:latin typeface="Arial"/>
                <a:ea typeface="Arial"/>
                <a:cs typeface="Arial"/>
                <a:sym typeface="Arial"/>
              </a:rPr>
              <a:t>ORGANIZATION</a:t>
            </a:r>
            <a:endParaRPr b="0" i="0" sz="800" u="none" cap="none" strike="noStrike">
              <a:solidFill>
                <a:schemeClr val="dk1"/>
              </a:solidFill>
              <a:latin typeface="Arial"/>
              <a:ea typeface="Arial"/>
              <a:cs typeface="Arial"/>
              <a:sym typeface="Arial"/>
            </a:endParaRPr>
          </a:p>
        </p:txBody>
      </p:sp>
      <p:sp>
        <p:nvSpPr>
          <p:cNvPr id="33" name="Google Shape;33;p5"/>
          <p:cNvSpPr/>
          <p:nvPr/>
        </p:nvSpPr>
        <p:spPr>
          <a:xfrm>
            <a:off x="445770" y="493776"/>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rPr b="1" i="0" lang="en" sz="2100" u="none" cap="none" strike="noStrike">
                <a:solidFill>
                  <a:srgbClr val="17212B"/>
                </a:solidFill>
                <a:latin typeface="Arial"/>
                <a:ea typeface="Arial"/>
                <a:cs typeface="Arial"/>
                <a:sym typeface="Arial"/>
              </a:rPr>
              <a:t>Team &amp; Roles</a:t>
            </a:r>
            <a:endParaRPr b="0" i="0" sz="2100" u="none" cap="none" strike="noStrike">
              <a:solidFill>
                <a:schemeClr val="dk1"/>
              </a:solidFill>
              <a:latin typeface="Arial"/>
              <a:ea typeface="Arial"/>
              <a:cs typeface="Arial"/>
              <a:sym typeface="Arial"/>
            </a:endParaRPr>
          </a:p>
        </p:txBody>
      </p:sp>
      <p:grpSp>
        <p:nvGrpSpPr>
          <p:cNvPr id="34" name="Google Shape;34;p5"/>
          <p:cNvGrpSpPr/>
          <p:nvPr/>
        </p:nvGrpSpPr>
        <p:grpSpPr>
          <a:xfrm>
            <a:off x="1845960" y="1491615"/>
            <a:ext cx="5452080" cy="2160186"/>
            <a:chOff x="514350" y="1062990"/>
            <a:chExt cx="5452080" cy="2160186"/>
          </a:xfrm>
        </p:grpSpPr>
        <p:sp>
          <p:nvSpPr>
            <p:cNvPr id="35" name="Google Shape;35;p5"/>
            <p:cNvSpPr/>
            <p:nvPr/>
          </p:nvSpPr>
          <p:spPr>
            <a:xfrm>
              <a:off x="514350" y="1062990"/>
              <a:ext cx="493800" cy="493800"/>
            </a:xfrm>
            <a:prstGeom prst="ellipse">
              <a:avLst/>
            </a:prstGeom>
            <a:solidFill>
              <a:srgbClr val="DDEEE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 name="Google Shape;36;p5"/>
            <p:cNvSpPr/>
            <p:nvPr/>
          </p:nvSpPr>
          <p:spPr>
            <a:xfrm>
              <a:off x="514350" y="1186434"/>
              <a:ext cx="493800" cy="1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9A9C"/>
                </a:buClr>
                <a:buSzPts val="1500"/>
                <a:buFont typeface="Arial"/>
                <a:buNone/>
              </a:pPr>
              <a:r>
                <a:rPr b="1" i="0" lang="en" sz="1500" u="none" cap="none" strike="noStrike">
                  <a:solidFill>
                    <a:srgbClr val="159A9C"/>
                  </a:solidFill>
                  <a:latin typeface="Arial"/>
                  <a:ea typeface="Arial"/>
                  <a:cs typeface="Arial"/>
                  <a:sym typeface="Arial"/>
                </a:rPr>
                <a:t>M</a:t>
              </a:r>
              <a:endParaRPr b="0" i="0" sz="1500" u="none" cap="none" strike="noStrike">
                <a:solidFill>
                  <a:schemeClr val="dk1"/>
                </a:solidFill>
                <a:latin typeface="Arial"/>
                <a:ea typeface="Arial"/>
                <a:cs typeface="Arial"/>
                <a:sym typeface="Arial"/>
              </a:endParaRPr>
            </a:p>
          </p:txBody>
        </p:sp>
        <p:sp>
          <p:nvSpPr>
            <p:cNvPr id="37" name="Google Shape;37;p5"/>
            <p:cNvSpPr/>
            <p:nvPr/>
          </p:nvSpPr>
          <p:spPr>
            <a:xfrm>
              <a:off x="1165860" y="1097280"/>
              <a:ext cx="1851600" cy="20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400"/>
                </a:spcBef>
                <a:spcAft>
                  <a:spcPts val="400"/>
                </a:spcAft>
                <a:buClr>
                  <a:schemeClr val="dk1"/>
                </a:buClr>
                <a:buSzPts val="1100"/>
                <a:buFont typeface="Arial"/>
                <a:buNone/>
              </a:pPr>
              <a:r>
                <a:rPr b="1" lang="en" sz="1300">
                  <a:solidFill>
                    <a:schemeClr val="dk1"/>
                  </a:solidFill>
                </a:rPr>
                <a:t>Miles Cameron</a:t>
              </a:r>
              <a:endParaRPr b="1" sz="1300">
                <a:solidFill>
                  <a:srgbClr val="17212B"/>
                </a:solidFill>
              </a:endParaRPr>
            </a:p>
          </p:txBody>
        </p:sp>
        <p:sp>
          <p:nvSpPr>
            <p:cNvPr id="38" name="Google Shape;38;p5"/>
            <p:cNvSpPr/>
            <p:nvPr/>
          </p:nvSpPr>
          <p:spPr>
            <a:xfrm>
              <a:off x="1165860" y="1351026"/>
              <a:ext cx="1954500" cy="32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rPr b="0" i="0" lang="en" sz="900" u="none" cap="none" strike="noStrike">
                  <a:solidFill>
                    <a:srgbClr val="5F6B76"/>
                  </a:solidFill>
                  <a:latin typeface="Arial"/>
                  <a:ea typeface="Arial"/>
                  <a:cs typeface="Arial"/>
                  <a:sym typeface="Arial"/>
                </a:rPr>
                <a:t>Team Leader, </a:t>
              </a:r>
              <a:r>
                <a:rPr lang="en" sz="900">
                  <a:solidFill>
                    <a:srgbClr val="5F6B76"/>
                  </a:solidFill>
                </a:rPr>
                <a:t>Security</a:t>
              </a:r>
              <a:r>
                <a:rPr b="0" i="0" lang="en" sz="900" u="none" cap="none" strike="noStrike">
                  <a:solidFill>
                    <a:srgbClr val="5F6B76"/>
                  </a:solidFill>
                  <a:latin typeface="Arial"/>
                  <a:ea typeface="Arial"/>
                  <a:cs typeface="Arial"/>
                  <a:sym typeface="Arial"/>
                </a:rPr>
                <a:t> Leader</a:t>
              </a:r>
              <a:endParaRPr b="0" i="0" sz="900" u="none" cap="none" strike="noStrike">
                <a:solidFill>
                  <a:schemeClr val="dk1"/>
                </a:solidFill>
                <a:latin typeface="Arial"/>
                <a:ea typeface="Arial"/>
                <a:cs typeface="Arial"/>
                <a:sym typeface="Arial"/>
              </a:endParaRPr>
            </a:p>
          </p:txBody>
        </p:sp>
        <p:sp>
          <p:nvSpPr>
            <p:cNvPr id="39" name="Google Shape;39;p5"/>
            <p:cNvSpPr/>
            <p:nvPr/>
          </p:nvSpPr>
          <p:spPr>
            <a:xfrm>
              <a:off x="3360420" y="1062990"/>
              <a:ext cx="493800" cy="493800"/>
            </a:xfrm>
            <a:prstGeom prst="ellipse">
              <a:avLst/>
            </a:prstGeom>
            <a:solidFill>
              <a:srgbClr val="E7EBF6"/>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 name="Google Shape;40;p5"/>
            <p:cNvSpPr/>
            <p:nvPr/>
          </p:nvSpPr>
          <p:spPr>
            <a:xfrm>
              <a:off x="3360420" y="1186434"/>
              <a:ext cx="493800" cy="1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9A9C"/>
                </a:buClr>
                <a:buSzPts val="1500"/>
                <a:buFont typeface="Arial"/>
                <a:buNone/>
              </a:pPr>
              <a:r>
                <a:rPr b="1" i="0" lang="en" sz="1500" u="none" cap="none" strike="noStrike">
                  <a:solidFill>
                    <a:srgbClr val="159A9C"/>
                  </a:solidFill>
                  <a:latin typeface="Arial"/>
                  <a:ea typeface="Arial"/>
                  <a:cs typeface="Arial"/>
                  <a:sym typeface="Arial"/>
                </a:rPr>
                <a:t>N</a:t>
              </a:r>
              <a:endParaRPr b="0" i="0" sz="1500" u="none" cap="none" strike="noStrike">
                <a:solidFill>
                  <a:schemeClr val="dk1"/>
                </a:solidFill>
                <a:latin typeface="Arial"/>
                <a:ea typeface="Arial"/>
                <a:cs typeface="Arial"/>
                <a:sym typeface="Arial"/>
              </a:endParaRPr>
            </a:p>
          </p:txBody>
        </p:sp>
        <p:sp>
          <p:nvSpPr>
            <p:cNvPr id="41" name="Google Shape;41;p5"/>
            <p:cNvSpPr/>
            <p:nvPr/>
          </p:nvSpPr>
          <p:spPr>
            <a:xfrm>
              <a:off x="4011930" y="1097280"/>
              <a:ext cx="1851600" cy="20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Nurzat Mukhamedali</a:t>
              </a:r>
              <a:endParaRPr b="1" sz="1300">
                <a:solidFill>
                  <a:schemeClr val="dk1"/>
                </a:solidFill>
              </a:endParaRPr>
            </a:p>
            <a:p>
              <a:pPr indent="0" lvl="0" marL="0" marR="0" rtl="0" algn="l">
                <a:spcBef>
                  <a:spcPts val="400"/>
                </a:spcBef>
                <a:spcAft>
                  <a:spcPts val="0"/>
                </a:spcAft>
                <a:buClr>
                  <a:srgbClr val="17212B"/>
                </a:buClr>
                <a:buSzPts val="1300"/>
                <a:buFont typeface="Arial"/>
                <a:buNone/>
              </a:pPr>
              <a:r>
                <a:t/>
              </a:r>
              <a:endParaRPr b="1" sz="1300">
                <a:solidFill>
                  <a:srgbClr val="17212B"/>
                </a:solidFill>
              </a:endParaRPr>
            </a:p>
          </p:txBody>
        </p:sp>
        <p:sp>
          <p:nvSpPr>
            <p:cNvPr id="42" name="Google Shape;42;p5"/>
            <p:cNvSpPr/>
            <p:nvPr/>
          </p:nvSpPr>
          <p:spPr>
            <a:xfrm>
              <a:off x="4011930" y="1351026"/>
              <a:ext cx="1954500" cy="32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rPr b="0" i="0" lang="en" sz="900" u="none" cap="none" strike="noStrike">
                  <a:solidFill>
                    <a:srgbClr val="5F6B76"/>
                  </a:solidFill>
                  <a:latin typeface="Arial"/>
                  <a:ea typeface="Arial"/>
                  <a:cs typeface="Arial"/>
                  <a:sym typeface="Arial"/>
                </a:rPr>
                <a:t>Requirements Leader</a:t>
              </a:r>
              <a:endParaRPr b="0" i="0" sz="900" u="none" cap="none" strike="noStrike">
                <a:solidFill>
                  <a:schemeClr val="dk1"/>
                </a:solidFill>
                <a:latin typeface="Arial"/>
                <a:ea typeface="Arial"/>
                <a:cs typeface="Arial"/>
                <a:sym typeface="Arial"/>
              </a:endParaRPr>
            </a:p>
          </p:txBody>
        </p:sp>
        <p:sp>
          <p:nvSpPr>
            <p:cNvPr id="43" name="Google Shape;43;p5"/>
            <p:cNvSpPr/>
            <p:nvPr/>
          </p:nvSpPr>
          <p:spPr>
            <a:xfrm>
              <a:off x="514350" y="2606040"/>
              <a:ext cx="493800" cy="493800"/>
            </a:xfrm>
            <a:prstGeom prst="ellipse">
              <a:avLst/>
            </a:prstGeom>
            <a:solidFill>
              <a:srgbClr val="DDEEEF"/>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 name="Google Shape;44;p5"/>
            <p:cNvSpPr/>
            <p:nvPr/>
          </p:nvSpPr>
          <p:spPr>
            <a:xfrm>
              <a:off x="514350" y="2729484"/>
              <a:ext cx="493800" cy="1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9A9C"/>
                </a:buClr>
                <a:buSzPts val="1500"/>
                <a:buFont typeface="Arial"/>
                <a:buNone/>
              </a:pPr>
              <a:r>
                <a:rPr b="1" lang="en" sz="1500">
                  <a:solidFill>
                    <a:srgbClr val="159A9C"/>
                  </a:solidFill>
                </a:rPr>
                <a:t>O</a:t>
              </a:r>
              <a:endParaRPr b="0" i="0" sz="1500" u="none" cap="none" strike="noStrike">
                <a:solidFill>
                  <a:schemeClr val="dk1"/>
                </a:solidFill>
                <a:latin typeface="Arial"/>
                <a:ea typeface="Arial"/>
                <a:cs typeface="Arial"/>
                <a:sym typeface="Arial"/>
              </a:endParaRPr>
            </a:p>
          </p:txBody>
        </p:sp>
        <p:sp>
          <p:nvSpPr>
            <p:cNvPr id="45" name="Google Shape;45;p5"/>
            <p:cNvSpPr/>
            <p:nvPr/>
          </p:nvSpPr>
          <p:spPr>
            <a:xfrm>
              <a:off x="1165860" y="2640330"/>
              <a:ext cx="1851600" cy="20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17212B"/>
                </a:buClr>
                <a:buSzPts val="1300"/>
                <a:buFont typeface="Arial"/>
                <a:buNone/>
              </a:pPr>
              <a:r>
                <a:rPr b="1" lang="en" sz="1100">
                  <a:solidFill>
                    <a:schemeClr val="dk1"/>
                  </a:solidFill>
                </a:rPr>
                <a:t>Osasenaga Von Okunbor</a:t>
              </a:r>
              <a:endParaRPr sz="1300">
                <a:solidFill>
                  <a:schemeClr val="dk1"/>
                </a:solidFill>
              </a:endParaRPr>
            </a:p>
            <a:p>
              <a:pPr indent="0" lvl="0" marL="0" rtl="0" algn="l">
                <a:lnSpc>
                  <a:spcPct val="115000"/>
                </a:lnSpc>
                <a:spcBef>
                  <a:spcPts val="1400"/>
                </a:spcBef>
                <a:spcAft>
                  <a:spcPts val="400"/>
                </a:spcAft>
                <a:buClr>
                  <a:schemeClr val="dk1"/>
                </a:buClr>
                <a:buSzPts val="1100"/>
                <a:buFont typeface="Arial"/>
                <a:buNone/>
              </a:pPr>
              <a:r>
                <a:t/>
              </a:r>
              <a:endParaRPr b="1" sz="1300">
                <a:solidFill>
                  <a:schemeClr val="dk1"/>
                </a:solidFill>
              </a:endParaRPr>
            </a:p>
          </p:txBody>
        </p:sp>
        <p:sp>
          <p:nvSpPr>
            <p:cNvPr id="46" name="Google Shape;46;p5"/>
            <p:cNvSpPr/>
            <p:nvPr/>
          </p:nvSpPr>
          <p:spPr>
            <a:xfrm>
              <a:off x="1165860" y="2894076"/>
              <a:ext cx="1954500" cy="32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rPr lang="en" sz="900">
                  <a:solidFill>
                    <a:srgbClr val="5F6B76"/>
                  </a:solidFill>
                </a:rPr>
                <a:t>QA Leader</a:t>
              </a:r>
              <a:endParaRPr b="0" i="0" sz="900" u="none" cap="none" strike="noStrike">
                <a:solidFill>
                  <a:schemeClr val="dk1"/>
                </a:solidFill>
                <a:latin typeface="Arial"/>
                <a:ea typeface="Arial"/>
                <a:cs typeface="Arial"/>
                <a:sym typeface="Arial"/>
              </a:endParaRPr>
            </a:p>
          </p:txBody>
        </p:sp>
        <p:sp>
          <p:nvSpPr>
            <p:cNvPr id="47" name="Google Shape;47;p5"/>
            <p:cNvSpPr/>
            <p:nvPr/>
          </p:nvSpPr>
          <p:spPr>
            <a:xfrm>
              <a:off x="3360420" y="2606040"/>
              <a:ext cx="493800" cy="493800"/>
            </a:xfrm>
            <a:prstGeom prst="ellipse">
              <a:avLst/>
            </a:prstGeom>
            <a:solidFill>
              <a:srgbClr val="E7EBF6"/>
            </a:solidFill>
            <a:ln cap="flat" cmpd="sng" w="12700">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8" name="Google Shape;48;p5"/>
            <p:cNvSpPr/>
            <p:nvPr/>
          </p:nvSpPr>
          <p:spPr>
            <a:xfrm>
              <a:off x="3360420" y="2729484"/>
              <a:ext cx="493800" cy="171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59A9C"/>
                </a:buClr>
                <a:buSzPts val="1500"/>
                <a:buFont typeface="Arial"/>
                <a:buNone/>
              </a:pPr>
              <a:r>
                <a:rPr b="1" i="0" lang="en" sz="1500" u="none" cap="none" strike="noStrike">
                  <a:solidFill>
                    <a:srgbClr val="159A9C"/>
                  </a:solidFill>
                  <a:latin typeface="Arial"/>
                  <a:ea typeface="Arial"/>
                  <a:cs typeface="Arial"/>
                  <a:sym typeface="Arial"/>
                </a:rPr>
                <a:t>D</a:t>
              </a:r>
              <a:endParaRPr b="0" i="0" sz="1500" u="none" cap="none" strike="noStrike">
                <a:solidFill>
                  <a:schemeClr val="dk1"/>
                </a:solidFill>
                <a:latin typeface="Arial"/>
                <a:ea typeface="Arial"/>
                <a:cs typeface="Arial"/>
                <a:sym typeface="Arial"/>
              </a:endParaRPr>
            </a:p>
          </p:txBody>
        </p:sp>
        <p:sp>
          <p:nvSpPr>
            <p:cNvPr id="49" name="Google Shape;49;p5"/>
            <p:cNvSpPr/>
            <p:nvPr/>
          </p:nvSpPr>
          <p:spPr>
            <a:xfrm>
              <a:off x="4011930" y="2640330"/>
              <a:ext cx="1851600" cy="20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400"/>
                </a:spcBef>
                <a:spcAft>
                  <a:spcPts val="400"/>
                </a:spcAft>
                <a:buClr>
                  <a:schemeClr val="dk1"/>
                </a:buClr>
                <a:buSzPts val="1100"/>
                <a:buFont typeface="Arial"/>
                <a:buNone/>
              </a:pPr>
              <a:r>
                <a:rPr b="1" lang="en" sz="1300">
                  <a:solidFill>
                    <a:schemeClr val="dk1"/>
                  </a:solidFill>
                </a:rPr>
                <a:t>Duc Anh Nguyen</a:t>
              </a:r>
              <a:endParaRPr b="1" sz="1300">
                <a:solidFill>
                  <a:srgbClr val="17212B"/>
                </a:solidFill>
              </a:endParaRPr>
            </a:p>
          </p:txBody>
        </p:sp>
        <p:sp>
          <p:nvSpPr>
            <p:cNvPr id="50" name="Google Shape;50;p5"/>
            <p:cNvSpPr/>
            <p:nvPr/>
          </p:nvSpPr>
          <p:spPr>
            <a:xfrm>
              <a:off x="4011930" y="2894076"/>
              <a:ext cx="1954500" cy="32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rPr b="0" i="0" lang="en" sz="900" u="none" cap="none" strike="noStrike">
                  <a:solidFill>
                    <a:srgbClr val="5F6B76"/>
                  </a:solidFill>
                  <a:latin typeface="Arial"/>
                  <a:ea typeface="Arial"/>
                  <a:cs typeface="Arial"/>
                  <a:sym typeface="Arial"/>
                </a:rPr>
                <a:t>Config / DevOps Leader, Design </a:t>
              </a:r>
              <a:r>
                <a:rPr lang="en" sz="900">
                  <a:solidFill>
                    <a:srgbClr val="5F6B76"/>
                  </a:solidFill>
                </a:rPr>
                <a:t>&amp; Implementation Leader</a:t>
              </a:r>
              <a:endParaRPr b="0" i="0" sz="900" u="none" cap="none" strike="noStrike">
                <a:solidFill>
                  <a:schemeClr val="dk1"/>
                </a:solidFill>
                <a:latin typeface="Arial"/>
                <a:ea typeface="Arial"/>
                <a:cs typeface="Arial"/>
                <a:sym typeface="Arial"/>
              </a:endParaRPr>
            </a:p>
          </p:txBody>
        </p:sp>
      </p:grpSp>
      <p:sp>
        <p:nvSpPr>
          <p:cNvPr id="51" name="Google Shape;51;p5"/>
          <p:cNvSpPr txBox="1"/>
          <p:nvPr>
            <p:ph idx="4294967295" type="sldNum"/>
          </p:nvPr>
        </p:nvSpPr>
        <p:spPr>
          <a:xfrm>
            <a:off x="8881110" y="4855464"/>
            <a:ext cx="123300" cy="1233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None/>
            </a:pPr>
            <a:fld id="{00000000-1234-1234-1234-123412341234}" type="slidenum">
              <a:rPr b="0" i="0" lang="en" sz="600" u="none" cap="none" strike="noStrike">
                <a:solidFill>
                  <a:srgbClr val="7A8491"/>
                </a:solidFill>
                <a:latin typeface="Arial"/>
                <a:ea typeface="Arial"/>
                <a:cs typeface="Arial"/>
                <a:sym typeface="Arial"/>
              </a:rPr>
              <a:t>‹#›</a:t>
            </a:fld>
            <a:endParaRPr b="0" i="0" sz="600" u="none" cap="none" strike="noStrike">
              <a:solidFill>
                <a:srgbClr val="7A849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6"/>
          <p:cNvSpPr/>
          <p:nvPr/>
        </p:nvSpPr>
        <p:spPr>
          <a:xfrm>
            <a:off x="445770" y="260604"/>
            <a:ext cx="3429000" cy="17145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Font typeface="Arial"/>
              <a:buNone/>
            </a:pPr>
            <a:r>
              <a:rPr b="1" lang="en" sz="800">
                <a:solidFill>
                  <a:srgbClr val="159A9C"/>
                </a:solidFill>
              </a:rPr>
              <a:t>PROJECT RECAP</a:t>
            </a:r>
            <a:endParaRPr b="1" sz="800">
              <a:solidFill>
                <a:srgbClr val="159A9C"/>
              </a:solidFill>
            </a:endParaRPr>
          </a:p>
        </p:txBody>
      </p:sp>
      <p:sp>
        <p:nvSpPr>
          <p:cNvPr id="58" name="Google Shape;58;p6"/>
          <p:cNvSpPr/>
          <p:nvPr/>
        </p:nvSpPr>
        <p:spPr>
          <a:xfrm>
            <a:off x="445770" y="493776"/>
            <a:ext cx="8229600" cy="37719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Font typeface="Arial"/>
              <a:buNone/>
            </a:pPr>
            <a:r>
              <a:rPr b="1" lang="en" sz="2100">
                <a:solidFill>
                  <a:srgbClr val="17212B"/>
                </a:solidFill>
              </a:rPr>
              <a:t>What Cadence is for</a:t>
            </a:r>
            <a:endParaRPr b="1" sz="2100">
              <a:solidFill>
                <a:srgbClr val="17212B"/>
              </a:solidFill>
            </a:endParaRPr>
          </a:p>
        </p:txBody>
      </p:sp>
      <p:sp>
        <p:nvSpPr>
          <p:cNvPr id="59" name="Google Shape;59;p6"/>
          <p:cNvSpPr/>
          <p:nvPr/>
        </p:nvSpPr>
        <p:spPr>
          <a:xfrm>
            <a:off x="514350" y="1062990"/>
            <a:ext cx="2537460" cy="1405890"/>
          </a:xfrm>
          <a:prstGeom prst="roundRect">
            <a:avLst>
              <a:gd fmla="val 3902"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6"/>
          <p:cNvSpPr/>
          <p:nvPr/>
        </p:nvSpPr>
        <p:spPr>
          <a:xfrm>
            <a:off x="514350" y="1062990"/>
            <a:ext cx="48006" cy="140589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6"/>
          <p:cNvSpPr/>
          <p:nvPr/>
        </p:nvSpPr>
        <p:spPr>
          <a:xfrm>
            <a:off x="685800" y="1200150"/>
            <a:ext cx="222885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7212B"/>
              </a:buClr>
              <a:buSzPts val="1200"/>
              <a:buFont typeface="Arial"/>
              <a:buNone/>
            </a:pPr>
            <a:r>
              <a:rPr b="1" i="0" lang="en" sz="1200" u="none" cap="none" strike="noStrike">
                <a:solidFill>
                  <a:srgbClr val="17212B"/>
                </a:solidFill>
                <a:latin typeface="Arial"/>
                <a:ea typeface="Arial"/>
                <a:cs typeface="Arial"/>
                <a:sym typeface="Arial"/>
              </a:rPr>
              <a:t>Problem</a:t>
            </a:r>
            <a:endParaRPr b="0" i="0" sz="1200" u="none" cap="none" strike="noStrike">
              <a:solidFill>
                <a:schemeClr val="dk1"/>
              </a:solidFill>
              <a:latin typeface="Arial"/>
              <a:ea typeface="Arial"/>
              <a:cs typeface="Arial"/>
              <a:sym typeface="Arial"/>
            </a:endParaRPr>
          </a:p>
        </p:txBody>
      </p:sp>
      <p:sp>
        <p:nvSpPr>
          <p:cNvPr id="62" name="Google Shape;62;p6"/>
          <p:cNvSpPr/>
          <p:nvPr/>
        </p:nvSpPr>
        <p:spPr>
          <a:xfrm>
            <a:off x="685800" y="1488186"/>
            <a:ext cx="2228850" cy="87096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050">
                <a:solidFill>
                  <a:srgbClr val="5F6B76"/>
                </a:solidFill>
              </a:rPr>
              <a:t>Creating useful study material takes time. Learners also need a way to decide what to review next.</a:t>
            </a:r>
            <a:endParaRPr>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t/>
            </a:r>
            <a:endParaRPr sz="900">
              <a:solidFill>
                <a:srgbClr val="5F6B76"/>
              </a:solidFill>
            </a:endParaRPr>
          </a:p>
          <a:p>
            <a:pPr indent="0" lvl="0" marL="0" marR="0" rtl="0" algn="l">
              <a:lnSpc>
                <a:spcPct val="115000"/>
              </a:lnSpc>
              <a:spcBef>
                <a:spcPts val="1200"/>
              </a:spcBef>
              <a:spcAft>
                <a:spcPts val="0"/>
              </a:spcAft>
              <a:buClr>
                <a:schemeClr val="dk1"/>
              </a:buClr>
              <a:buSzPts val="1100"/>
              <a:buFont typeface="Arial"/>
              <a:buNone/>
            </a:pPr>
            <a:r>
              <a:t/>
            </a:r>
            <a:endParaRPr b="0" i="0" sz="900" u="none" cap="none" strike="noStrike">
              <a:solidFill>
                <a:srgbClr val="5F6B76"/>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t/>
            </a:r>
            <a:endParaRPr b="0" i="0" sz="900" u="none" cap="none" strike="noStrike">
              <a:solidFill>
                <a:srgbClr val="5F6B76"/>
              </a:solidFill>
              <a:latin typeface="Arial"/>
              <a:ea typeface="Arial"/>
              <a:cs typeface="Arial"/>
              <a:sym typeface="Arial"/>
            </a:endParaRPr>
          </a:p>
          <a:p>
            <a:pPr indent="0" lvl="0" marL="0" marR="0" rtl="0" algn="l">
              <a:lnSpc>
                <a:spcPct val="100000"/>
              </a:lnSpc>
              <a:spcBef>
                <a:spcPts val="1200"/>
              </a:spcBef>
              <a:spcAft>
                <a:spcPts val="0"/>
              </a:spcAft>
              <a:buClr>
                <a:srgbClr val="5F6B76"/>
              </a:buClr>
              <a:buSzPts val="900"/>
              <a:buFont typeface="Arial"/>
              <a:buNone/>
            </a:pPr>
            <a:r>
              <a:t/>
            </a:r>
            <a:endParaRPr b="0" i="0" sz="900" u="none" cap="none" strike="noStrike">
              <a:solidFill>
                <a:srgbClr val="5F6B76"/>
              </a:solidFill>
              <a:latin typeface="Arial"/>
              <a:ea typeface="Arial"/>
              <a:cs typeface="Arial"/>
              <a:sym typeface="Arial"/>
            </a:endParaRPr>
          </a:p>
        </p:txBody>
      </p:sp>
      <p:sp>
        <p:nvSpPr>
          <p:cNvPr id="63" name="Google Shape;63;p6"/>
          <p:cNvSpPr/>
          <p:nvPr/>
        </p:nvSpPr>
        <p:spPr>
          <a:xfrm>
            <a:off x="3305556" y="1062990"/>
            <a:ext cx="48006" cy="140589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6"/>
          <p:cNvSpPr/>
          <p:nvPr/>
        </p:nvSpPr>
        <p:spPr>
          <a:xfrm>
            <a:off x="6096762" y="1062990"/>
            <a:ext cx="2537460" cy="1405890"/>
          </a:xfrm>
          <a:prstGeom prst="roundRect">
            <a:avLst>
              <a:gd fmla="val 3902"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6"/>
          <p:cNvSpPr/>
          <p:nvPr/>
        </p:nvSpPr>
        <p:spPr>
          <a:xfrm>
            <a:off x="6096762" y="1062990"/>
            <a:ext cx="48006" cy="1405890"/>
          </a:xfrm>
          <a:prstGeom prst="rect">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6"/>
          <p:cNvSpPr/>
          <p:nvPr/>
        </p:nvSpPr>
        <p:spPr>
          <a:xfrm>
            <a:off x="6268212" y="1200150"/>
            <a:ext cx="2228850" cy="2057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7212B"/>
              </a:buClr>
              <a:buSzPts val="1200"/>
              <a:buFont typeface="Arial"/>
              <a:buNone/>
            </a:pPr>
            <a:r>
              <a:rPr b="1" i="0" lang="en" sz="1200" u="none" cap="none" strike="noStrike">
                <a:solidFill>
                  <a:srgbClr val="17212B"/>
                </a:solidFill>
                <a:latin typeface="Arial"/>
                <a:ea typeface="Arial"/>
                <a:cs typeface="Arial"/>
                <a:sym typeface="Arial"/>
              </a:rPr>
              <a:t>Target users</a:t>
            </a:r>
            <a:endParaRPr b="0" i="0" sz="1200" u="none" cap="none" strike="noStrike">
              <a:solidFill>
                <a:schemeClr val="dk1"/>
              </a:solidFill>
              <a:latin typeface="Arial"/>
              <a:ea typeface="Arial"/>
              <a:cs typeface="Arial"/>
              <a:sym typeface="Arial"/>
            </a:endParaRPr>
          </a:p>
        </p:txBody>
      </p:sp>
      <p:sp>
        <p:nvSpPr>
          <p:cNvPr id="67" name="Google Shape;67;p6"/>
          <p:cNvSpPr/>
          <p:nvPr/>
        </p:nvSpPr>
        <p:spPr>
          <a:xfrm>
            <a:off x="6268212" y="1488186"/>
            <a:ext cx="2228850" cy="870966"/>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lang="en" sz="1050">
                <a:solidFill>
                  <a:srgbClr val="5F6B76"/>
                </a:solidFill>
              </a:rPr>
              <a:t>Students, language learners and people preparing for professional exams.</a:t>
            </a:r>
            <a:endParaRPr>
              <a:solidFill>
                <a:schemeClr val="dk1"/>
              </a:solidFill>
            </a:endParaRPr>
          </a:p>
          <a:p>
            <a:pPr indent="0" lvl="0" marL="0" marR="0" rtl="0" algn="l">
              <a:lnSpc>
                <a:spcPct val="115000"/>
              </a:lnSpc>
              <a:spcBef>
                <a:spcPts val="1200"/>
              </a:spcBef>
              <a:spcAft>
                <a:spcPts val="0"/>
              </a:spcAft>
              <a:buClr>
                <a:schemeClr val="dk1"/>
              </a:buClr>
              <a:buSzPts val="1100"/>
              <a:buFont typeface="Arial"/>
              <a:buNone/>
            </a:pPr>
            <a:r>
              <a:t/>
            </a:r>
            <a:endParaRPr sz="900">
              <a:solidFill>
                <a:srgbClr val="5F6B76"/>
              </a:solidFill>
            </a:endParaRPr>
          </a:p>
          <a:p>
            <a:pPr indent="0" lvl="0" marL="0" marR="0" rtl="0" algn="l">
              <a:lnSpc>
                <a:spcPct val="100000"/>
              </a:lnSpc>
              <a:spcBef>
                <a:spcPts val="1200"/>
              </a:spcBef>
              <a:spcAft>
                <a:spcPts val="0"/>
              </a:spcAft>
              <a:buClr>
                <a:srgbClr val="5F6B76"/>
              </a:buClr>
              <a:buSzPts val="900"/>
              <a:buFont typeface="Arial"/>
              <a:buNone/>
            </a:pPr>
            <a:r>
              <a:t/>
            </a:r>
            <a:endParaRPr b="0" i="0" sz="900" u="none" cap="none" strike="noStrike">
              <a:solidFill>
                <a:srgbClr val="5F6B76"/>
              </a:solidFill>
              <a:latin typeface="Arial"/>
              <a:ea typeface="Arial"/>
              <a:cs typeface="Arial"/>
              <a:sym typeface="Arial"/>
            </a:endParaRPr>
          </a:p>
        </p:txBody>
      </p:sp>
      <p:sp>
        <p:nvSpPr>
          <p:cNvPr id="68" name="Google Shape;68;p6"/>
          <p:cNvSpPr/>
          <p:nvPr/>
        </p:nvSpPr>
        <p:spPr>
          <a:xfrm>
            <a:off x="514350" y="2914650"/>
            <a:ext cx="2057400" cy="20574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b="1" lang="en" sz="1300">
                <a:solidFill>
                  <a:srgbClr val="17212B"/>
                </a:solidFill>
              </a:rPr>
              <a:t>Iteration 1 contribution</a:t>
            </a:r>
            <a:endParaRPr>
              <a:solidFill>
                <a:schemeClr val="dk1"/>
              </a:solidFill>
            </a:endParaRPr>
          </a:p>
          <a:p>
            <a:pPr indent="0" lvl="0" marL="0" marR="0" rtl="0" algn="l">
              <a:lnSpc>
                <a:spcPct val="100000"/>
              </a:lnSpc>
              <a:spcBef>
                <a:spcPts val="0"/>
              </a:spcBef>
              <a:spcAft>
                <a:spcPts val="0"/>
              </a:spcAft>
              <a:buClr>
                <a:srgbClr val="17212B"/>
              </a:buClr>
              <a:buSzPts val="1300"/>
              <a:buFont typeface="Arial"/>
              <a:buNone/>
            </a:pPr>
            <a:r>
              <a:t/>
            </a:r>
            <a:endParaRPr b="1" sz="1300">
              <a:solidFill>
                <a:srgbClr val="17212B"/>
              </a:solidFill>
            </a:endParaRPr>
          </a:p>
        </p:txBody>
      </p:sp>
      <p:sp>
        <p:nvSpPr>
          <p:cNvPr id="69" name="Google Shape;69;p6"/>
          <p:cNvSpPr/>
          <p:nvPr/>
        </p:nvSpPr>
        <p:spPr>
          <a:xfrm>
            <a:off x="514350" y="3257550"/>
            <a:ext cx="7818120" cy="48006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Font typeface="Arial"/>
              <a:buNone/>
            </a:pPr>
            <a:r>
              <a:rPr b="1" lang="en" sz="1800">
                <a:solidFill>
                  <a:srgbClr val="17212B"/>
                </a:solidFill>
              </a:rPr>
              <a:t>Iteration 1 establishes personal accounts and saved flashcard collections. Users can sign in, create decks, and add, edit, or delete cards. These features provide the foundation for future study sessions, spaced repetition, and AI-assisted card generation. </a:t>
            </a:r>
            <a:endParaRPr>
              <a:solidFill>
                <a:schemeClr val="dk1"/>
              </a:solidFill>
            </a:endParaRPr>
          </a:p>
          <a:p>
            <a:pPr indent="0" lvl="0" marL="0" marR="0" rtl="0" algn="l">
              <a:lnSpc>
                <a:spcPct val="100000"/>
              </a:lnSpc>
              <a:spcBef>
                <a:spcPts val="0"/>
              </a:spcBef>
              <a:spcAft>
                <a:spcPts val="0"/>
              </a:spcAft>
              <a:buClr>
                <a:srgbClr val="17212B"/>
              </a:buClr>
              <a:buSzPts val="1800"/>
              <a:buFont typeface="Arial"/>
              <a:buNone/>
            </a:pPr>
            <a:r>
              <a:t/>
            </a:r>
            <a:endParaRPr b="1" sz="1800">
              <a:solidFill>
                <a:srgbClr val="17212B"/>
              </a:solidFill>
            </a:endParaRPr>
          </a:p>
        </p:txBody>
      </p:sp>
      <p:sp>
        <p:nvSpPr>
          <p:cNvPr id="70" name="Google Shape;70;p6"/>
          <p:cNvSpPr txBox="1"/>
          <p:nvPr>
            <p:ph idx="4294967295" type="sldNum"/>
          </p:nvPr>
        </p:nvSpPr>
        <p:spPr>
          <a:xfrm>
            <a:off x="8881110" y="4855464"/>
            <a:ext cx="123444" cy="123444"/>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SzPts val="600"/>
              <a:buNone/>
            </a:pPr>
            <a:fld id="{00000000-1234-1234-1234-123412341234}" type="slidenum">
              <a:rPr b="0" i="0" lang="en" sz="600" u="none" cap="none" strike="noStrike">
                <a:solidFill>
                  <a:srgbClr val="7A8491"/>
                </a:solidFill>
                <a:latin typeface="Arial"/>
                <a:ea typeface="Arial"/>
                <a:cs typeface="Arial"/>
                <a:sym typeface="Arial"/>
              </a:rPr>
              <a:t>‹#›</a:t>
            </a:fld>
            <a:endParaRPr b="0" i="0" sz="600" u="none" cap="none" strike="noStrike">
              <a:solidFill>
                <a:srgbClr val="7A8491"/>
              </a:solidFill>
              <a:latin typeface="Arial"/>
              <a:ea typeface="Arial"/>
              <a:cs typeface="Arial"/>
              <a:sym typeface="Arial"/>
            </a:endParaRPr>
          </a:p>
        </p:txBody>
      </p:sp>
      <p:sp>
        <p:nvSpPr>
          <p:cNvPr id="71" name="Google Shape;71;p6"/>
          <p:cNvSpPr/>
          <p:nvPr/>
        </p:nvSpPr>
        <p:spPr>
          <a:xfrm>
            <a:off x="3305556" y="1062990"/>
            <a:ext cx="2537400" cy="1405800"/>
          </a:xfrm>
          <a:prstGeom prst="roundRect">
            <a:avLst>
              <a:gd fmla="val 3902"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72" name="Google Shape;72;p6"/>
          <p:cNvSpPr/>
          <p:nvPr/>
        </p:nvSpPr>
        <p:spPr>
          <a:xfrm>
            <a:off x="3477006" y="1200150"/>
            <a:ext cx="22290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rgbClr val="000000"/>
              </a:solidFill>
              <a:latin typeface="Arial"/>
              <a:ea typeface="Arial"/>
              <a:cs typeface="Arial"/>
              <a:sym typeface="Arial"/>
            </a:endParaRPr>
          </a:p>
        </p:txBody>
      </p:sp>
      <p:sp>
        <p:nvSpPr>
          <p:cNvPr id="73" name="Google Shape;73;p6"/>
          <p:cNvSpPr/>
          <p:nvPr/>
        </p:nvSpPr>
        <p:spPr>
          <a:xfrm>
            <a:off x="3477006" y="1488186"/>
            <a:ext cx="2229000" cy="8709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200"/>
              </a:spcBef>
              <a:spcAft>
                <a:spcPts val="0"/>
              </a:spcAft>
              <a:buClr>
                <a:srgbClr val="000000"/>
              </a:buClr>
              <a:buSzPts val="1100"/>
              <a:buFont typeface="Arial"/>
              <a:buNone/>
            </a:pPr>
            <a:r>
              <a:t/>
            </a:r>
            <a:endParaRPr sz="900">
              <a:solidFill>
                <a:srgbClr val="5F6B76"/>
              </a:solidFill>
            </a:endParaRPr>
          </a:p>
        </p:txBody>
      </p:sp>
      <p:sp>
        <p:nvSpPr>
          <p:cNvPr id="74" name="Google Shape;74;p6"/>
          <p:cNvSpPr/>
          <p:nvPr/>
        </p:nvSpPr>
        <p:spPr>
          <a:xfrm>
            <a:off x="3476625" y="1200150"/>
            <a:ext cx="22290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Product vision</a:t>
            </a:r>
            <a:endParaRPr/>
          </a:p>
        </p:txBody>
      </p:sp>
      <p:sp>
        <p:nvSpPr>
          <p:cNvPr id="75" name="Google Shape;75;p6"/>
          <p:cNvSpPr/>
          <p:nvPr/>
        </p:nvSpPr>
        <p:spPr>
          <a:xfrm>
            <a:off x="3476625" y="1524000"/>
            <a:ext cx="22290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AI-assisted card creation, learner review and spaced repetition in one workflow.</a:t>
            </a:r>
            <a:endParaRPr/>
          </a:p>
        </p:txBody>
      </p:sp>
      <p:sp>
        <p:nvSpPr>
          <p:cNvPr id="76" name="Google Shape;76;p6"/>
          <p:cNvSpPr/>
          <p:nvPr/>
        </p:nvSpPr>
        <p:spPr>
          <a:xfrm>
            <a:off x="3305556" y="1062990"/>
            <a:ext cx="48000" cy="14058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7"/>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83" name="Google Shape;83;p7"/>
          <p:cNvSpPr/>
          <p:nvPr/>
        </p:nvSpPr>
        <p:spPr>
          <a:xfrm>
            <a:off x="445770" y="493776"/>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t/>
            </a:r>
            <a:endParaRPr b="0" i="0" sz="2100" u="none" cap="none">
              <a:solidFill>
                <a:schemeClr val="dk1"/>
              </a:solidFill>
              <a:latin typeface="Arial"/>
              <a:ea typeface="Arial"/>
              <a:cs typeface="Arial"/>
              <a:sym typeface="Arial"/>
            </a:endParaRPr>
          </a:p>
        </p:txBody>
      </p:sp>
      <p:sp>
        <p:nvSpPr>
          <p:cNvPr id="84" name="Google Shape;84;p7"/>
          <p:cNvSpPr/>
          <p:nvPr/>
        </p:nvSpPr>
        <p:spPr>
          <a:xfrm>
            <a:off x="514350" y="1062990"/>
            <a:ext cx="2503200" cy="3154800"/>
          </a:xfrm>
          <a:prstGeom prst="roundRect">
            <a:avLst>
              <a:gd fmla="val 2192"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85" name="Google Shape;85;p7"/>
          <p:cNvSpPr/>
          <p:nvPr/>
        </p:nvSpPr>
        <p:spPr>
          <a:xfrm>
            <a:off x="514350" y="1062990"/>
            <a:ext cx="48000" cy="31548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86" name="Google Shape;86;p7"/>
          <p:cNvSpPr/>
          <p:nvPr/>
        </p:nvSpPr>
        <p:spPr>
          <a:xfrm>
            <a:off x="685800" y="1200150"/>
            <a:ext cx="21945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87" name="Google Shape;87;p7"/>
          <p:cNvSpPr/>
          <p:nvPr/>
        </p:nvSpPr>
        <p:spPr>
          <a:xfrm>
            <a:off x="685800" y="1488186"/>
            <a:ext cx="2194500" cy="261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sz="900">
              <a:solidFill>
                <a:srgbClr val="5F6B76"/>
              </a:solidFill>
            </a:endParaRPr>
          </a:p>
        </p:txBody>
      </p:sp>
      <p:sp>
        <p:nvSpPr>
          <p:cNvPr id="88" name="Google Shape;88;p7"/>
          <p:cNvSpPr/>
          <p:nvPr/>
        </p:nvSpPr>
        <p:spPr>
          <a:xfrm>
            <a:off x="685800" y="3806190"/>
            <a:ext cx="994500" cy="240000"/>
          </a:xfrm>
          <a:prstGeom prst="roundRect">
            <a:avLst>
              <a:gd fmla="val 16667" name="adj"/>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89" name="Google Shape;89;p7"/>
          <p:cNvSpPr/>
          <p:nvPr/>
        </p:nvSpPr>
        <p:spPr>
          <a:xfrm>
            <a:off x="685800" y="3854196"/>
            <a:ext cx="994500" cy="123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800"/>
              <a:buFont typeface="Arial"/>
              <a:buNone/>
            </a:pPr>
            <a:r>
              <a:t/>
            </a:r>
            <a:endParaRPr b="0" i="0" sz="800" u="none" cap="none">
              <a:solidFill>
                <a:schemeClr val="dk1"/>
              </a:solidFill>
              <a:latin typeface="Arial"/>
              <a:ea typeface="Arial"/>
              <a:cs typeface="Arial"/>
              <a:sym typeface="Arial"/>
            </a:endParaRPr>
          </a:p>
        </p:txBody>
      </p:sp>
      <p:sp>
        <p:nvSpPr>
          <p:cNvPr id="90" name="Google Shape;90;p7"/>
          <p:cNvSpPr/>
          <p:nvPr/>
        </p:nvSpPr>
        <p:spPr>
          <a:xfrm>
            <a:off x="3291840" y="1062990"/>
            <a:ext cx="2503200" cy="3154800"/>
          </a:xfrm>
          <a:prstGeom prst="roundRect">
            <a:avLst>
              <a:gd fmla="val 2192"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91" name="Google Shape;91;p7"/>
          <p:cNvSpPr/>
          <p:nvPr/>
        </p:nvSpPr>
        <p:spPr>
          <a:xfrm>
            <a:off x="3291840" y="1062990"/>
            <a:ext cx="48000" cy="3154800"/>
          </a:xfrm>
          <a:prstGeom prst="rect">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92" name="Google Shape;92;p7"/>
          <p:cNvSpPr/>
          <p:nvPr/>
        </p:nvSpPr>
        <p:spPr>
          <a:xfrm>
            <a:off x="3463290" y="1200150"/>
            <a:ext cx="21945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93" name="Google Shape;93;p7"/>
          <p:cNvSpPr/>
          <p:nvPr/>
        </p:nvSpPr>
        <p:spPr>
          <a:xfrm>
            <a:off x="3463290" y="1488186"/>
            <a:ext cx="2194500" cy="261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sz="900">
              <a:solidFill>
                <a:srgbClr val="5F6B76"/>
              </a:solidFill>
            </a:endParaRPr>
          </a:p>
        </p:txBody>
      </p:sp>
      <p:sp>
        <p:nvSpPr>
          <p:cNvPr id="94" name="Google Shape;94;p7"/>
          <p:cNvSpPr/>
          <p:nvPr/>
        </p:nvSpPr>
        <p:spPr>
          <a:xfrm>
            <a:off x="3463290" y="3806190"/>
            <a:ext cx="994500" cy="240000"/>
          </a:xfrm>
          <a:prstGeom prst="roundRect">
            <a:avLst>
              <a:gd fmla="val 16667" name="adj"/>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95" name="Google Shape;95;p7"/>
          <p:cNvSpPr/>
          <p:nvPr/>
        </p:nvSpPr>
        <p:spPr>
          <a:xfrm>
            <a:off x="3463290" y="3854196"/>
            <a:ext cx="994500" cy="123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800"/>
              <a:buFont typeface="Arial"/>
              <a:buNone/>
            </a:pPr>
            <a:r>
              <a:t/>
            </a:r>
            <a:endParaRPr b="0" i="0" sz="800" u="none" cap="none">
              <a:solidFill>
                <a:schemeClr val="dk1"/>
              </a:solidFill>
              <a:latin typeface="Arial"/>
              <a:ea typeface="Arial"/>
              <a:cs typeface="Arial"/>
              <a:sym typeface="Arial"/>
            </a:endParaRPr>
          </a:p>
        </p:txBody>
      </p:sp>
      <p:sp>
        <p:nvSpPr>
          <p:cNvPr id="96" name="Google Shape;96;p7"/>
          <p:cNvSpPr/>
          <p:nvPr/>
        </p:nvSpPr>
        <p:spPr>
          <a:xfrm>
            <a:off x="6069330" y="1062990"/>
            <a:ext cx="2503200" cy="3154800"/>
          </a:xfrm>
          <a:prstGeom prst="roundRect">
            <a:avLst>
              <a:gd fmla="val 2192"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97" name="Google Shape;97;p7"/>
          <p:cNvSpPr/>
          <p:nvPr/>
        </p:nvSpPr>
        <p:spPr>
          <a:xfrm>
            <a:off x="6069330" y="1062990"/>
            <a:ext cx="48000" cy="315480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98" name="Google Shape;98;p7"/>
          <p:cNvSpPr/>
          <p:nvPr/>
        </p:nvSpPr>
        <p:spPr>
          <a:xfrm>
            <a:off x="6240780" y="1200150"/>
            <a:ext cx="21945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99" name="Google Shape;99;p7"/>
          <p:cNvSpPr/>
          <p:nvPr/>
        </p:nvSpPr>
        <p:spPr>
          <a:xfrm>
            <a:off x="6240780" y="1488186"/>
            <a:ext cx="2194500" cy="2619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sz="900">
              <a:solidFill>
                <a:srgbClr val="5F6B76"/>
              </a:solidFill>
            </a:endParaRPr>
          </a:p>
        </p:txBody>
      </p:sp>
      <p:sp>
        <p:nvSpPr>
          <p:cNvPr id="100" name="Google Shape;100;p7"/>
          <p:cNvSpPr/>
          <p:nvPr/>
        </p:nvSpPr>
        <p:spPr>
          <a:xfrm>
            <a:off x="6240780" y="3806190"/>
            <a:ext cx="994500" cy="240000"/>
          </a:xfrm>
          <a:prstGeom prst="roundRect">
            <a:avLst>
              <a:gd fmla="val 16667" name="adj"/>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01" name="Google Shape;101;p7"/>
          <p:cNvSpPr/>
          <p:nvPr/>
        </p:nvSpPr>
        <p:spPr>
          <a:xfrm>
            <a:off x="6240780" y="3854196"/>
            <a:ext cx="994500" cy="123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800"/>
              <a:buFont typeface="Arial"/>
              <a:buNone/>
            </a:pPr>
            <a:r>
              <a:t/>
            </a:r>
            <a:endParaRPr b="0" i="0" sz="800" u="none" cap="none">
              <a:solidFill>
                <a:schemeClr val="dk1"/>
              </a:solidFill>
              <a:latin typeface="Arial"/>
              <a:ea typeface="Arial"/>
              <a:cs typeface="Arial"/>
              <a:sym typeface="Arial"/>
            </a:endParaRPr>
          </a:p>
        </p:txBody>
      </p:sp>
      <p:sp>
        <p:nvSpPr>
          <p:cNvPr id="102" name="Google Shape;102;p7"/>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8491"/>
              </a:buClr>
              <a:buSzPts val="600"/>
              <a:buFont typeface="Arial"/>
              <a:buNone/>
            </a:pPr>
            <a:fld id="{00000000-1234-1234-1234-123412341234}" type="slidenum">
              <a:rPr b="0" i="0" lang="en"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103" name="Google Shape;103;p7"/>
          <p:cNvSpPr/>
          <p:nvPr/>
        </p:nvSpPr>
        <p:spPr>
          <a:xfrm>
            <a:off x="447675" y="257175"/>
            <a:ext cx="8191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800">
                <a:solidFill>
                  <a:srgbClr val="159A9C"/>
                </a:solidFill>
                <a:latin typeface="Arial"/>
                <a:ea typeface="Arial"/>
                <a:cs typeface="Arial"/>
                <a:sym typeface="Arial"/>
              </a:rPr>
              <a:t>REQUIREMENTS / NURZAT</a:t>
            </a:r>
            <a:endParaRPr/>
          </a:p>
        </p:txBody>
      </p:sp>
      <p:sp>
        <p:nvSpPr>
          <p:cNvPr id="104" name="Google Shape;104;p7"/>
          <p:cNvSpPr/>
          <p:nvPr/>
        </p:nvSpPr>
        <p:spPr>
          <a:xfrm>
            <a:off x="447675" y="495300"/>
            <a:ext cx="824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100">
                <a:solidFill>
                  <a:srgbClr val="17212B"/>
                </a:solidFill>
                <a:latin typeface="Arial"/>
                <a:ea typeface="Arial"/>
                <a:cs typeface="Arial"/>
                <a:sym typeface="Arial"/>
              </a:rPr>
              <a:t>What we chose to build first</a:t>
            </a:r>
            <a:endParaRPr/>
          </a:p>
        </p:txBody>
      </p:sp>
      <p:sp>
        <p:nvSpPr>
          <p:cNvPr id="105" name="Google Shape;105;p7"/>
          <p:cNvSpPr/>
          <p:nvPr/>
        </p:nvSpPr>
        <p:spPr>
          <a:xfrm>
            <a:off x="685800" y="1200150"/>
            <a:ext cx="2190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Iteration 1</a:t>
            </a:r>
            <a:endParaRPr/>
          </a:p>
        </p:txBody>
      </p:sp>
      <p:sp>
        <p:nvSpPr>
          <p:cNvPr id="106" name="Google Shape;106;p7"/>
          <p:cNvSpPr/>
          <p:nvPr/>
        </p:nvSpPr>
        <p:spPr>
          <a:xfrm>
            <a:off x="685800" y="1524000"/>
            <a:ext cx="2190900" cy="18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Accounts and sign-in</a:t>
            </a:r>
            <a:endParaRPr/>
          </a:p>
          <a:p>
            <a:pPr indent="0" lvl="0" marL="0" marR="0" rtl="0" algn="l">
              <a:spcBef>
                <a:spcPts val="0"/>
              </a:spcBef>
              <a:spcAft>
                <a:spcPts val="0"/>
              </a:spcAft>
              <a:buNone/>
            </a:pPr>
            <a:r>
              <a:rPr b="0" lang="en" sz="1050">
                <a:solidFill>
                  <a:srgbClr val="5F6B76"/>
                </a:solidFill>
                <a:latin typeface="Arial"/>
                <a:ea typeface="Arial"/>
                <a:cs typeface="Arial"/>
                <a:sym typeface="Arial"/>
              </a:rPr>
              <a:t>Personal decks and cards</a:t>
            </a:r>
            <a:endParaRPr/>
          </a:p>
          <a:p>
            <a:pPr indent="0" lvl="0" marL="0" marR="0" rtl="0" algn="l">
              <a:spcBef>
                <a:spcPts val="0"/>
              </a:spcBef>
              <a:spcAft>
                <a:spcPts val="0"/>
              </a:spcAft>
              <a:buNone/>
            </a:pPr>
            <a:r>
              <a:rPr b="0" lang="en" sz="1050">
                <a:solidFill>
                  <a:srgbClr val="5F6B76"/>
                </a:solidFill>
                <a:latin typeface="Arial"/>
                <a:ea typeface="Arial"/>
                <a:cs typeface="Arial"/>
                <a:sym typeface="Arial"/>
              </a:rPr>
              <a:t>Create, edit and delete</a:t>
            </a:r>
            <a:endParaRPr/>
          </a:p>
          <a:p>
            <a:pPr indent="0" lvl="0" marL="0" marR="0" rtl="0" algn="l">
              <a:spcBef>
                <a:spcPts val="0"/>
              </a:spcBef>
              <a:spcAft>
                <a:spcPts val="0"/>
              </a:spcAft>
              <a:buNone/>
            </a:pPr>
            <a:r>
              <a:rPr b="0" lang="en" sz="1050">
                <a:solidFill>
                  <a:srgbClr val="5F6B76"/>
                </a:solidFill>
                <a:latin typeface="Arial"/>
                <a:ea typeface="Arial"/>
                <a:cs typeface="Arial"/>
                <a:sym typeface="Arial"/>
              </a:rPr>
              <a:t>Persistent storage</a:t>
            </a:r>
            <a:endParaRPr/>
          </a:p>
        </p:txBody>
      </p:sp>
      <p:sp>
        <p:nvSpPr>
          <p:cNvPr id="107" name="Google Shape;107;p7"/>
          <p:cNvSpPr/>
          <p:nvPr/>
        </p:nvSpPr>
        <p:spPr>
          <a:xfrm>
            <a:off x="3476625" y="1200150"/>
            <a:ext cx="2190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Next increment</a:t>
            </a:r>
            <a:endParaRPr/>
          </a:p>
        </p:txBody>
      </p:sp>
      <p:sp>
        <p:nvSpPr>
          <p:cNvPr id="108" name="Google Shape;108;p7"/>
          <p:cNvSpPr/>
          <p:nvPr/>
        </p:nvSpPr>
        <p:spPr>
          <a:xfrm>
            <a:off x="3476625" y="1524000"/>
            <a:ext cx="2190900" cy="18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Study interactions</a:t>
            </a:r>
            <a:endParaRPr/>
          </a:p>
          <a:p>
            <a:pPr indent="0" lvl="0" marL="0" marR="0" rtl="0" algn="l">
              <a:spcBef>
                <a:spcPts val="0"/>
              </a:spcBef>
              <a:spcAft>
                <a:spcPts val="0"/>
              </a:spcAft>
              <a:buNone/>
            </a:pPr>
            <a:r>
              <a:rPr b="0" lang="en" sz="1050">
                <a:solidFill>
                  <a:srgbClr val="5F6B76"/>
                </a:solidFill>
                <a:latin typeface="Arial"/>
                <a:ea typeface="Arial"/>
                <a:cs typeface="Arial"/>
                <a:sym typeface="Arial"/>
              </a:rPr>
              <a:t>Spaced repetition</a:t>
            </a:r>
            <a:endParaRPr/>
          </a:p>
          <a:p>
            <a:pPr indent="0" lvl="0" marL="0" marR="0" rtl="0" algn="l">
              <a:spcBef>
                <a:spcPts val="0"/>
              </a:spcBef>
              <a:spcAft>
                <a:spcPts val="0"/>
              </a:spcAft>
              <a:buNone/>
            </a:pPr>
            <a:r>
              <a:rPr b="0" lang="en" sz="1050">
                <a:solidFill>
                  <a:srgbClr val="5F6B76"/>
                </a:solidFill>
                <a:latin typeface="Arial"/>
                <a:ea typeface="Arial"/>
                <a:cs typeface="Arial"/>
                <a:sym typeface="Arial"/>
              </a:rPr>
              <a:t>Database migrations</a:t>
            </a:r>
            <a:endParaRPr/>
          </a:p>
        </p:txBody>
      </p:sp>
      <p:sp>
        <p:nvSpPr>
          <p:cNvPr id="109" name="Google Shape;109;p7"/>
          <p:cNvSpPr/>
          <p:nvPr/>
        </p:nvSpPr>
        <p:spPr>
          <a:xfrm>
            <a:off x="6267450" y="1200150"/>
            <a:ext cx="2190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Later roadmap</a:t>
            </a:r>
            <a:endParaRPr/>
          </a:p>
        </p:txBody>
      </p:sp>
      <p:sp>
        <p:nvSpPr>
          <p:cNvPr id="110" name="Google Shape;110;p7"/>
          <p:cNvSpPr/>
          <p:nvPr/>
        </p:nvSpPr>
        <p:spPr>
          <a:xfrm>
            <a:off x="6267450" y="1524000"/>
            <a:ext cx="2190900" cy="18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AI card generation</a:t>
            </a:r>
            <a:endParaRPr/>
          </a:p>
          <a:p>
            <a:pPr indent="0" lvl="0" marL="0" marR="0" rtl="0" algn="l">
              <a:spcBef>
                <a:spcPts val="0"/>
              </a:spcBef>
              <a:spcAft>
                <a:spcPts val="0"/>
              </a:spcAft>
              <a:buNone/>
            </a:pPr>
            <a:r>
              <a:rPr b="0" lang="en" sz="1050">
                <a:solidFill>
                  <a:srgbClr val="5F6B76"/>
                </a:solidFill>
                <a:latin typeface="Arial"/>
                <a:ea typeface="Arial"/>
                <a:cs typeface="Arial"/>
                <a:sym typeface="Arial"/>
              </a:rPr>
              <a:t>Review of generated cards</a:t>
            </a:r>
            <a:endParaRPr/>
          </a:p>
          <a:p>
            <a:pPr indent="0" lvl="0" marL="0" marR="0" rtl="0" algn="l">
              <a:spcBef>
                <a:spcPts val="0"/>
              </a:spcBef>
              <a:spcAft>
                <a:spcPts val="0"/>
              </a:spcAft>
              <a:buNone/>
            </a:pPr>
            <a:r>
              <a:rPr b="0" lang="en" sz="1050">
                <a:solidFill>
                  <a:srgbClr val="5F6B76"/>
                </a:solidFill>
                <a:latin typeface="Arial"/>
                <a:ea typeface="Arial"/>
                <a:cs typeface="Arial"/>
                <a:sym typeface="Arial"/>
              </a:rPr>
              <a:t>Enhancements as capacity allows</a:t>
            </a:r>
            <a:endParaRPr/>
          </a:p>
        </p:txBody>
      </p:sp>
      <p:sp>
        <p:nvSpPr>
          <p:cNvPr id="111" name="Google Shape;111;p7"/>
          <p:cNvSpPr/>
          <p:nvPr/>
        </p:nvSpPr>
        <p:spPr>
          <a:xfrm>
            <a:off x="762000" y="3857625"/>
            <a:ext cx="11430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750">
                <a:solidFill>
                  <a:srgbClr val="FFFFFF"/>
                </a:solidFill>
                <a:latin typeface="Arial"/>
                <a:ea typeface="Arial"/>
                <a:cs typeface="Arial"/>
                <a:sym typeface="Arial"/>
              </a:rPr>
              <a:t>CURRENT</a:t>
            </a:r>
            <a:endParaRPr/>
          </a:p>
        </p:txBody>
      </p:sp>
      <p:sp>
        <p:nvSpPr>
          <p:cNvPr id="112" name="Google Shape;112;p7"/>
          <p:cNvSpPr/>
          <p:nvPr/>
        </p:nvSpPr>
        <p:spPr>
          <a:xfrm>
            <a:off x="3543300" y="3857625"/>
            <a:ext cx="11430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750">
                <a:solidFill>
                  <a:srgbClr val="FFFFFF"/>
                </a:solidFill>
                <a:latin typeface="Arial"/>
                <a:ea typeface="Arial"/>
                <a:cs typeface="Arial"/>
                <a:sym typeface="Arial"/>
              </a:rPr>
              <a:t>PLANNED</a:t>
            </a:r>
            <a:endParaRPr/>
          </a:p>
        </p:txBody>
      </p:sp>
      <p:sp>
        <p:nvSpPr>
          <p:cNvPr id="113" name="Google Shape;113;p7"/>
          <p:cNvSpPr/>
          <p:nvPr/>
        </p:nvSpPr>
        <p:spPr>
          <a:xfrm>
            <a:off x="6334125" y="3857625"/>
            <a:ext cx="11430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750">
                <a:solidFill>
                  <a:srgbClr val="FFFFFF"/>
                </a:solidFill>
                <a:latin typeface="Arial"/>
                <a:ea typeface="Arial"/>
                <a:cs typeface="Arial"/>
                <a:sym typeface="Arial"/>
              </a:rPr>
              <a:t>FUTURE</a:t>
            </a:r>
            <a:endParaRPr/>
          </a:p>
        </p:txBody>
      </p:sp>
      <p:sp>
        <p:nvSpPr>
          <p:cNvPr id="114" name="Google Shape;114;p7"/>
          <p:cNvSpPr/>
          <p:nvPr/>
        </p:nvSpPr>
        <p:spPr>
          <a:xfrm>
            <a:off x="514350" y="4400550"/>
            <a:ext cx="8096400" cy="2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125">
                <a:solidFill>
                  <a:srgbClr val="5F6B76"/>
                </a:solidFill>
                <a:latin typeface="Arial"/>
                <a:ea typeface="Arial"/>
                <a:cs typeface="Arial"/>
                <a:sym typeface="Arial"/>
              </a:rPr>
              <a:t>Scope change: study mode and scheduling moved out of Iteration 1.</a:t>
            </a:r>
            <a:endParaRPr b="1"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121" name="Google Shape;121;p8"/>
          <p:cNvSpPr/>
          <p:nvPr/>
        </p:nvSpPr>
        <p:spPr>
          <a:xfrm>
            <a:off x="445770" y="493776"/>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t/>
            </a:r>
            <a:endParaRPr b="0" i="0" sz="2100" u="none" cap="none">
              <a:solidFill>
                <a:schemeClr val="dk1"/>
              </a:solidFill>
              <a:latin typeface="Arial"/>
              <a:ea typeface="Arial"/>
              <a:cs typeface="Arial"/>
              <a:sym typeface="Arial"/>
            </a:endParaRPr>
          </a:p>
        </p:txBody>
      </p:sp>
      <p:sp>
        <p:nvSpPr>
          <p:cNvPr id="122" name="Google Shape;122;p8"/>
          <p:cNvSpPr/>
          <p:nvPr/>
        </p:nvSpPr>
        <p:spPr>
          <a:xfrm>
            <a:off x="514350" y="1062990"/>
            <a:ext cx="1817400" cy="1200300"/>
          </a:xfrm>
          <a:prstGeom prst="roundRect">
            <a:avLst>
              <a:gd fmla="val 4571"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23" name="Google Shape;123;p8"/>
          <p:cNvSpPr/>
          <p:nvPr/>
        </p:nvSpPr>
        <p:spPr>
          <a:xfrm>
            <a:off x="514350" y="1062990"/>
            <a:ext cx="48000" cy="12003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24" name="Google Shape;124;p8"/>
          <p:cNvSpPr/>
          <p:nvPr/>
        </p:nvSpPr>
        <p:spPr>
          <a:xfrm>
            <a:off x="685800" y="1200150"/>
            <a:ext cx="15087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25" name="Google Shape;125;p8"/>
          <p:cNvSpPr/>
          <p:nvPr/>
        </p:nvSpPr>
        <p:spPr>
          <a:xfrm>
            <a:off x="685800" y="1488186"/>
            <a:ext cx="1508700" cy="6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sz="900">
              <a:solidFill>
                <a:srgbClr val="5F6B76"/>
              </a:solidFill>
            </a:endParaRPr>
          </a:p>
        </p:txBody>
      </p:sp>
      <p:sp>
        <p:nvSpPr>
          <p:cNvPr id="126" name="Google Shape;126;p8"/>
          <p:cNvSpPr/>
          <p:nvPr/>
        </p:nvSpPr>
        <p:spPr>
          <a:xfrm>
            <a:off x="2606040" y="1062990"/>
            <a:ext cx="1817400" cy="1200300"/>
          </a:xfrm>
          <a:prstGeom prst="roundRect">
            <a:avLst>
              <a:gd fmla="val 4571"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27" name="Google Shape;127;p8"/>
          <p:cNvSpPr/>
          <p:nvPr/>
        </p:nvSpPr>
        <p:spPr>
          <a:xfrm>
            <a:off x="2606040" y="1062990"/>
            <a:ext cx="48000" cy="1200300"/>
          </a:xfrm>
          <a:prstGeom prst="rect">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28" name="Google Shape;128;p8"/>
          <p:cNvSpPr/>
          <p:nvPr/>
        </p:nvSpPr>
        <p:spPr>
          <a:xfrm>
            <a:off x="2777490" y="1200150"/>
            <a:ext cx="15087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29" name="Google Shape;129;p8"/>
          <p:cNvSpPr/>
          <p:nvPr/>
        </p:nvSpPr>
        <p:spPr>
          <a:xfrm>
            <a:off x="2777490" y="1488186"/>
            <a:ext cx="1508700" cy="6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30" name="Google Shape;130;p8"/>
          <p:cNvSpPr/>
          <p:nvPr/>
        </p:nvSpPr>
        <p:spPr>
          <a:xfrm>
            <a:off x="4697730" y="1062990"/>
            <a:ext cx="1817400" cy="1200300"/>
          </a:xfrm>
          <a:prstGeom prst="roundRect">
            <a:avLst>
              <a:gd fmla="val 4571"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31" name="Google Shape;131;p8"/>
          <p:cNvSpPr/>
          <p:nvPr/>
        </p:nvSpPr>
        <p:spPr>
          <a:xfrm>
            <a:off x="4697730" y="1062990"/>
            <a:ext cx="48000" cy="1200300"/>
          </a:xfrm>
          <a:prstGeom prst="rect">
            <a:avLst/>
          </a:prstGeom>
          <a:solidFill>
            <a:srgbClr val="5C8F68"/>
          </a:solidFill>
          <a:ln cap="flat" cmpd="sng" w="12700">
            <a:solidFill>
              <a:srgbClr val="5C8F6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32" name="Google Shape;132;p8"/>
          <p:cNvSpPr/>
          <p:nvPr/>
        </p:nvSpPr>
        <p:spPr>
          <a:xfrm>
            <a:off x="4869180" y="1200150"/>
            <a:ext cx="15087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33" name="Google Shape;133;p8"/>
          <p:cNvSpPr/>
          <p:nvPr/>
        </p:nvSpPr>
        <p:spPr>
          <a:xfrm>
            <a:off x="4869180" y="1488186"/>
            <a:ext cx="1508700" cy="6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34" name="Google Shape;134;p8"/>
          <p:cNvSpPr/>
          <p:nvPr/>
        </p:nvSpPr>
        <p:spPr>
          <a:xfrm>
            <a:off x="6789420" y="1062990"/>
            <a:ext cx="1817400" cy="1200300"/>
          </a:xfrm>
          <a:prstGeom prst="roundRect">
            <a:avLst>
              <a:gd fmla="val 4571"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35" name="Google Shape;135;p8"/>
          <p:cNvSpPr/>
          <p:nvPr/>
        </p:nvSpPr>
        <p:spPr>
          <a:xfrm>
            <a:off x="6789420" y="1062990"/>
            <a:ext cx="48000" cy="120030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36" name="Google Shape;136;p8"/>
          <p:cNvSpPr/>
          <p:nvPr/>
        </p:nvSpPr>
        <p:spPr>
          <a:xfrm>
            <a:off x="6960870" y="1200150"/>
            <a:ext cx="15087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37" name="Google Shape;137;p8"/>
          <p:cNvSpPr/>
          <p:nvPr/>
        </p:nvSpPr>
        <p:spPr>
          <a:xfrm>
            <a:off x="6960870" y="1488186"/>
            <a:ext cx="1508700" cy="665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cxnSp>
        <p:nvCxnSpPr>
          <p:cNvPr id="138" name="Google Shape;138;p8"/>
          <p:cNvCxnSpPr/>
          <p:nvPr/>
        </p:nvCxnSpPr>
        <p:spPr>
          <a:xfrm>
            <a:off x="1303020" y="2846070"/>
            <a:ext cx="6480900" cy="0"/>
          </a:xfrm>
          <a:prstGeom prst="straightConnector1">
            <a:avLst/>
          </a:prstGeom>
          <a:noFill/>
          <a:ln cap="flat" cmpd="sng" w="25400">
            <a:solidFill>
              <a:srgbClr val="D9E0E6"/>
            </a:solidFill>
            <a:prstDash val="solid"/>
            <a:round/>
            <a:headEnd len="sm" w="sm" type="none"/>
            <a:tailEnd len="sm" w="sm" type="none"/>
          </a:ln>
        </p:spPr>
      </p:cxnSp>
      <p:sp>
        <p:nvSpPr>
          <p:cNvPr id="139" name="Google Shape;139;p8"/>
          <p:cNvSpPr/>
          <p:nvPr/>
        </p:nvSpPr>
        <p:spPr>
          <a:xfrm>
            <a:off x="514350" y="3120390"/>
            <a:ext cx="185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140" name="Google Shape;140;p8"/>
          <p:cNvSpPr/>
          <p:nvPr/>
        </p:nvSpPr>
        <p:spPr>
          <a:xfrm>
            <a:off x="514350" y="3417210"/>
            <a:ext cx="18174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800"/>
              <a:buFont typeface="Arial"/>
              <a:buNone/>
            </a:pPr>
            <a:r>
              <a:t/>
            </a:r>
            <a:endParaRPr b="0" i="0" sz="800" u="none" cap="none">
              <a:solidFill>
                <a:schemeClr val="dk1"/>
              </a:solidFill>
              <a:latin typeface="Arial"/>
              <a:ea typeface="Arial"/>
              <a:cs typeface="Arial"/>
              <a:sym typeface="Arial"/>
            </a:endParaRPr>
          </a:p>
        </p:txBody>
      </p:sp>
      <p:sp>
        <p:nvSpPr>
          <p:cNvPr id="141" name="Google Shape;141;p8"/>
          <p:cNvSpPr/>
          <p:nvPr/>
        </p:nvSpPr>
        <p:spPr>
          <a:xfrm>
            <a:off x="2606040" y="3120390"/>
            <a:ext cx="185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142" name="Google Shape;142;p8"/>
          <p:cNvSpPr/>
          <p:nvPr/>
        </p:nvSpPr>
        <p:spPr>
          <a:xfrm>
            <a:off x="2606040" y="3417210"/>
            <a:ext cx="18174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800"/>
              <a:buFont typeface="Arial"/>
              <a:buNone/>
            </a:pPr>
            <a:r>
              <a:t/>
            </a:r>
            <a:endParaRPr b="0" i="0" sz="800" u="none" cap="none">
              <a:solidFill>
                <a:schemeClr val="dk1"/>
              </a:solidFill>
              <a:latin typeface="Arial"/>
              <a:ea typeface="Arial"/>
              <a:cs typeface="Arial"/>
              <a:sym typeface="Arial"/>
            </a:endParaRPr>
          </a:p>
        </p:txBody>
      </p:sp>
      <p:sp>
        <p:nvSpPr>
          <p:cNvPr id="143" name="Google Shape;143;p8"/>
          <p:cNvSpPr/>
          <p:nvPr/>
        </p:nvSpPr>
        <p:spPr>
          <a:xfrm>
            <a:off x="4697730" y="3120390"/>
            <a:ext cx="185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144" name="Google Shape;144;p8"/>
          <p:cNvSpPr/>
          <p:nvPr/>
        </p:nvSpPr>
        <p:spPr>
          <a:xfrm>
            <a:off x="4697730" y="3417210"/>
            <a:ext cx="18174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800"/>
              <a:buFont typeface="Arial"/>
              <a:buNone/>
            </a:pPr>
            <a:r>
              <a:t/>
            </a:r>
            <a:endParaRPr b="0" i="0" sz="800" u="none" cap="none">
              <a:solidFill>
                <a:schemeClr val="dk1"/>
              </a:solidFill>
              <a:latin typeface="Arial"/>
              <a:ea typeface="Arial"/>
              <a:cs typeface="Arial"/>
              <a:sym typeface="Arial"/>
            </a:endParaRPr>
          </a:p>
        </p:txBody>
      </p:sp>
      <p:sp>
        <p:nvSpPr>
          <p:cNvPr id="145" name="Google Shape;145;p8"/>
          <p:cNvSpPr/>
          <p:nvPr/>
        </p:nvSpPr>
        <p:spPr>
          <a:xfrm>
            <a:off x="6789420" y="3120390"/>
            <a:ext cx="185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146" name="Google Shape;146;p8"/>
          <p:cNvSpPr/>
          <p:nvPr/>
        </p:nvSpPr>
        <p:spPr>
          <a:xfrm>
            <a:off x="6789420" y="3417210"/>
            <a:ext cx="1817400" cy="41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800"/>
              <a:buFont typeface="Arial"/>
              <a:buNone/>
            </a:pPr>
            <a:r>
              <a:t/>
            </a:r>
            <a:endParaRPr b="0" i="0" sz="800" u="none" cap="none">
              <a:solidFill>
                <a:schemeClr val="dk1"/>
              </a:solidFill>
              <a:latin typeface="Arial"/>
              <a:ea typeface="Arial"/>
              <a:cs typeface="Arial"/>
              <a:sym typeface="Arial"/>
            </a:endParaRPr>
          </a:p>
        </p:txBody>
      </p:sp>
      <p:sp>
        <p:nvSpPr>
          <p:cNvPr id="147" name="Google Shape;147;p8"/>
          <p:cNvSpPr/>
          <p:nvPr/>
        </p:nvSpPr>
        <p:spPr>
          <a:xfrm>
            <a:off x="514350" y="4217670"/>
            <a:ext cx="75438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800"/>
              <a:buFont typeface="Arial"/>
              <a:buNone/>
            </a:pPr>
            <a:r>
              <a:t/>
            </a:r>
            <a:endParaRPr b="0" i="0" sz="800" u="none" cap="none">
              <a:solidFill>
                <a:schemeClr val="dk1"/>
              </a:solidFill>
              <a:latin typeface="Arial"/>
              <a:ea typeface="Arial"/>
              <a:cs typeface="Arial"/>
              <a:sym typeface="Arial"/>
            </a:endParaRPr>
          </a:p>
        </p:txBody>
      </p:sp>
      <p:sp>
        <p:nvSpPr>
          <p:cNvPr id="148" name="Google Shape;148;p8"/>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8491"/>
              </a:buClr>
              <a:buSzPts val="600"/>
              <a:buFont typeface="Arial"/>
              <a:buNone/>
            </a:pPr>
            <a:fld id="{00000000-1234-1234-1234-123412341234}" type="slidenum">
              <a:rPr b="0" i="0" lang="en"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149" name="Google Shape;149;p8"/>
          <p:cNvSpPr/>
          <p:nvPr/>
        </p:nvSpPr>
        <p:spPr>
          <a:xfrm>
            <a:off x="447675" y="257175"/>
            <a:ext cx="8191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800">
                <a:solidFill>
                  <a:srgbClr val="159A9C"/>
                </a:solidFill>
                <a:latin typeface="Arial"/>
                <a:ea typeface="Arial"/>
                <a:cs typeface="Arial"/>
                <a:sym typeface="Arial"/>
              </a:rPr>
              <a:t>DESIGN &amp; IMPLEMENTATION / DUC</a:t>
            </a:r>
            <a:endParaRPr/>
          </a:p>
        </p:txBody>
      </p:sp>
      <p:sp>
        <p:nvSpPr>
          <p:cNvPr id="150" name="Google Shape;150;p8"/>
          <p:cNvSpPr/>
          <p:nvPr/>
        </p:nvSpPr>
        <p:spPr>
          <a:xfrm>
            <a:off x="447675" y="495300"/>
            <a:ext cx="824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100">
                <a:solidFill>
                  <a:srgbClr val="17212B"/>
                </a:solidFill>
                <a:latin typeface="Arial"/>
                <a:ea typeface="Arial"/>
                <a:cs typeface="Arial"/>
                <a:sym typeface="Arial"/>
              </a:rPr>
              <a:t>Architecture and code structure</a:t>
            </a:r>
            <a:endParaRPr/>
          </a:p>
        </p:txBody>
      </p:sp>
      <p:sp>
        <p:nvSpPr>
          <p:cNvPr id="151" name="Google Shape;151;p8"/>
          <p:cNvSpPr/>
          <p:nvPr/>
        </p:nvSpPr>
        <p:spPr>
          <a:xfrm>
            <a:off x="685800" y="1200150"/>
            <a:ext cx="15087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React UI</a:t>
            </a:r>
            <a:endParaRPr/>
          </a:p>
        </p:txBody>
      </p:sp>
      <p:sp>
        <p:nvSpPr>
          <p:cNvPr id="152" name="Google Shape;152;p8"/>
          <p:cNvSpPr/>
          <p:nvPr/>
        </p:nvSpPr>
        <p:spPr>
          <a:xfrm>
            <a:off x="685800" y="1524000"/>
            <a:ext cx="1508700" cy="7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Screens, forms and</a:t>
            </a:r>
            <a:endParaRPr/>
          </a:p>
          <a:p>
            <a:pPr indent="0" lvl="0" marL="0" marR="0" rtl="0" algn="l">
              <a:spcBef>
                <a:spcPts val="0"/>
              </a:spcBef>
              <a:spcAft>
                <a:spcPts val="0"/>
              </a:spcAft>
              <a:buNone/>
            </a:pPr>
            <a:r>
              <a:rPr b="0" lang="en" sz="1050">
                <a:solidFill>
                  <a:srgbClr val="5F6B76"/>
                </a:solidFill>
                <a:latin typeface="Arial"/>
                <a:ea typeface="Arial"/>
                <a:cs typeface="Arial"/>
                <a:sym typeface="Arial"/>
              </a:rPr>
              <a:t>shared API client</a:t>
            </a:r>
            <a:endParaRPr/>
          </a:p>
        </p:txBody>
      </p:sp>
      <p:sp>
        <p:nvSpPr>
          <p:cNvPr id="153" name="Google Shape;153;p8"/>
          <p:cNvSpPr/>
          <p:nvPr/>
        </p:nvSpPr>
        <p:spPr>
          <a:xfrm>
            <a:off x="2777490" y="1200150"/>
            <a:ext cx="15087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Vite proxy</a:t>
            </a:r>
            <a:endParaRPr/>
          </a:p>
        </p:txBody>
      </p:sp>
      <p:sp>
        <p:nvSpPr>
          <p:cNvPr id="154" name="Google Shape;154;p8"/>
          <p:cNvSpPr/>
          <p:nvPr/>
        </p:nvSpPr>
        <p:spPr>
          <a:xfrm>
            <a:off x="2777490" y="1524000"/>
            <a:ext cx="1508700" cy="7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Serves frontend</a:t>
            </a:r>
            <a:endParaRPr/>
          </a:p>
          <a:p>
            <a:pPr indent="0" lvl="0" marL="0" marR="0" rtl="0" algn="l">
              <a:spcBef>
                <a:spcPts val="0"/>
              </a:spcBef>
              <a:spcAft>
                <a:spcPts val="0"/>
              </a:spcAft>
              <a:buNone/>
            </a:pPr>
            <a:r>
              <a:rPr b="0" lang="en" sz="1050">
                <a:solidFill>
                  <a:srgbClr val="5F6B76"/>
                </a:solidFill>
                <a:latin typeface="Arial"/>
                <a:ea typeface="Arial"/>
                <a:cs typeface="Arial"/>
                <a:sym typeface="Arial"/>
              </a:rPr>
              <a:t>Forwards /api</a:t>
            </a:r>
            <a:endParaRPr/>
          </a:p>
        </p:txBody>
      </p:sp>
      <p:sp>
        <p:nvSpPr>
          <p:cNvPr id="155" name="Google Shape;155;p8"/>
          <p:cNvSpPr/>
          <p:nvPr/>
        </p:nvSpPr>
        <p:spPr>
          <a:xfrm>
            <a:off x="4869180" y="1200150"/>
            <a:ext cx="15087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Flask API</a:t>
            </a:r>
            <a:endParaRPr/>
          </a:p>
        </p:txBody>
      </p:sp>
      <p:sp>
        <p:nvSpPr>
          <p:cNvPr id="156" name="Google Shape;156;p8"/>
          <p:cNvSpPr/>
          <p:nvPr/>
        </p:nvSpPr>
        <p:spPr>
          <a:xfrm>
            <a:off x="4869180" y="1524000"/>
            <a:ext cx="1508700" cy="7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Auth, validation</a:t>
            </a:r>
            <a:endParaRPr/>
          </a:p>
          <a:p>
            <a:pPr indent="0" lvl="0" marL="0" marR="0" rtl="0" algn="l">
              <a:spcBef>
                <a:spcPts val="0"/>
              </a:spcBef>
              <a:spcAft>
                <a:spcPts val="0"/>
              </a:spcAft>
              <a:buNone/>
            </a:pPr>
            <a:r>
              <a:rPr b="0" lang="en" sz="1050">
                <a:solidFill>
                  <a:srgbClr val="5F6B76"/>
                </a:solidFill>
                <a:latin typeface="Arial"/>
                <a:ea typeface="Arial"/>
                <a:cs typeface="Arial"/>
                <a:sym typeface="Arial"/>
              </a:rPr>
              <a:t>and owner checks</a:t>
            </a:r>
            <a:endParaRPr/>
          </a:p>
        </p:txBody>
      </p:sp>
      <p:sp>
        <p:nvSpPr>
          <p:cNvPr id="157" name="Google Shape;157;p8"/>
          <p:cNvSpPr/>
          <p:nvPr/>
        </p:nvSpPr>
        <p:spPr>
          <a:xfrm>
            <a:off x="6960870" y="1200150"/>
            <a:ext cx="15087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PostgreSQL</a:t>
            </a:r>
            <a:endParaRPr/>
          </a:p>
        </p:txBody>
      </p:sp>
      <p:sp>
        <p:nvSpPr>
          <p:cNvPr id="158" name="Google Shape;158;p8"/>
          <p:cNvSpPr/>
          <p:nvPr/>
        </p:nvSpPr>
        <p:spPr>
          <a:xfrm>
            <a:off x="6960870" y="1524000"/>
            <a:ext cx="1508700" cy="714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Users, decks, cards</a:t>
            </a:r>
            <a:endParaRPr/>
          </a:p>
          <a:p>
            <a:pPr indent="0" lvl="0" marL="0" marR="0" rtl="0" algn="l">
              <a:spcBef>
                <a:spcPts val="0"/>
              </a:spcBef>
              <a:spcAft>
                <a:spcPts val="0"/>
              </a:spcAft>
              <a:buNone/>
            </a:pPr>
            <a:r>
              <a:rPr b="0" lang="en" sz="1050">
                <a:solidFill>
                  <a:srgbClr val="5F6B76"/>
                </a:solidFill>
                <a:latin typeface="Arial"/>
                <a:ea typeface="Arial"/>
                <a:cs typeface="Arial"/>
                <a:sym typeface="Arial"/>
              </a:rPr>
              <a:t>Persistent volume</a:t>
            </a:r>
            <a:endParaRPr/>
          </a:p>
        </p:txBody>
      </p:sp>
      <p:sp>
        <p:nvSpPr>
          <p:cNvPr id="159" name="Google Shape;159;p8"/>
          <p:cNvSpPr/>
          <p:nvPr/>
        </p:nvSpPr>
        <p:spPr>
          <a:xfrm>
            <a:off x="2381250" y="1657350"/>
            <a:ext cx="171600" cy="171600"/>
          </a:xfrm>
          <a:prstGeom prst="chevron">
            <a:avLst>
              <a:gd fmla="val 50000" name="adj"/>
            </a:avLst>
          </a:prstGeom>
          <a:solidFill>
            <a:srgbClr val="CBD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4476750" y="1657350"/>
            <a:ext cx="171600" cy="171600"/>
          </a:xfrm>
          <a:prstGeom prst="chevron">
            <a:avLst>
              <a:gd fmla="val 50000" name="adj"/>
            </a:avLst>
          </a:prstGeom>
          <a:solidFill>
            <a:srgbClr val="CBD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p:nvPr/>
        </p:nvSpPr>
        <p:spPr>
          <a:xfrm>
            <a:off x="6572250" y="1657350"/>
            <a:ext cx="171600" cy="171600"/>
          </a:xfrm>
          <a:prstGeom prst="chevron">
            <a:avLst>
              <a:gd fmla="val 50000" name="adj"/>
            </a:avLst>
          </a:prstGeom>
          <a:solidFill>
            <a:srgbClr val="CBDA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514350" y="3124200"/>
            <a:ext cx="18573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pages / components</a:t>
            </a:r>
            <a:endParaRPr/>
          </a:p>
        </p:txBody>
      </p:sp>
      <p:sp>
        <p:nvSpPr>
          <p:cNvPr id="163" name="Google Shape;163;p8"/>
          <p:cNvSpPr/>
          <p:nvPr/>
        </p:nvSpPr>
        <p:spPr>
          <a:xfrm>
            <a:off x="514350" y="3448050"/>
            <a:ext cx="18573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Frontend screens and reusable forms</a:t>
            </a:r>
            <a:endParaRPr/>
          </a:p>
        </p:txBody>
      </p:sp>
      <p:sp>
        <p:nvSpPr>
          <p:cNvPr id="164" name="Google Shape;164;p8"/>
          <p:cNvSpPr/>
          <p:nvPr/>
        </p:nvSpPr>
        <p:spPr>
          <a:xfrm>
            <a:off x="2606040" y="3124200"/>
            <a:ext cx="18573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api / auth</a:t>
            </a:r>
            <a:endParaRPr/>
          </a:p>
        </p:txBody>
      </p:sp>
      <p:sp>
        <p:nvSpPr>
          <p:cNvPr id="165" name="Google Shape;165;p8"/>
          <p:cNvSpPr/>
          <p:nvPr/>
        </p:nvSpPr>
        <p:spPr>
          <a:xfrm>
            <a:off x="2606040" y="3448050"/>
            <a:ext cx="18573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Requests and signed-in state</a:t>
            </a:r>
            <a:endParaRPr/>
          </a:p>
        </p:txBody>
      </p:sp>
      <p:sp>
        <p:nvSpPr>
          <p:cNvPr id="166" name="Google Shape;166;p8"/>
          <p:cNvSpPr/>
          <p:nvPr/>
        </p:nvSpPr>
        <p:spPr>
          <a:xfrm>
            <a:off x="4697730" y="3124200"/>
            <a:ext cx="18573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api / models</a:t>
            </a:r>
            <a:endParaRPr/>
          </a:p>
        </p:txBody>
      </p:sp>
      <p:sp>
        <p:nvSpPr>
          <p:cNvPr id="167" name="Google Shape;167;p8"/>
          <p:cNvSpPr/>
          <p:nvPr/>
        </p:nvSpPr>
        <p:spPr>
          <a:xfrm>
            <a:off x="4697730" y="3448050"/>
            <a:ext cx="18573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Backend routes and database records</a:t>
            </a:r>
            <a:endParaRPr/>
          </a:p>
        </p:txBody>
      </p:sp>
      <p:sp>
        <p:nvSpPr>
          <p:cNvPr id="168" name="Google Shape;168;p8"/>
          <p:cNvSpPr/>
          <p:nvPr/>
        </p:nvSpPr>
        <p:spPr>
          <a:xfrm>
            <a:off x="6789420" y="3124200"/>
            <a:ext cx="18573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Shared contract</a:t>
            </a:r>
            <a:endParaRPr/>
          </a:p>
        </p:txBody>
      </p:sp>
      <p:sp>
        <p:nvSpPr>
          <p:cNvPr id="169" name="Google Shape;169;p8"/>
          <p:cNvSpPr/>
          <p:nvPr/>
        </p:nvSpPr>
        <p:spPr>
          <a:xfrm>
            <a:off x="6789420" y="3448050"/>
            <a:ext cx="1857300" cy="609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Paths, JSON fields and error codes</a:t>
            </a:r>
            <a:endParaRPr/>
          </a:p>
        </p:txBody>
      </p:sp>
      <p:sp>
        <p:nvSpPr>
          <p:cNvPr id="170" name="Google Shape;170;p8"/>
          <p:cNvSpPr/>
          <p:nvPr/>
        </p:nvSpPr>
        <p:spPr>
          <a:xfrm>
            <a:off x="514350" y="4333875"/>
            <a:ext cx="80964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200">
                <a:solidFill>
                  <a:srgbClr val="5F6B76"/>
                </a:solidFill>
                <a:latin typeface="Arial"/>
                <a:ea typeface="Arial"/>
                <a:cs typeface="Arial"/>
                <a:sym typeface="Arial"/>
              </a:rPr>
              <a:t>Separate responsibilities let frontend and backend progress in parallel.</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9"/>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177" name="Google Shape;177;p9"/>
          <p:cNvSpPr/>
          <p:nvPr/>
        </p:nvSpPr>
        <p:spPr>
          <a:xfrm>
            <a:off x="445770" y="493776"/>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t/>
            </a:r>
            <a:endParaRPr b="0" i="0" sz="2100" u="none" cap="none">
              <a:solidFill>
                <a:schemeClr val="dk1"/>
              </a:solidFill>
              <a:latin typeface="Arial"/>
              <a:ea typeface="Arial"/>
              <a:cs typeface="Arial"/>
              <a:sym typeface="Arial"/>
            </a:endParaRPr>
          </a:p>
        </p:txBody>
      </p:sp>
      <p:sp>
        <p:nvSpPr>
          <p:cNvPr id="178" name="Google Shape;178;p9"/>
          <p:cNvSpPr/>
          <p:nvPr/>
        </p:nvSpPr>
        <p:spPr>
          <a:xfrm>
            <a:off x="514350" y="1062990"/>
            <a:ext cx="2503200" cy="1371600"/>
          </a:xfrm>
          <a:prstGeom prst="roundRect">
            <a:avLst>
              <a:gd fmla="val 4000"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79" name="Google Shape;179;p9"/>
          <p:cNvSpPr/>
          <p:nvPr/>
        </p:nvSpPr>
        <p:spPr>
          <a:xfrm>
            <a:off x="514350" y="1062990"/>
            <a:ext cx="48000" cy="13716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80" name="Google Shape;180;p9"/>
          <p:cNvSpPr/>
          <p:nvPr/>
        </p:nvSpPr>
        <p:spPr>
          <a:xfrm>
            <a:off x="685800" y="1200150"/>
            <a:ext cx="21945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81" name="Google Shape;181;p9"/>
          <p:cNvSpPr/>
          <p:nvPr/>
        </p:nvSpPr>
        <p:spPr>
          <a:xfrm>
            <a:off x="685800" y="1488186"/>
            <a:ext cx="2194500" cy="83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82" name="Google Shape;182;p9"/>
          <p:cNvSpPr/>
          <p:nvPr/>
        </p:nvSpPr>
        <p:spPr>
          <a:xfrm>
            <a:off x="3312414" y="1062990"/>
            <a:ext cx="2503200" cy="1371600"/>
          </a:xfrm>
          <a:prstGeom prst="roundRect">
            <a:avLst>
              <a:gd fmla="val 4000"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83" name="Google Shape;183;p9"/>
          <p:cNvSpPr/>
          <p:nvPr/>
        </p:nvSpPr>
        <p:spPr>
          <a:xfrm>
            <a:off x="3312414" y="1062990"/>
            <a:ext cx="48000" cy="1371600"/>
          </a:xfrm>
          <a:prstGeom prst="rect">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84" name="Google Shape;184;p9"/>
          <p:cNvSpPr/>
          <p:nvPr/>
        </p:nvSpPr>
        <p:spPr>
          <a:xfrm>
            <a:off x="3483864" y="1200150"/>
            <a:ext cx="21945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85" name="Google Shape;185;p9"/>
          <p:cNvSpPr/>
          <p:nvPr/>
        </p:nvSpPr>
        <p:spPr>
          <a:xfrm>
            <a:off x="3483864" y="1488186"/>
            <a:ext cx="2194500" cy="83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86" name="Google Shape;186;p9"/>
          <p:cNvSpPr/>
          <p:nvPr/>
        </p:nvSpPr>
        <p:spPr>
          <a:xfrm>
            <a:off x="6110478" y="1062990"/>
            <a:ext cx="2503200" cy="1371600"/>
          </a:xfrm>
          <a:prstGeom prst="roundRect">
            <a:avLst>
              <a:gd fmla="val 4000"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87" name="Google Shape;187;p9"/>
          <p:cNvSpPr/>
          <p:nvPr/>
        </p:nvSpPr>
        <p:spPr>
          <a:xfrm>
            <a:off x="6110478" y="1062990"/>
            <a:ext cx="48000" cy="137160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188" name="Google Shape;188;p9"/>
          <p:cNvSpPr/>
          <p:nvPr/>
        </p:nvSpPr>
        <p:spPr>
          <a:xfrm>
            <a:off x="6281928" y="1200150"/>
            <a:ext cx="21945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189" name="Google Shape;189;p9"/>
          <p:cNvSpPr/>
          <p:nvPr/>
        </p:nvSpPr>
        <p:spPr>
          <a:xfrm>
            <a:off x="6281928" y="1488186"/>
            <a:ext cx="2194500" cy="83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90" name="Google Shape;190;p9"/>
          <p:cNvSpPr/>
          <p:nvPr/>
        </p:nvSpPr>
        <p:spPr>
          <a:xfrm>
            <a:off x="514350" y="2880360"/>
            <a:ext cx="15774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300"/>
              <a:buFont typeface="Arial"/>
              <a:buNone/>
            </a:pPr>
            <a:r>
              <a:t/>
            </a:r>
            <a:endParaRPr b="0" i="0" sz="1300" u="none" cap="none">
              <a:solidFill>
                <a:schemeClr val="dk1"/>
              </a:solidFill>
              <a:latin typeface="Arial"/>
              <a:ea typeface="Arial"/>
              <a:cs typeface="Arial"/>
              <a:sym typeface="Arial"/>
            </a:endParaRPr>
          </a:p>
        </p:txBody>
      </p:sp>
      <p:sp>
        <p:nvSpPr>
          <p:cNvPr id="191" name="Google Shape;191;p9"/>
          <p:cNvSpPr/>
          <p:nvPr/>
        </p:nvSpPr>
        <p:spPr>
          <a:xfrm>
            <a:off x="514350" y="3257550"/>
            <a:ext cx="891600" cy="37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2000"/>
              <a:buFont typeface="Arial"/>
              <a:buNone/>
            </a:pPr>
            <a:r>
              <a:t/>
            </a:r>
            <a:endParaRPr b="0" i="0" sz="2000" u="none" cap="none">
              <a:solidFill>
                <a:schemeClr val="dk1"/>
              </a:solidFill>
              <a:latin typeface="Arial"/>
              <a:ea typeface="Arial"/>
              <a:cs typeface="Arial"/>
              <a:sym typeface="Arial"/>
            </a:endParaRPr>
          </a:p>
        </p:txBody>
      </p:sp>
      <p:sp>
        <p:nvSpPr>
          <p:cNvPr id="192" name="Google Shape;192;p9"/>
          <p:cNvSpPr/>
          <p:nvPr/>
        </p:nvSpPr>
        <p:spPr>
          <a:xfrm>
            <a:off x="1440180" y="3236976"/>
            <a:ext cx="16458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93" name="Google Shape;193;p9"/>
          <p:cNvSpPr/>
          <p:nvPr/>
        </p:nvSpPr>
        <p:spPr>
          <a:xfrm>
            <a:off x="3291840" y="3257550"/>
            <a:ext cx="891600" cy="37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6EAA"/>
              </a:buClr>
              <a:buSzPts val="2000"/>
              <a:buFont typeface="Arial"/>
              <a:buNone/>
            </a:pPr>
            <a:r>
              <a:t/>
            </a:r>
            <a:endParaRPr b="0" i="0" sz="2000" u="none" cap="none">
              <a:solidFill>
                <a:schemeClr val="dk1"/>
              </a:solidFill>
              <a:latin typeface="Arial"/>
              <a:ea typeface="Arial"/>
              <a:cs typeface="Arial"/>
              <a:sym typeface="Arial"/>
            </a:endParaRPr>
          </a:p>
        </p:txBody>
      </p:sp>
      <p:sp>
        <p:nvSpPr>
          <p:cNvPr id="194" name="Google Shape;194;p9"/>
          <p:cNvSpPr/>
          <p:nvPr/>
        </p:nvSpPr>
        <p:spPr>
          <a:xfrm>
            <a:off x="4217670" y="3236976"/>
            <a:ext cx="16458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95" name="Google Shape;195;p9"/>
          <p:cNvSpPr/>
          <p:nvPr/>
        </p:nvSpPr>
        <p:spPr>
          <a:xfrm>
            <a:off x="6069330" y="3257550"/>
            <a:ext cx="891600" cy="37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C8F68"/>
              </a:buClr>
              <a:buSzPts val="2000"/>
              <a:buFont typeface="Arial"/>
              <a:buNone/>
            </a:pPr>
            <a:r>
              <a:t/>
            </a:r>
            <a:endParaRPr b="0" i="0" sz="2000" u="none" cap="none">
              <a:solidFill>
                <a:schemeClr val="dk1"/>
              </a:solidFill>
              <a:latin typeface="Arial"/>
              <a:ea typeface="Arial"/>
              <a:cs typeface="Arial"/>
              <a:sym typeface="Arial"/>
            </a:endParaRPr>
          </a:p>
        </p:txBody>
      </p:sp>
      <p:sp>
        <p:nvSpPr>
          <p:cNvPr id="196" name="Google Shape;196;p9"/>
          <p:cNvSpPr/>
          <p:nvPr/>
        </p:nvSpPr>
        <p:spPr>
          <a:xfrm>
            <a:off x="6995160" y="3236976"/>
            <a:ext cx="1645800" cy="4800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197" name="Google Shape;197;p9"/>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8491"/>
              </a:buClr>
              <a:buSzPts val="600"/>
              <a:buFont typeface="Arial"/>
              <a:buNone/>
            </a:pPr>
            <a:fld id="{00000000-1234-1234-1234-123412341234}" type="slidenum">
              <a:rPr b="0" i="0" lang="en"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198" name="Google Shape;198;p9"/>
          <p:cNvSpPr/>
          <p:nvPr/>
        </p:nvSpPr>
        <p:spPr>
          <a:xfrm>
            <a:off x="447675" y="257175"/>
            <a:ext cx="8191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800">
                <a:solidFill>
                  <a:srgbClr val="159A9C"/>
                </a:solidFill>
                <a:latin typeface="Arial"/>
                <a:ea typeface="Arial"/>
                <a:cs typeface="Arial"/>
                <a:sym typeface="Arial"/>
              </a:rPr>
              <a:t>QUALITY ASSURANCE / VON</a:t>
            </a:r>
            <a:endParaRPr/>
          </a:p>
        </p:txBody>
      </p:sp>
      <p:sp>
        <p:nvSpPr>
          <p:cNvPr id="199" name="Google Shape;199;p9"/>
          <p:cNvSpPr/>
          <p:nvPr/>
        </p:nvSpPr>
        <p:spPr>
          <a:xfrm>
            <a:off x="447675" y="495300"/>
            <a:ext cx="824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100">
                <a:solidFill>
                  <a:srgbClr val="17212B"/>
                </a:solidFill>
                <a:latin typeface="Arial"/>
                <a:ea typeface="Arial"/>
                <a:cs typeface="Arial"/>
                <a:sym typeface="Arial"/>
              </a:rPr>
              <a:t>Quality checks: current and upcoming</a:t>
            </a:r>
            <a:endParaRPr/>
          </a:p>
        </p:txBody>
      </p:sp>
      <p:sp>
        <p:nvSpPr>
          <p:cNvPr id="200" name="Google Shape;200;p9"/>
          <p:cNvSpPr/>
          <p:nvPr/>
        </p:nvSpPr>
        <p:spPr>
          <a:xfrm>
            <a:off x="685800" y="1200150"/>
            <a:ext cx="2190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Backend tests</a:t>
            </a:r>
            <a:endParaRPr/>
          </a:p>
        </p:txBody>
      </p:sp>
      <p:sp>
        <p:nvSpPr>
          <p:cNvPr id="201" name="Google Shape;201;p9"/>
          <p:cNvSpPr/>
          <p:nvPr/>
        </p:nvSpPr>
        <p:spPr>
          <a:xfrm>
            <a:off x="685800" y="1524000"/>
            <a:ext cx="21909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Pytest covers authentication, validation, deck/card operations and cross-user access.</a:t>
            </a:r>
            <a:endParaRPr/>
          </a:p>
        </p:txBody>
      </p:sp>
      <p:sp>
        <p:nvSpPr>
          <p:cNvPr id="202" name="Google Shape;202;p9"/>
          <p:cNvSpPr/>
          <p:nvPr/>
        </p:nvSpPr>
        <p:spPr>
          <a:xfrm>
            <a:off x="3484245" y="1200150"/>
            <a:ext cx="2190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Frontend checks</a:t>
            </a:r>
            <a:endParaRPr/>
          </a:p>
        </p:txBody>
      </p:sp>
      <p:sp>
        <p:nvSpPr>
          <p:cNvPr id="203" name="Google Shape;203;p9"/>
          <p:cNvSpPr/>
          <p:nvPr/>
        </p:nvSpPr>
        <p:spPr>
          <a:xfrm>
            <a:off x="3484245" y="1524000"/>
            <a:ext cx="21909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Node tests cover API requests and errors. Vite builds the application. Review fixes add regression tests.</a:t>
            </a:r>
            <a:endParaRPr/>
          </a:p>
        </p:txBody>
      </p:sp>
      <p:sp>
        <p:nvSpPr>
          <p:cNvPr id="204" name="Google Shape;204;p9"/>
          <p:cNvSpPr/>
          <p:nvPr/>
        </p:nvSpPr>
        <p:spPr>
          <a:xfrm>
            <a:off x="6281738" y="1200150"/>
            <a:ext cx="2190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Upcoming / in review</a:t>
            </a:r>
            <a:endParaRPr/>
          </a:p>
        </p:txBody>
      </p:sp>
      <p:sp>
        <p:nvSpPr>
          <p:cNvPr id="205" name="Google Shape;205;p9"/>
          <p:cNvSpPr/>
          <p:nvPr/>
        </p:nvSpPr>
        <p:spPr>
          <a:xfrm>
            <a:off x="6281738" y="1524000"/>
            <a:ext cx="2190900" cy="838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Broader PostgreSQL and Docker checks, linting, coverage reporting and coverage gates.</a:t>
            </a:r>
            <a:endParaRPr/>
          </a:p>
        </p:txBody>
      </p:sp>
      <p:sp>
        <p:nvSpPr>
          <p:cNvPr id="206" name="Google Shape;206;p9"/>
          <p:cNvSpPr/>
          <p:nvPr/>
        </p:nvSpPr>
        <p:spPr>
          <a:xfrm>
            <a:off x="514350" y="2857500"/>
            <a:ext cx="79059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350">
                <a:solidFill>
                  <a:srgbClr val="17212B"/>
                </a:solidFill>
                <a:latin typeface="Arial"/>
                <a:ea typeface="Arial"/>
                <a:cs typeface="Arial"/>
                <a:sym typeface="Arial"/>
              </a:rPr>
              <a:t>Evidence and limits</a:t>
            </a:r>
            <a:endParaRPr/>
          </a:p>
        </p:txBody>
      </p:sp>
      <p:sp>
        <p:nvSpPr>
          <p:cNvPr id="207" name="Google Shape;207;p9"/>
          <p:cNvSpPr/>
          <p:nvPr/>
        </p:nvSpPr>
        <p:spPr>
          <a:xfrm>
            <a:off x="514350" y="3238500"/>
            <a:ext cx="8048700" cy="647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350">
                <a:solidFill>
                  <a:srgbClr val="5F6B76"/>
                </a:solidFill>
                <a:latin typeface="Arial"/>
                <a:ea typeface="Arial"/>
                <a:cs typeface="Arial"/>
                <a:sym typeface="Arial"/>
              </a:rPr>
              <a:t>Automated backend tests currently use SQLite.</a:t>
            </a:r>
            <a:endParaRPr/>
          </a:p>
          <a:p>
            <a:pPr indent="0" lvl="0" marL="0" marR="0" rtl="0" algn="l">
              <a:spcBef>
                <a:spcPts val="0"/>
              </a:spcBef>
              <a:spcAft>
                <a:spcPts val="0"/>
              </a:spcAft>
              <a:buNone/>
            </a:pPr>
            <a:r>
              <a:rPr b="0" lang="en" sz="1350">
                <a:solidFill>
                  <a:srgbClr val="5F6B76"/>
                </a:solidFill>
                <a:latin typeface="Arial"/>
                <a:ea typeface="Arial"/>
                <a:cs typeface="Arial"/>
                <a:sym typeface="Arial"/>
              </a:rPr>
              <a:t>A live PostgreSQL demo checks the integrated user flow</a:t>
            </a:r>
            <a:r>
              <a:rPr lang="en" sz="1350">
                <a:solidFill>
                  <a:srgbClr val="5F6B76"/>
                </a:solidFill>
              </a:rPr>
              <a:t>.</a:t>
            </a:r>
            <a:endParaRPr b="1" sz="1700">
              <a:solidFill>
                <a:schemeClr val="dk1"/>
              </a:solidFill>
            </a:endParaRPr>
          </a:p>
          <a:p>
            <a:pPr indent="0" lvl="0" marL="0" marR="0" rtl="0" algn="l">
              <a:spcBef>
                <a:spcPts val="0"/>
              </a:spcBef>
              <a:spcAft>
                <a:spcPts val="0"/>
              </a:spcAft>
              <a:buNone/>
            </a:pPr>
            <a:r>
              <a:t/>
            </a:r>
            <a:endParaRPr b="1" sz="1650">
              <a:solidFill>
                <a:srgbClr val="5F6B7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0"/>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214" name="Google Shape;214;p10"/>
          <p:cNvSpPr/>
          <p:nvPr/>
        </p:nvSpPr>
        <p:spPr>
          <a:xfrm>
            <a:off x="445770" y="493776"/>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t/>
            </a:r>
            <a:endParaRPr b="0" i="0" sz="2100" u="none" cap="none">
              <a:solidFill>
                <a:schemeClr val="dk1"/>
              </a:solidFill>
              <a:latin typeface="Arial"/>
              <a:ea typeface="Arial"/>
              <a:cs typeface="Arial"/>
              <a:sym typeface="Arial"/>
            </a:endParaRPr>
          </a:p>
        </p:txBody>
      </p:sp>
      <p:sp>
        <p:nvSpPr>
          <p:cNvPr id="215" name="Google Shape;215;p10"/>
          <p:cNvSpPr/>
          <p:nvPr/>
        </p:nvSpPr>
        <p:spPr>
          <a:xfrm>
            <a:off x="370333" y="2108850"/>
            <a:ext cx="1440300" cy="925800"/>
          </a:xfrm>
          <a:prstGeom prst="roundRect">
            <a:avLst>
              <a:gd fmla="val 5926"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16" name="Google Shape;216;p10"/>
          <p:cNvSpPr/>
          <p:nvPr/>
        </p:nvSpPr>
        <p:spPr>
          <a:xfrm>
            <a:off x="370333" y="2108850"/>
            <a:ext cx="48000" cy="925800"/>
          </a:xfrm>
          <a:prstGeom prst="rect">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17" name="Google Shape;217;p10"/>
          <p:cNvSpPr/>
          <p:nvPr/>
        </p:nvSpPr>
        <p:spPr>
          <a:xfrm>
            <a:off x="541783" y="2246010"/>
            <a:ext cx="113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18" name="Google Shape;218;p10"/>
          <p:cNvSpPr/>
          <p:nvPr/>
        </p:nvSpPr>
        <p:spPr>
          <a:xfrm>
            <a:off x="541783" y="2534046"/>
            <a:ext cx="1131600" cy="390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19" name="Google Shape;219;p10"/>
          <p:cNvSpPr/>
          <p:nvPr/>
        </p:nvSpPr>
        <p:spPr>
          <a:xfrm>
            <a:off x="1865377" y="2403744"/>
            <a:ext cx="2058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0" name="Google Shape;220;p10"/>
          <p:cNvSpPr/>
          <p:nvPr/>
        </p:nvSpPr>
        <p:spPr>
          <a:xfrm>
            <a:off x="2071117" y="2108850"/>
            <a:ext cx="1440300" cy="925800"/>
          </a:xfrm>
          <a:prstGeom prst="roundRect">
            <a:avLst>
              <a:gd fmla="val 5926"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1" name="Google Shape;221;p10"/>
          <p:cNvSpPr/>
          <p:nvPr/>
        </p:nvSpPr>
        <p:spPr>
          <a:xfrm>
            <a:off x="2071117" y="2108850"/>
            <a:ext cx="48000" cy="9258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2" name="Google Shape;222;p10"/>
          <p:cNvSpPr/>
          <p:nvPr/>
        </p:nvSpPr>
        <p:spPr>
          <a:xfrm>
            <a:off x="2242567" y="2246010"/>
            <a:ext cx="113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23" name="Google Shape;223;p10"/>
          <p:cNvSpPr/>
          <p:nvPr/>
        </p:nvSpPr>
        <p:spPr>
          <a:xfrm>
            <a:off x="2242567" y="2534046"/>
            <a:ext cx="1131600" cy="390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24" name="Google Shape;224;p10"/>
          <p:cNvSpPr/>
          <p:nvPr/>
        </p:nvSpPr>
        <p:spPr>
          <a:xfrm>
            <a:off x="3566161" y="2403744"/>
            <a:ext cx="2058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5" name="Google Shape;225;p10"/>
          <p:cNvSpPr/>
          <p:nvPr/>
        </p:nvSpPr>
        <p:spPr>
          <a:xfrm>
            <a:off x="3771901" y="2108850"/>
            <a:ext cx="1440300" cy="925800"/>
          </a:xfrm>
          <a:prstGeom prst="roundRect">
            <a:avLst>
              <a:gd fmla="val 5926"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6" name="Google Shape;226;p10"/>
          <p:cNvSpPr/>
          <p:nvPr/>
        </p:nvSpPr>
        <p:spPr>
          <a:xfrm>
            <a:off x="3771901" y="2108850"/>
            <a:ext cx="48000" cy="92580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27" name="Google Shape;227;p10"/>
          <p:cNvSpPr/>
          <p:nvPr/>
        </p:nvSpPr>
        <p:spPr>
          <a:xfrm>
            <a:off x="3943351" y="2246010"/>
            <a:ext cx="113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28" name="Google Shape;228;p10"/>
          <p:cNvSpPr/>
          <p:nvPr/>
        </p:nvSpPr>
        <p:spPr>
          <a:xfrm>
            <a:off x="3943351" y="2534046"/>
            <a:ext cx="1131600" cy="390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29" name="Google Shape;229;p10"/>
          <p:cNvSpPr/>
          <p:nvPr/>
        </p:nvSpPr>
        <p:spPr>
          <a:xfrm>
            <a:off x="5266945" y="2403744"/>
            <a:ext cx="2058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30" name="Google Shape;230;p10"/>
          <p:cNvSpPr/>
          <p:nvPr/>
        </p:nvSpPr>
        <p:spPr>
          <a:xfrm>
            <a:off x="5472685" y="2108850"/>
            <a:ext cx="1440300" cy="925800"/>
          </a:xfrm>
          <a:prstGeom prst="roundRect">
            <a:avLst>
              <a:gd fmla="val 5926"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31" name="Google Shape;231;p10"/>
          <p:cNvSpPr/>
          <p:nvPr/>
        </p:nvSpPr>
        <p:spPr>
          <a:xfrm>
            <a:off x="5472685" y="2108850"/>
            <a:ext cx="48000" cy="9258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32" name="Google Shape;232;p10"/>
          <p:cNvSpPr/>
          <p:nvPr/>
        </p:nvSpPr>
        <p:spPr>
          <a:xfrm>
            <a:off x="5644135" y="2246010"/>
            <a:ext cx="113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33" name="Google Shape;233;p10"/>
          <p:cNvSpPr/>
          <p:nvPr/>
        </p:nvSpPr>
        <p:spPr>
          <a:xfrm>
            <a:off x="5644135" y="2534046"/>
            <a:ext cx="1131600" cy="390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34" name="Google Shape;234;p10"/>
          <p:cNvSpPr/>
          <p:nvPr/>
        </p:nvSpPr>
        <p:spPr>
          <a:xfrm>
            <a:off x="6967729" y="2403744"/>
            <a:ext cx="2058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35" name="Google Shape;235;p10"/>
          <p:cNvSpPr/>
          <p:nvPr/>
        </p:nvSpPr>
        <p:spPr>
          <a:xfrm>
            <a:off x="7173469" y="2108850"/>
            <a:ext cx="1440300" cy="925800"/>
          </a:xfrm>
          <a:prstGeom prst="roundRect">
            <a:avLst>
              <a:gd fmla="val 5926"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36" name="Google Shape;236;p10"/>
          <p:cNvSpPr/>
          <p:nvPr/>
        </p:nvSpPr>
        <p:spPr>
          <a:xfrm>
            <a:off x="7173469" y="2108850"/>
            <a:ext cx="48000" cy="925800"/>
          </a:xfrm>
          <a:prstGeom prst="rect">
            <a:avLst/>
          </a:prstGeom>
          <a:solidFill>
            <a:srgbClr val="5C8F68"/>
          </a:solidFill>
          <a:ln cap="flat" cmpd="sng" w="12700">
            <a:solidFill>
              <a:srgbClr val="5C8F6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37" name="Google Shape;237;p10"/>
          <p:cNvSpPr/>
          <p:nvPr/>
        </p:nvSpPr>
        <p:spPr>
          <a:xfrm>
            <a:off x="7344919" y="2246010"/>
            <a:ext cx="113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38" name="Google Shape;238;p10"/>
          <p:cNvSpPr/>
          <p:nvPr/>
        </p:nvSpPr>
        <p:spPr>
          <a:xfrm>
            <a:off x="7344919" y="2534046"/>
            <a:ext cx="1131600" cy="390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39" name="Google Shape;239;p10"/>
          <p:cNvSpPr/>
          <p:nvPr/>
        </p:nvSpPr>
        <p:spPr>
          <a:xfrm>
            <a:off x="514350" y="2571750"/>
            <a:ext cx="13716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300"/>
              <a:buFont typeface="Arial"/>
              <a:buNone/>
            </a:pPr>
            <a:r>
              <a:t/>
            </a:r>
            <a:endParaRPr b="0" i="0" sz="1300" u="none" cap="none">
              <a:solidFill>
                <a:schemeClr val="dk1"/>
              </a:solidFill>
              <a:latin typeface="Arial"/>
              <a:ea typeface="Arial"/>
              <a:cs typeface="Arial"/>
              <a:sym typeface="Arial"/>
            </a:endParaRPr>
          </a:p>
        </p:txBody>
      </p:sp>
      <p:sp>
        <p:nvSpPr>
          <p:cNvPr id="240" name="Google Shape;240;p10"/>
          <p:cNvSpPr/>
          <p:nvPr/>
        </p:nvSpPr>
        <p:spPr>
          <a:xfrm>
            <a:off x="514350" y="2880360"/>
            <a:ext cx="7955400" cy="30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1300"/>
              <a:buFont typeface="Arial"/>
              <a:buNone/>
            </a:pPr>
            <a:r>
              <a:t/>
            </a:r>
            <a:endParaRPr b="0" i="0" sz="1300" u="none" cap="none">
              <a:solidFill>
                <a:schemeClr val="dk1"/>
              </a:solidFill>
              <a:latin typeface="Arial"/>
              <a:ea typeface="Arial"/>
              <a:cs typeface="Arial"/>
              <a:sym typeface="Arial"/>
            </a:endParaRPr>
          </a:p>
        </p:txBody>
      </p:sp>
      <p:sp>
        <p:nvSpPr>
          <p:cNvPr id="241" name="Google Shape;241;p10"/>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8491"/>
              </a:buClr>
              <a:buSzPts val="600"/>
              <a:buFont typeface="Arial"/>
              <a:buNone/>
            </a:pPr>
            <a:fld id="{00000000-1234-1234-1234-123412341234}" type="slidenum">
              <a:rPr b="0" i="0" lang="en"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242" name="Google Shape;242;p10"/>
          <p:cNvSpPr/>
          <p:nvPr/>
        </p:nvSpPr>
        <p:spPr>
          <a:xfrm>
            <a:off x="447675" y="257175"/>
            <a:ext cx="8191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800">
                <a:solidFill>
                  <a:srgbClr val="159A9C"/>
                </a:solidFill>
                <a:latin typeface="Arial"/>
                <a:ea typeface="Arial"/>
                <a:cs typeface="Arial"/>
                <a:sym typeface="Arial"/>
              </a:rPr>
              <a:t>CONFIGURATION / DUC</a:t>
            </a:r>
            <a:endParaRPr/>
          </a:p>
        </p:txBody>
      </p:sp>
      <p:sp>
        <p:nvSpPr>
          <p:cNvPr id="243" name="Google Shape;243;p10"/>
          <p:cNvSpPr/>
          <p:nvPr/>
        </p:nvSpPr>
        <p:spPr>
          <a:xfrm>
            <a:off x="447675" y="495300"/>
            <a:ext cx="824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100">
                <a:solidFill>
                  <a:srgbClr val="17212B"/>
                </a:solidFill>
                <a:latin typeface="Arial"/>
                <a:ea typeface="Arial"/>
                <a:cs typeface="Arial"/>
                <a:sym typeface="Arial"/>
              </a:rPr>
              <a:t>Development and integration workflow</a:t>
            </a:r>
            <a:endParaRPr/>
          </a:p>
        </p:txBody>
      </p:sp>
      <p:sp>
        <p:nvSpPr>
          <p:cNvPr id="244" name="Google Shape;244;p10"/>
          <p:cNvSpPr/>
          <p:nvPr/>
        </p:nvSpPr>
        <p:spPr>
          <a:xfrm>
            <a:off x="522733" y="2251725"/>
            <a:ext cx="1381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125">
                <a:solidFill>
                  <a:srgbClr val="17212B"/>
                </a:solidFill>
                <a:latin typeface="Arial"/>
                <a:ea typeface="Arial"/>
                <a:cs typeface="Arial"/>
                <a:sym typeface="Arial"/>
              </a:rPr>
              <a:t>Feature branch</a:t>
            </a:r>
            <a:endParaRPr/>
          </a:p>
        </p:txBody>
      </p:sp>
      <p:sp>
        <p:nvSpPr>
          <p:cNvPr id="245" name="Google Shape;245;p10"/>
          <p:cNvSpPr/>
          <p:nvPr/>
        </p:nvSpPr>
        <p:spPr>
          <a:xfrm>
            <a:off x="522733" y="2566050"/>
            <a:ext cx="1381200" cy="43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900">
                <a:solidFill>
                  <a:srgbClr val="5F6B76"/>
                </a:solidFill>
                <a:latin typeface="Arial"/>
                <a:ea typeface="Arial"/>
                <a:cs typeface="Arial"/>
                <a:sym typeface="Arial"/>
              </a:rPr>
              <a:t>Implement a change</a:t>
            </a:r>
            <a:endParaRPr/>
          </a:p>
        </p:txBody>
      </p:sp>
      <p:sp>
        <p:nvSpPr>
          <p:cNvPr id="246" name="Google Shape;246;p10"/>
          <p:cNvSpPr/>
          <p:nvPr/>
        </p:nvSpPr>
        <p:spPr>
          <a:xfrm>
            <a:off x="2223517" y="2251725"/>
            <a:ext cx="1381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125">
                <a:solidFill>
                  <a:srgbClr val="17212B"/>
                </a:solidFill>
                <a:latin typeface="Arial"/>
                <a:ea typeface="Arial"/>
                <a:cs typeface="Arial"/>
                <a:sym typeface="Arial"/>
              </a:rPr>
              <a:t>Pull request</a:t>
            </a:r>
            <a:endParaRPr/>
          </a:p>
        </p:txBody>
      </p:sp>
      <p:sp>
        <p:nvSpPr>
          <p:cNvPr id="247" name="Google Shape;247;p10"/>
          <p:cNvSpPr/>
          <p:nvPr/>
        </p:nvSpPr>
        <p:spPr>
          <a:xfrm>
            <a:off x="2223517" y="2566050"/>
            <a:ext cx="1381200" cy="43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900">
                <a:solidFill>
                  <a:srgbClr val="5F6B76"/>
                </a:solidFill>
                <a:latin typeface="Arial"/>
                <a:ea typeface="Arial"/>
                <a:cs typeface="Arial"/>
                <a:sym typeface="Arial"/>
              </a:rPr>
              <a:t>Explain and compare</a:t>
            </a:r>
            <a:endParaRPr/>
          </a:p>
        </p:txBody>
      </p:sp>
      <p:sp>
        <p:nvSpPr>
          <p:cNvPr id="248" name="Google Shape;248;p10"/>
          <p:cNvSpPr/>
          <p:nvPr/>
        </p:nvSpPr>
        <p:spPr>
          <a:xfrm>
            <a:off x="3924301" y="2251725"/>
            <a:ext cx="1381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125">
                <a:solidFill>
                  <a:srgbClr val="17212B"/>
                </a:solidFill>
                <a:latin typeface="Arial"/>
                <a:ea typeface="Arial"/>
                <a:cs typeface="Arial"/>
                <a:sym typeface="Arial"/>
              </a:rPr>
              <a:t>Checks + review</a:t>
            </a:r>
            <a:endParaRPr/>
          </a:p>
        </p:txBody>
      </p:sp>
      <p:sp>
        <p:nvSpPr>
          <p:cNvPr id="249" name="Google Shape;249;p10"/>
          <p:cNvSpPr/>
          <p:nvPr/>
        </p:nvSpPr>
        <p:spPr>
          <a:xfrm>
            <a:off x="3924301" y="2566050"/>
            <a:ext cx="1381200" cy="43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900">
                <a:solidFill>
                  <a:srgbClr val="5F6B76"/>
                </a:solidFill>
                <a:latin typeface="Arial"/>
                <a:ea typeface="Arial"/>
                <a:cs typeface="Arial"/>
                <a:sym typeface="Arial"/>
              </a:rPr>
              <a:t>Tests, build and peer feedback</a:t>
            </a:r>
            <a:endParaRPr/>
          </a:p>
        </p:txBody>
      </p:sp>
      <p:sp>
        <p:nvSpPr>
          <p:cNvPr id="250" name="Google Shape;250;p10"/>
          <p:cNvSpPr/>
          <p:nvPr/>
        </p:nvSpPr>
        <p:spPr>
          <a:xfrm>
            <a:off x="5625085" y="2251725"/>
            <a:ext cx="1381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125">
                <a:solidFill>
                  <a:srgbClr val="17212B"/>
                </a:solidFill>
                <a:latin typeface="Arial"/>
                <a:ea typeface="Arial"/>
                <a:cs typeface="Arial"/>
                <a:sym typeface="Arial"/>
              </a:rPr>
              <a:t>develop</a:t>
            </a:r>
            <a:endParaRPr/>
          </a:p>
        </p:txBody>
      </p:sp>
      <p:sp>
        <p:nvSpPr>
          <p:cNvPr id="251" name="Google Shape;251;p10"/>
          <p:cNvSpPr/>
          <p:nvPr/>
        </p:nvSpPr>
        <p:spPr>
          <a:xfrm>
            <a:off x="5625085" y="2566050"/>
            <a:ext cx="1381200" cy="43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900">
                <a:solidFill>
                  <a:srgbClr val="5F6B76"/>
                </a:solidFill>
                <a:latin typeface="Arial"/>
                <a:ea typeface="Arial"/>
                <a:cs typeface="Arial"/>
                <a:sym typeface="Arial"/>
              </a:rPr>
              <a:t>Integrate the team’s </a:t>
            </a:r>
            <a:endParaRPr b="0" sz="900">
              <a:solidFill>
                <a:srgbClr val="5F6B76"/>
              </a:solidFill>
              <a:latin typeface="Arial"/>
              <a:ea typeface="Arial"/>
              <a:cs typeface="Arial"/>
              <a:sym typeface="Arial"/>
            </a:endParaRPr>
          </a:p>
          <a:p>
            <a:pPr indent="0" lvl="0" marL="0" marR="0" rtl="0" algn="l">
              <a:spcBef>
                <a:spcPts val="0"/>
              </a:spcBef>
              <a:spcAft>
                <a:spcPts val="0"/>
              </a:spcAft>
              <a:buNone/>
            </a:pPr>
            <a:r>
              <a:rPr b="0" lang="en" sz="900">
                <a:solidFill>
                  <a:srgbClr val="5F6B76"/>
                </a:solidFill>
                <a:latin typeface="Arial"/>
                <a:ea typeface="Arial"/>
                <a:cs typeface="Arial"/>
                <a:sym typeface="Arial"/>
              </a:rPr>
              <a:t>work</a:t>
            </a:r>
            <a:endParaRPr/>
          </a:p>
        </p:txBody>
      </p:sp>
      <p:sp>
        <p:nvSpPr>
          <p:cNvPr id="252" name="Google Shape;252;p10"/>
          <p:cNvSpPr/>
          <p:nvPr/>
        </p:nvSpPr>
        <p:spPr>
          <a:xfrm>
            <a:off x="7325869" y="2251725"/>
            <a:ext cx="13812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125">
                <a:solidFill>
                  <a:srgbClr val="17212B"/>
                </a:solidFill>
                <a:latin typeface="Arial"/>
                <a:ea typeface="Arial"/>
                <a:cs typeface="Arial"/>
                <a:sym typeface="Arial"/>
              </a:rPr>
              <a:t>main</a:t>
            </a:r>
            <a:endParaRPr/>
          </a:p>
        </p:txBody>
      </p:sp>
      <p:sp>
        <p:nvSpPr>
          <p:cNvPr id="253" name="Google Shape;253;p10"/>
          <p:cNvSpPr/>
          <p:nvPr/>
        </p:nvSpPr>
        <p:spPr>
          <a:xfrm>
            <a:off x="7325869" y="2566050"/>
            <a:ext cx="1381200" cy="438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900">
                <a:solidFill>
                  <a:srgbClr val="5F6B76"/>
                </a:solidFill>
                <a:latin typeface="Arial"/>
                <a:ea typeface="Arial"/>
                <a:cs typeface="Arial"/>
                <a:sym typeface="Arial"/>
              </a:rPr>
              <a:t>Release after validation</a:t>
            </a:r>
            <a:endParaRPr/>
          </a:p>
        </p:txBody>
      </p:sp>
      <p:sp>
        <p:nvSpPr>
          <p:cNvPr id="254" name="Google Shape;254;p10"/>
          <p:cNvSpPr/>
          <p:nvPr/>
        </p:nvSpPr>
        <p:spPr>
          <a:xfrm>
            <a:off x="514350" y="3745300"/>
            <a:ext cx="7905900" cy="247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350">
                <a:solidFill>
                  <a:srgbClr val="17212B"/>
                </a:solidFill>
                <a:latin typeface="Arial"/>
                <a:ea typeface="Arial"/>
                <a:cs typeface="Arial"/>
                <a:sym typeface="Arial"/>
              </a:rPr>
              <a:t>Implemented</a:t>
            </a:r>
            <a:endParaRPr/>
          </a:p>
        </p:txBody>
      </p:sp>
      <p:sp>
        <p:nvSpPr>
          <p:cNvPr id="255" name="Google Shape;255;p10"/>
          <p:cNvSpPr/>
          <p:nvPr/>
        </p:nvSpPr>
        <p:spPr>
          <a:xfrm>
            <a:off x="519075" y="3993100"/>
            <a:ext cx="8048700" cy="47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350">
                <a:solidFill>
                  <a:srgbClr val="5F6B76"/>
                </a:solidFill>
                <a:latin typeface="Arial"/>
                <a:ea typeface="Arial"/>
                <a:cs typeface="Arial"/>
                <a:sym typeface="Arial"/>
              </a:rPr>
              <a:t>Docker setup, dependency lockfile, GitHub Actions and reviewed PRs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1"/>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262" name="Google Shape;262;p11"/>
          <p:cNvSpPr/>
          <p:nvPr/>
        </p:nvSpPr>
        <p:spPr>
          <a:xfrm>
            <a:off x="445770" y="493776"/>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t/>
            </a:r>
            <a:endParaRPr b="0" i="0" sz="2100" u="none" cap="none">
              <a:solidFill>
                <a:schemeClr val="dk1"/>
              </a:solidFill>
              <a:latin typeface="Arial"/>
              <a:ea typeface="Arial"/>
              <a:cs typeface="Arial"/>
              <a:sym typeface="Arial"/>
            </a:endParaRPr>
          </a:p>
        </p:txBody>
      </p:sp>
      <p:sp>
        <p:nvSpPr>
          <p:cNvPr id="263" name="Google Shape;263;p11"/>
          <p:cNvSpPr/>
          <p:nvPr/>
        </p:nvSpPr>
        <p:spPr>
          <a:xfrm>
            <a:off x="514350" y="994410"/>
            <a:ext cx="3874800" cy="788700"/>
          </a:xfrm>
          <a:prstGeom prst="roundRect">
            <a:avLst>
              <a:gd fmla="val 695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64" name="Google Shape;264;p11"/>
          <p:cNvSpPr/>
          <p:nvPr/>
        </p:nvSpPr>
        <p:spPr>
          <a:xfrm>
            <a:off x="514350" y="994410"/>
            <a:ext cx="48000" cy="788700"/>
          </a:xfrm>
          <a:prstGeom prst="rect">
            <a:avLst/>
          </a:prstGeom>
          <a:solidFill>
            <a:srgbClr val="B85B5B"/>
          </a:solidFill>
          <a:ln cap="flat" cmpd="sng" w="12700">
            <a:solidFill>
              <a:srgbClr val="B85B5B"/>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65" name="Google Shape;265;p11"/>
          <p:cNvSpPr/>
          <p:nvPr/>
        </p:nvSpPr>
        <p:spPr>
          <a:xfrm>
            <a:off x="685800" y="1131570"/>
            <a:ext cx="35661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66" name="Google Shape;266;p11"/>
          <p:cNvSpPr/>
          <p:nvPr/>
        </p:nvSpPr>
        <p:spPr>
          <a:xfrm>
            <a:off x="685800" y="1419606"/>
            <a:ext cx="3566100" cy="25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67" name="Google Shape;267;p11"/>
          <p:cNvSpPr/>
          <p:nvPr/>
        </p:nvSpPr>
        <p:spPr>
          <a:xfrm>
            <a:off x="4663440" y="994410"/>
            <a:ext cx="3874800" cy="788700"/>
          </a:xfrm>
          <a:prstGeom prst="roundRect">
            <a:avLst>
              <a:gd fmla="val 695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68" name="Google Shape;268;p11"/>
          <p:cNvSpPr/>
          <p:nvPr/>
        </p:nvSpPr>
        <p:spPr>
          <a:xfrm>
            <a:off x="4663440" y="994410"/>
            <a:ext cx="48000" cy="78870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69" name="Google Shape;269;p11"/>
          <p:cNvSpPr/>
          <p:nvPr/>
        </p:nvSpPr>
        <p:spPr>
          <a:xfrm>
            <a:off x="4834890" y="1131570"/>
            <a:ext cx="35661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70" name="Google Shape;270;p11"/>
          <p:cNvSpPr/>
          <p:nvPr/>
        </p:nvSpPr>
        <p:spPr>
          <a:xfrm>
            <a:off x="4834890" y="1419606"/>
            <a:ext cx="3566100" cy="25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71" name="Google Shape;271;p11"/>
          <p:cNvSpPr/>
          <p:nvPr/>
        </p:nvSpPr>
        <p:spPr>
          <a:xfrm>
            <a:off x="514350" y="2057400"/>
            <a:ext cx="3874800" cy="788700"/>
          </a:xfrm>
          <a:prstGeom prst="roundRect">
            <a:avLst>
              <a:gd fmla="val 695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72" name="Google Shape;272;p11"/>
          <p:cNvSpPr/>
          <p:nvPr/>
        </p:nvSpPr>
        <p:spPr>
          <a:xfrm>
            <a:off x="514350" y="2057400"/>
            <a:ext cx="48000" cy="788700"/>
          </a:xfrm>
          <a:prstGeom prst="rect">
            <a:avLst/>
          </a:prstGeom>
          <a:solidFill>
            <a:srgbClr val="2C6EAA"/>
          </a:solidFill>
          <a:ln cap="flat" cmpd="sng" w="12700">
            <a:solidFill>
              <a:srgbClr val="2C6EAA"/>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73" name="Google Shape;273;p11"/>
          <p:cNvSpPr/>
          <p:nvPr/>
        </p:nvSpPr>
        <p:spPr>
          <a:xfrm>
            <a:off x="685800" y="2194560"/>
            <a:ext cx="35661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74" name="Google Shape;274;p11"/>
          <p:cNvSpPr/>
          <p:nvPr/>
        </p:nvSpPr>
        <p:spPr>
          <a:xfrm>
            <a:off x="685800" y="2482596"/>
            <a:ext cx="3566100" cy="25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75" name="Google Shape;275;p11"/>
          <p:cNvSpPr/>
          <p:nvPr/>
        </p:nvSpPr>
        <p:spPr>
          <a:xfrm>
            <a:off x="4663440" y="2057400"/>
            <a:ext cx="3874800" cy="788700"/>
          </a:xfrm>
          <a:prstGeom prst="roundRect">
            <a:avLst>
              <a:gd fmla="val 695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76" name="Google Shape;276;p11"/>
          <p:cNvSpPr/>
          <p:nvPr/>
        </p:nvSpPr>
        <p:spPr>
          <a:xfrm>
            <a:off x="4663440" y="2057400"/>
            <a:ext cx="48000" cy="788700"/>
          </a:xfrm>
          <a:prstGeom prst="rect">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77" name="Google Shape;277;p11"/>
          <p:cNvSpPr/>
          <p:nvPr/>
        </p:nvSpPr>
        <p:spPr>
          <a:xfrm>
            <a:off x="4834890" y="2194560"/>
            <a:ext cx="35661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78" name="Google Shape;278;p11"/>
          <p:cNvSpPr/>
          <p:nvPr/>
        </p:nvSpPr>
        <p:spPr>
          <a:xfrm>
            <a:off x="4834890" y="2482596"/>
            <a:ext cx="3566100" cy="25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79" name="Google Shape;279;p11"/>
          <p:cNvSpPr/>
          <p:nvPr/>
        </p:nvSpPr>
        <p:spPr>
          <a:xfrm>
            <a:off x="514350" y="3120390"/>
            <a:ext cx="3874800" cy="788700"/>
          </a:xfrm>
          <a:prstGeom prst="roundRect">
            <a:avLst>
              <a:gd fmla="val 695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80" name="Google Shape;280;p11"/>
          <p:cNvSpPr/>
          <p:nvPr/>
        </p:nvSpPr>
        <p:spPr>
          <a:xfrm>
            <a:off x="514350" y="3120390"/>
            <a:ext cx="48000" cy="788700"/>
          </a:xfrm>
          <a:prstGeom prst="rect">
            <a:avLst/>
          </a:prstGeom>
          <a:solidFill>
            <a:srgbClr val="D77A32"/>
          </a:solidFill>
          <a:ln cap="flat" cmpd="sng" w="12700">
            <a:solidFill>
              <a:srgbClr val="D77A32"/>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81" name="Google Shape;281;p11"/>
          <p:cNvSpPr/>
          <p:nvPr/>
        </p:nvSpPr>
        <p:spPr>
          <a:xfrm>
            <a:off x="685800" y="3257550"/>
            <a:ext cx="35661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82" name="Google Shape;282;p11"/>
          <p:cNvSpPr/>
          <p:nvPr/>
        </p:nvSpPr>
        <p:spPr>
          <a:xfrm>
            <a:off x="685800" y="3545586"/>
            <a:ext cx="3566100" cy="25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83" name="Google Shape;283;p11"/>
          <p:cNvSpPr/>
          <p:nvPr/>
        </p:nvSpPr>
        <p:spPr>
          <a:xfrm>
            <a:off x="4663440" y="3120390"/>
            <a:ext cx="3874800" cy="788700"/>
          </a:xfrm>
          <a:prstGeom prst="roundRect">
            <a:avLst>
              <a:gd fmla="val 6957" name="adj"/>
            </a:avLst>
          </a:prstGeom>
          <a:solidFill>
            <a:srgbClr val="FFFFFF"/>
          </a:solidFill>
          <a:ln cap="flat" cmpd="sng" w="12700">
            <a:solidFill>
              <a:srgbClr val="D9E0E6"/>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84" name="Google Shape;284;p11"/>
          <p:cNvSpPr/>
          <p:nvPr/>
        </p:nvSpPr>
        <p:spPr>
          <a:xfrm>
            <a:off x="4663440" y="3120390"/>
            <a:ext cx="48000" cy="788700"/>
          </a:xfrm>
          <a:prstGeom prst="rect">
            <a:avLst/>
          </a:prstGeom>
          <a:solidFill>
            <a:srgbClr val="5C8F68"/>
          </a:solidFill>
          <a:ln cap="flat" cmpd="sng" w="12700">
            <a:solidFill>
              <a:srgbClr val="5C8F68"/>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285" name="Google Shape;285;p11"/>
          <p:cNvSpPr/>
          <p:nvPr/>
        </p:nvSpPr>
        <p:spPr>
          <a:xfrm>
            <a:off x="4834890" y="3257550"/>
            <a:ext cx="3566100" cy="20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1200"/>
              <a:buFont typeface="Arial"/>
              <a:buNone/>
            </a:pPr>
            <a:r>
              <a:t/>
            </a:r>
            <a:endParaRPr b="0" i="0" sz="1200" u="none" cap="none">
              <a:solidFill>
                <a:schemeClr val="dk1"/>
              </a:solidFill>
              <a:latin typeface="Arial"/>
              <a:ea typeface="Arial"/>
              <a:cs typeface="Arial"/>
              <a:sym typeface="Arial"/>
            </a:endParaRPr>
          </a:p>
        </p:txBody>
      </p:sp>
      <p:sp>
        <p:nvSpPr>
          <p:cNvPr id="286" name="Google Shape;286;p11"/>
          <p:cNvSpPr/>
          <p:nvPr/>
        </p:nvSpPr>
        <p:spPr>
          <a:xfrm>
            <a:off x="4834890" y="3545586"/>
            <a:ext cx="3566100" cy="253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287" name="Google Shape;287;p11"/>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8491"/>
              </a:buClr>
              <a:buSzPts val="600"/>
              <a:buFont typeface="Arial"/>
              <a:buNone/>
            </a:pPr>
            <a:fld id="{00000000-1234-1234-1234-123412341234}" type="slidenum">
              <a:rPr b="0" i="0" lang="en"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288" name="Google Shape;288;p11"/>
          <p:cNvSpPr/>
          <p:nvPr/>
        </p:nvSpPr>
        <p:spPr>
          <a:xfrm>
            <a:off x="447675" y="257175"/>
            <a:ext cx="8191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800">
                <a:solidFill>
                  <a:srgbClr val="159A9C"/>
                </a:solidFill>
                <a:latin typeface="Arial"/>
                <a:ea typeface="Arial"/>
                <a:cs typeface="Arial"/>
                <a:sym typeface="Arial"/>
              </a:rPr>
              <a:t>SECURITY / MILES</a:t>
            </a:r>
            <a:endParaRPr/>
          </a:p>
        </p:txBody>
      </p:sp>
      <p:sp>
        <p:nvSpPr>
          <p:cNvPr id="289" name="Google Shape;289;p11"/>
          <p:cNvSpPr/>
          <p:nvPr/>
        </p:nvSpPr>
        <p:spPr>
          <a:xfrm>
            <a:off x="447675" y="495300"/>
            <a:ext cx="824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100">
                <a:solidFill>
                  <a:srgbClr val="17212B"/>
                </a:solidFill>
                <a:latin typeface="Arial"/>
                <a:ea typeface="Arial"/>
                <a:cs typeface="Arial"/>
                <a:sym typeface="Arial"/>
              </a:rPr>
              <a:t>Security: implemented and next</a:t>
            </a:r>
            <a:endParaRPr/>
          </a:p>
        </p:txBody>
      </p:sp>
      <p:sp>
        <p:nvSpPr>
          <p:cNvPr id="290" name="Google Shape;290;p11"/>
          <p:cNvSpPr/>
          <p:nvPr/>
        </p:nvSpPr>
        <p:spPr>
          <a:xfrm>
            <a:off x="685800" y="1131570"/>
            <a:ext cx="3566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Password protection</a:t>
            </a:r>
            <a:endParaRPr/>
          </a:p>
        </p:txBody>
      </p:sp>
      <p:sp>
        <p:nvSpPr>
          <p:cNvPr id="291" name="Google Shape;291;p11"/>
          <p:cNvSpPr/>
          <p:nvPr/>
        </p:nvSpPr>
        <p:spPr>
          <a:xfrm>
            <a:off x="685800" y="1455420"/>
            <a:ext cx="356610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Store password hashes. Return generic login failures.</a:t>
            </a:r>
            <a:endParaRPr/>
          </a:p>
        </p:txBody>
      </p:sp>
      <p:sp>
        <p:nvSpPr>
          <p:cNvPr id="292" name="Google Shape;292;p11"/>
          <p:cNvSpPr/>
          <p:nvPr/>
        </p:nvSpPr>
        <p:spPr>
          <a:xfrm>
            <a:off x="4834890" y="1131570"/>
            <a:ext cx="3566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Authentication and ownership</a:t>
            </a:r>
            <a:endParaRPr/>
          </a:p>
        </p:txBody>
      </p:sp>
      <p:sp>
        <p:nvSpPr>
          <p:cNvPr id="293" name="Google Shape;293;p11"/>
          <p:cNvSpPr/>
          <p:nvPr/>
        </p:nvSpPr>
        <p:spPr>
          <a:xfrm>
            <a:off x="4834890" y="1455420"/>
            <a:ext cx="356610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Require login and check the owner of every deck/card operation.</a:t>
            </a:r>
            <a:endParaRPr/>
          </a:p>
        </p:txBody>
      </p:sp>
      <p:sp>
        <p:nvSpPr>
          <p:cNvPr id="294" name="Google Shape;294;p11"/>
          <p:cNvSpPr/>
          <p:nvPr/>
        </p:nvSpPr>
        <p:spPr>
          <a:xfrm>
            <a:off x="685800" y="2194560"/>
            <a:ext cx="3566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Input and query safety</a:t>
            </a:r>
            <a:endParaRPr/>
          </a:p>
        </p:txBody>
      </p:sp>
      <p:sp>
        <p:nvSpPr>
          <p:cNvPr id="295" name="Google Shape;295;p11"/>
          <p:cNvSpPr/>
          <p:nvPr/>
        </p:nvSpPr>
        <p:spPr>
          <a:xfrm>
            <a:off x="685800" y="2518410"/>
            <a:ext cx="356610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Validate fields, limit request size and use SQLAlchemy queries.</a:t>
            </a:r>
            <a:endParaRPr/>
          </a:p>
        </p:txBody>
      </p:sp>
      <p:sp>
        <p:nvSpPr>
          <p:cNvPr id="296" name="Google Shape;296;p11"/>
          <p:cNvSpPr/>
          <p:nvPr/>
        </p:nvSpPr>
        <p:spPr>
          <a:xfrm>
            <a:off x="4834890" y="2194560"/>
            <a:ext cx="3566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Automated review</a:t>
            </a:r>
            <a:endParaRPr/>
          </a:p>
        </p:txBody>
      </p:sp>
      <p:sp>
        <p:nvSpPr>
          <p:cNvPr id="297" name="Google Shape;297;p11"/>
          <p:cNvSpPr/>
          <p:nvPr/>
        </p:nvSpPr>
        <p:spPr>
          <a:xfrm>
            <a:off x="4834890" y="2518410"/>
            <a:ext cx="356610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CodeQL scanning and dependency update tooling support review.</a:t>
            </a:r>
            <a:endParaRPr/>
          </a:p>
        </p:txBody>
      </p:sp>
      <p:sp>
        <p:nvSpPr>
          <p:cNvPr id="298" name="Google Shape;298;p11"/>
          <p:cNvSpPr/>
          <p:nvPr/>
        </p:nvSpPr>
        <p:spPr>
          <a:xfrm>
            <a:off x="685800" y="3257550"/>
            <a:ext cx="3566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Next: deployment review</a:t>
            </a:r>
            <a:endParaRPr/>
          </a:p>
        </p:txBody>
      </p:sp>
      <p:sp>
        <p:nvSpPr>
          <p:cNvPr id="299" name="Google Shape;299;p11"/>
          <p:cNvSpPr/>
          <p:nvPr/>
        </p:nvSpPr>
        <p:spPr>
          <a:xfrm>
            <a:off x="685800" y="3581400"/>
            <a:ext cx="356610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Confirm HTTPS, production cookie settings and secret configuration.</a:t>
            </a:r>
            <a:endParaRPr/>
          </a:p>
        </p:txBody>
      </p:sp>
      <p:sp>
        <p:nvSpPr>
          <p:cNvPr id="300" name="Google Shape;300;p11"/>
          <p:cNvSpPr/>
          <p:nvPr/>
        </p:nvSpPr>
        <p:spPr>
          <a:xfrm>
            <a:off x="4834890" y="3257550"/>
            <a:ext cx="3566100" cy="266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Next: broader security testing</a:t>
            </a:r>
            <a:endParaRPr/>
          </a:p>
        </p:txBody>
      </p:sp>
      <p:sp>
        <p:nvSpPr>
          <p:cNvPr id="301" name="Google Shape;301;p11"/>
          <p:cNvSpPr/>
          <p:nvPr/>
        </p:nvSpPr>
        <p:spPr>
          <a:xfrm>
            <a:off x="4834890" y="3581400"/>
            <a:ext cx="3566100" cy="419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050">
                <a:solidFill>
                  <a:srgbClr val="5F6B76"/>
                </a:solidFill>
                <a:latin typeface="Arial"/>
                <a:ea typeface="Arial"/>
                <a:cs typeface="Arial"/>
                <a:sym typeface="Arial"/>
              </a:rPr>
              <a:t>Assess CSRF protection and the scope of dynamic scanning.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2"/>
          <p:cNvSpPr/>
          <p:nvPr/>
        </p:nvSpPr>
        <p:spPr>
          <a:xfrm>
            <a:off x="445770" y="260604"/>
            <a:ext cx="3429000" cy="1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308" name="Google Shape;308;p12"/>
          <p:cNvSpPr/>
          <p:nvPr/>
        </p:nvSpPr>
        <p:spPr>
          <a:xfrm>
            <a:off x="447670" y="1351751"/>
            <a:ext cx="8229600" cy="377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7212B"/>
              </a:buClr>
              <a:buSzPts val="2100"/>
              <a:buFont typeface="Arial"/>
              <a:buNone/>
            </a:pPr>
            <a:r>
              <a:t/>
            </a:r>
            <a:endParaRPr b="0" i="0" sz="2100" u="none" cap="none">
              <a:solidFill>
                <a:schemeClr val="dk1"/>
              </a:solidFill>
              <a:latin typeface="Arial"/>
              <a:ea typeface="Arial"/>
              <a:cs typeface="Arial"/>
              <a:sym typeface="Arial"/>
            </a:endParaRPr>
          </a:p>
        </p:txBody>
      </p:sp>
      <p:sp>
        <p:nvSpPr>
          <p:cNvPr id="309" name="Google Shape;309;p12"/>
          <p:cNvSpPr/>
          <p:nvPr/>
        </p:nvSpPr>
        <p:spPr>
          <a:xfrm>
            <a:off x="982594" y="1920965"/>
            <a:ext cx="493800" cy="493800"/>
          </a:xfrm>
          <a:prstGeom prst="ellipse">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10" name="Google Shape;310;p12"/>
          <p:cNvSpPr/>
          <p:nvPr/>
        </p:nvSpPr>
        <p:spPr>
          <a:xfrm>
            <a:off x="982594" y="2037551"/>
            <a:ext cx="493800" cy="137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t/>
            </a:r>
            <a:endParaRPr b="0" i="0" sz="1100" u="none" cap="none">
              <a:solidFill>
                <a:schemeClr val="dk1"/>
              </a:solidFill>
              <a:latin typeface="Arial"/>
              <a:ea typeface="Arial"/>
              <a:cs typeface="Arial"/>
              <a:sym typeface="Arial"/>
            </a:endParaRPr>
          </a:p>
        </p:txBody>
      </p:sp>
      <p:sp>
        <p:nvSpPr>
          <p:cNvPr id="311" name="Google Shape;311;p12"/>
          <p:cNvSpPr/>
          <p:nvPr/>
        </p:nvSpPr>
        <p:spPr>
          <a:xfrm>
            <a:off x="1558666" y="2044409"/>
            <a:ext cx="3771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12" name="Google Shape;312;p12"/>
          <p:cNvSpPr/>
          <p:nvPr/>
        </p:nvSpPr>
        <p:spPr>
          <a:xfrm>
            <a:off x="447670" y="2606765"/>
            <a:ext cx="1543200" cy="24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313" name="Google Shape;313;p12"/>
          <p:cNvSpPr/>
          <p:nvPr/>
        </p:nvSpPr>
        <p:spPr>
          <a:xfrm>
            <a:off x="447670" y="2949665"/>
            <a:ext cx="1543200" cy="720000"/>
          </a:xfrm>
          <a:prstGeom prst="rect">
            <a:avLst/>
          </a:prstGeom>
          <a:noFill/>
          <a:ln>
            <a:noFill/>
          </a:ln>
        </p:spPr>
        <p:txBody>
          <a:bodyPr anchorCtr="0" anchor="t" bIns="0" lIns="0" spcFirstLastPara="1" rIns="0" wrap="square" tIns="0">
            <a:noAutofit/>
          </a:bodyPr>
          <a:lstStyle/>
          <a:p>
            <a:pPr indent="0" lvl="0" marL="0" marR="0" rtl="0" algn="ctr">
              <a:lnSpc>
                <a:spcPct val="115000"/>
              </a:lnSpc>
              <a:spcBef>
                <a:spcPts val="1200"/>
              </a:spcBef>
              <a:spcAft>
                <a:spcPts val="0"/>
              </a:spcAft>
              <a:buClr>
                <a:schemeClr val="dk1"/>
              </a:buClr>
              <a:buSzPts val="1100"/>
              <a:buFont typeface="Arial"/>
              <a:buNone/>
            </a:pPr>
            <a:r>
              <a:t/>
            </a:r>
            <a:endParaRPr sz="900">
              <a:solidFill>
                <a:srgbClr val="5F6B76"/>
              </a:solidFill>
            </a:endParaRPr>
          </a:p>
        </p:txBody>
      </p:sp>
      <p:sp>
        <p:nvSpPr>
          <p:cNvPr id="314" name="Google Shape;314;p12"/>
          <p:cNvSpPr/>
          <p:nvPr/>
        </p:nvSpPr>
        <p:spPr>
          <a:xfrm>
            <a:off x="2683378" y="1920965"/>
            <a:ext cx="493800" cy="493800"/>
          </a:xfrm>
          <a:prstGeom prst="ellipse">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15" name="Google Shape;315;p12"/>
          <p:cNvSpPr/>
          <p:nvPr/>
        </p:nvSpPr>
        <p:spPr>
          <a:xfrm>
            <a:off x="2683378" y="2037551"/>
            <a:ext cx="493800" cy="137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t/>
            </a:r>
            <a:endParaRPr b="0" i="0" sz="1100" u="none" cap="none">
              <a:solidFill>
                <a:schemeClr val="dk1"/>
              </a:solidFill>
              <a:latin typeface="Arial"/>
              <a:ea typeface="Arial"/>
              <a:cs typeface="Arial"/>
              <a:sym typeface="Arial"/>
            </a:endParaRPr>
          </a:p>
        </p:txBody>
      </p:sp>
      <p:sp>
        <p:nvSpPr>
          <p:cNvPr id="316" name="Google Shape;316;p12"/>
          <p:cNvSpPr/>
          <p:nvPr/>
        </p:nvSpPr>
        <p:spPr>
          <a:xfrm>
            <a:off x="3259450" y="2044409"/>
            <a:ext cx="3771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17" name="Google Shape;317;p12"/>
          <p:cNvSpPr/>
          <p:nvPr/>
        </p:nvSpPr>
        <p:spPr>
          <a:xfrm>
            <a:off x="2148454" y="2606765"/>
            <a:ext cx="1543200" cy="24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318" name="Google Shape;318;p12"/>
          <p:cNvSpPr/>
          <p:nvPr/>
        </p:nvSpPr>
        <p:spPr>
          <a:xfrm>
            <a:off x="2148454" y="2949665"/>
            <a:ext cx="1543200" cy="72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319" name="Google Shape;319;p12"/>
          <p:cNvSpPr/>
          <p:nvPr/>
        </p:nvSpPr>
        <p:spPr>
          <a:xfrm>
            <a:off x="4384162" y="1920965"/>
            <a:ext cx="493800" cy="493800"/>
          </a:xfrm>
          <a:prstGeom prst="ellipse">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20" name="Google Shape;320;p12"/>
          <p:cNvSpPr/>
          <p:nvPr/>
        </p:nvSpPr>
        <p:spPr>
          <a:xfrm>
            <a:off x="4384162" y="2037551"/>
            <a:ext cx="493800" cy="137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t/>
            </a:r>
            <a:endParaRPr b="0" i="0" sz="1100" u="none" cap="none">
              <a:solidFill>
                <a:schemeClr val="dk1"/>
              </a:solidFill>
              <a:latin typeface="Arial"/>
              <a:ea typeface="Arial"/>
              <a:cs typeface="Arial"/>
              <a:sym typeface="Arial"/>
            </a:endParaRPr>
          </a:p>
        </p:txBody>
      </p:sp>
      <p:sp>
        <p:nvSpPr>
          <p:cNvPr id="321" name="Google Shape;321;p12"/>
          <p:cNvSpPr/>
          <p:nvPr/>
        </p:nvSpPr>
        <p:spPr>
          <a:xfrm>
            <a:off x="4960234" y="2044409"/>
            <a:ext cx="3771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22" name="Google Shape;322;p12"/>
          <p:cNvSpPr/>
          <p:nvPr/>
        </p:nvSpPr>
        <p:spPr>
          <a:xfrm>
            <a:off x="3849238" y="2606765"/>
            <a:ext cx="1543200" cy="24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323" name="Google Shape;323;p12"/>
          <p:cNvSpPr/>
          <p:nvPr/>
        </p:nvSpPr>
        <p:spPr>
          <a:xfrm>
            <a:off x="3849238" y="2949665"/>
            <a:ext cx="1543200" cy="72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324" name="Google Shape;324;p12"/>
          <p:cNvSpPr/>
          <p:nvPr/>
        </p:nvSpPr>
        <p:spPr>
          <a:xfrm>
            <a:off x="6084946" y="1920965"/>
            <a:ext cx="493800" cy="493800"/>
          </a:xfrm>
          <a:prstGeom prst="ellipse">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25" name="Google Shape;325;p12"/>
          <p:cNvSpPr/>
          <p:nvPr/>
        </p:nvSpPr>
        <p:spPr>
          <a:xfrm>
            <a:off x="6084946" y="2037551"/>
            <a:ext cx="493800" cy="137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t/>
            </a:r>
            <a:endParaRPr b="0" i="0" sz="1100" u="none" cap="none">
              <a:solidFill>
                <a:schemeClr val="dk1"/>
              </a:solidFill>
              <a:latin typeface="Arial"/>
              <a:ea typeface="Arial"/>
              <a:cs typeface="Arial"/>
              <a:sym typeface="Arial"/>
            </a:endParaRPr>
          </a:p>
        </p:txBody>
      </p:sp>
      <p:sp>
        <p:nvSpPr>
          <p:cNvPr id="326" name="Google Shape;326;p12"/>
          <p:cNvSpPr/>
          <p:nvPr/>
        </p:nvSpPr>
        <p:spPr>
          <a:xfrm>
            <a:off x="6661018" y="2044409"/>
            <a:ext cx="377100" cy="240000"/>
          </a:xfrm>
          <a:prstGeom prst="chevron">
            <a:avLst>
              <a:gd fmla="val 50000" name="adj"/>
            </a:avLst>
          </a:prstGeom>
          <a:solidFill>
            <a:srgbClr val="C9D7DC"/>
          </a:solidFill>
          <a:ln cap="flat" cmpd="sng" w="12700">
            <a:solidFill>
              <a:srgbClr val="C9D7D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27" name="Google Shape;327;p12"/>
          <p:cNvSpPr/>
          <p:nvPr/>
        </p:nvSpPr>
        <p:spPr>
          <a:xfrm>
            <a:off x="5550022" y="2606765"/>
            <a:ext cx="1543200" cy="24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328" name="Google Shape;328;p12"/>
          <p:cNvSpPr/>
          <p:nvPr/>
        </p:nvSpPr>
        <p:spPr>
          <a:xfrm>
            <a:off x="5550022" y="2949665"/>
            <a:ext cx="1543200" cy="72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329" name="Google Shape;329;p12"/>
          <p:cNvSpPr/>
          <p:nvPr/>
        </p:nvSpPr>
        <p:spPr>
          <a:xfrm>
            <a:off x="7785730" y="1920965"/>
            <a:ext cx="493800" cy="493800"/>
          </a:xfrm>
          <a:prstGeom prst="ellipse">
            <a:avLst/>
          </a:prstGeom>
          <a:solidFill>
            <a:srgbClr val="159A9C"/>
          </a:solidFill>
          <a:ln cap="flat" cmpd="sng" w="12700">
            <a:solidFill>
              <a:srgbClr val="159A9C"/>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spcBef>
                <a:spcPts val="0"/>
              </a:spcBef>
              <a:spcAft>
                <a:spcPts val="0"/>
              </a:spcAft>
              <a:buSzPts val="1800"/>
              <a:buFont typeface="Arial"/>
              <a:buNone/>
            </a:pPr>
            <a:r>
              <a:t/>
            </a:r>
            <a:endParaRPr sz="1800"/>
          </a:p>
        </p:txBody>
      </p:sp>
      <p:sp>
        <p:nvSpPr>
          <p:cNvPr id="330" name="Google Shape;330;p12"/>
          <p:cNvSpPr/>
          <p:nvPr/>
        </p:nvSpPr>
        <p:spPr>
          <a:xfrm>
            <a:off x="7785730" y="2037551"/>
            <a:ext cx="493800" cy="1371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FFFFFF"/>
              </a:buClr>
              <a:buSzPts val="1100"/>
              <a:buFont typeface="Arial"/>
              <a:buNone/>
            </a:pPr>
            <a:r>
              <a:t/>
            </a:r>
            <a:endParaRPr b="0" i="0" sz="1100" u="none" cap="none">
              <a:solidFill>
                <a:schemeClr val="dk1"/>
              </a:solidFill>
              <a:latin typeface="Arial"/>
              <a:ea typeface="Arial"/>
              <a:cs typeface="Arial"/>
              <a:sym typeface="Arial"/>
            </a:endParaRPr>
          </a:p>
        </p:txBody>
      </p:sp>
      <p:sp>
        <p:nvSpPr>
          <p:cNvPr id="331" name="Google Shape;331;p12"/>
          <p:cNvSpPr/>
          <p:nvPr/>
        </p:nvSpPr>
        <p:spPr>
          <a:xfrm>
            <a:off x="7250806" y="2606765"/>
            <a:ext cx="1543200" cy="24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7212B"/>
              </a:buClr>
              <a:buSzPts val="1100"/>
              <a:buFont typeface="Arial"/>
              <a:buNone/>
            </a:pPr>
            <a:r>
              <a:t/>
            </a:r>
            <a:endParaRPr b="0" i="0" sz="1100" u="none" cap="none">
              <a:solidFill>
                <a:schemeClr val="dk1"/>
              </a:solidFill>
              <a:latin typeface="Arial"/>
              <a:ea typeface="Arial"/>
              <a:cs typeface="Arial"/>
              <a:sym typeface="Arial"/>
            </a:endParaRPr>
          </a:p>
        </p:txBody>
      </p:sp>
      <p:sp>
        <p:nvSpPr>
          <p:cNvPr id="332" name="Google Shape;332;p12"/>
          <p:cNvSpPr/>
          <p:nvPr/>
        </p:nvSpPr>
        <p:spPr>
          <a:xfrm>
            <a:off x="7250806" y="2949665"/>
            <a:ext cx="1543200" cy="7200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F6B76"/>
              </a:buClr>
              <a:buSzPts val="900"/>
              <a:buFont typeface="Arial"/>
              <a:buNone/>
            </a:pPr>
            <a:r>
              <a:t/>
            </a:r>
            <a:endParaRPr b="0" i="0" sz="900" u="none" cap="none">
              <a:solidFill>
                <a:schemeClr val="dk1"/>
              </a:solidFill>
              <a:latin typeface="Arial"/>
              <a:ea typeface="Arial"/>
              <a:cs typeface="Arial"/>
              <a:sym typeface="Arial"/>
            </a:endParaRPr>
          </a:p>
        </p:txBody>
      </p:sp>
      <p:sp>
        <p:nvSpPr>
          <p:cNvPr id="333" name="Google Shape;333;p12"/>
          <p:cNvSpPr/>
          <p:nvPr/>
        </p:nvSpPr>
        <p:spPr>
          <a:xfrm>
            <a:off x="548640" y="3634740"/>
            <a:ext cx="8023800" cy="274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2C6EAA"/>
              </a:buClr>
              <a:buSzPts val="1400"/>
              <a:buFont typeface="Arial"/>
              <a:buNone/>
            </a:pPr>
            <a:r>
              <a:t/>
            </a:r>
            <a:endParaRPr b="0" i="0" sz="1400" u="none" cap="none">
              <a:solidFill>
                <a:schemeClr val="dk1"/>
              </a:solidFill>
              <a:latin typeface="Arial"/>
              <a:ea typeface="Arial"/>
              <a:cs typeface="Arial"/>
              <a:sym typeface="Arial"/>
            </a:endParaRPr>
          </a:p>
        </p:txBody>
      </p:sp>
      <p:sp>
        <p:nvSpPr>
          <p:cNvPr id="334" name="Google Shape;334;p12"/>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8491"/>
              </a:buClr>
              <a:buSzPts val="600"/>
              <a:buFont typeface="Arial"/>
              <a:buNone/>
            </a:pPr>
            <a:fld id="{00000000-1234-1234-1234-123412341234}" type="slidenum">
              <a:rPr b="0" i="0" lang="en"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335" name="Google Shape;335;p12"/>
          <p:cNvSpPr/>
          <p:nvPr/>
        </p:nvSpPr>
        <p:spPr>
          <a:xfrm>
            <a:off x="447675" y="257175"/>
            <a:ext cx="81915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800">
                <a:solidFill>
                  <a:srgbClr val="159A9C"/>
                </a:solidFill>
                <a:latin typeface="Arial"/>
                <a:ea typeface="Arial"/>
                <a:cs typeface="Arial"/>
                <a:sym typeface="Arial"/>
              </a:rPr>
              <a:t>LIVE DEMO / ABOUT 3 MINUTES</a:t>
            </a:r>
            <a:endParaRPr/>
          </a:p>
        </p:txBody>
      </p:sp>
      <p:sp>
        <p:nvSpPr>
          <p:cNvPr id="336" name="Google Shape;336;p12"/>
          <p:cNvSpPr/>
          <p:nvPr/>
        </p:nvSpPr>
        <p:spPr>
          <a:xfrm>
            <a:off x="438075" y="585838"/>
            <a:ext cx="82488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100">
                <a:solidFill>
                  <a:srgbClr val="17212B"/>
                </a:solidFill>
                <a:latin typeface="Arial"/>
                <a:ea typeface="Arial"/>
                <a:cs typeface="Arial"/>
                <a:sym typeface="Arial"/>
              </a:rPr>
              <a:t>The complete user flow (Iteration 1)</a:t>
            </a:r>
            <a:endParaRPr/>
          </a:p>
        </p:txBody>
      </p:sp>
      <p:sp>
        <p:nvSpPr>
          <p:cNvPr id="337" name="Google Shape;337;p12"/>
          <p:cNvSpPr/>
          <p:nvPr/>
        </p:nvSpPr>
        <p:spPr>
          <a:xfrm>
            <a:off x="982975" y="2039075"/>
            <a:ext cx="4953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 sz="1350">
                <a:solidFill>
                  <a:srgbClr val="FFFFFF"/>
                </a:solidFill>
                <a:latin typeface="Arial"/>
                <a:ea typeface="Arial"/>
                <a:cs typeface="Arial"/>
                <a:sym typeface="Arial"/>
              </a:rPr>
              <a:t>1</a:t>
            </a:r>
            <a:endParaRPr/>
          </a:p>
        </p:txBody>
      </p:sp>
      <p:sp>
        <p:nvSpPr>
          <p:cNvPr id="338" name="Google Shape;338;p12"/>
          <p:cNvSpPr/>
          <p:nvPr/>
        </p:nvSpPr>
        <p:spPr>
          <a:xfrm>
            <a:off x="2683759" y="2039075"/>
            <a:ext cx="4953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 sz="1350">
                <a:solidFill>
                  <a:srgbClr val="FFFFFF"/>
                </a:solidFill>
                <a:latin typeface="Arial"/>
                <a:ea typeface="Arial"/>
                <a:cs typeface="Arial"/>
                <a:sym typeface="Arial"/>
              </a:rPr>
              <a:t>2</a:t>
            </a:r>
            <a:endParaRPr/>
          </a:p>
        </p:txBody>
      </p:sp>
      <p:sp>
        <p:nvSpPr>
          <p:cNvPr id="339" name="Google Shape;339;p12"/>
          <p:cNvSpPr/>
          <p:nvPr/>
        </p:nvSpPr>
        <p:spPr>
          <a:xfrm>
            <a:off x="4384543" y="2039075"/>
            <a:ext cx="4953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 sz="1350">
                <a:solidFill>
                  <a:srgbClr val="FFFFFF"/>
                </a:solidFill>
                <a:latin typeface="Arial"/>
                <a:ea typeface="Arial"/>
                <a:cs typeface="Arial"/>
                <a:sym typeface="Arial"/>
              </a:rPr>
              <a:t>3</a:t>
            </a:r>
            <a:endParaRPr/>
          </a:p>
        </p:txBody>
      </p:sp>
      <p:sp>
        <p:nvSpPr>
          <p:cNvPr id="340" name="Google Shape;340;p12"/>
          <p:cNvSpPr/>
          <p:nvPr/>
        </p:nvSpPr>
        <p:spPr>
          <a:xfrm>
            <a:off x="6085327" y="2039075"/>
            <a:ext cx="4953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 sz="1350">
                <a:solidFill>
                  <a:srgbClr val="FFFFFF"/>
                </a:solidFill>
                <a:latin typeface="Arial"/>
                <a:ea typeface="Arial"/>
                <a:cs typeface="Arial"/>
                <a:sym typeface="Arial"/>
              </a:rPr>
              <a:t>4</a:t>
            </a:r>
            <a:endParaRPr/>
          </a:p>
        </p:txBody>
      </p:sp>
      <p:sp>
        <p:nvSpPr>
          <p:cNvPr id="341" name="Google Shape;341;p12"/>
          <p:cNvSpPr/>
          <p:nvPr/>
        </p:nvSpPr>
        <p:spPr>
          <a:xfrm>
            <a:off x="7786111" y="2039075"/>
            <a:ext cx="495300" cy="238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1" lang="en" sz="1350">
                <a:solidFill>
                  <a:srgbClr val="FFFFFF"/>
                </a:solidFill>
                <a:latin typeface="Arial"/>
                <a:ea typeface="Arial"/>
                <a:cs typeface="Arial"/>
                <a:sym typeface="Arial"/>
              </a:rPr>
              <a:t>5</a:t>
            </a:r>
            <a:endParaRPr/>
          </a:p>
        </p:txBody>
      </p:sp>
      <p:sp>
        <p:nvSpPr>
          <p:cNvPr id="342" name="Google Shape;342;p12"/>
          <p:cNvSpPr/>
          <p:nvPr/>
        </p:nvSpPr>
        <p:spPr>
          <a:xfrm>
            <a:off x="447670" y="2610575"/>
            <a:ext cx="15432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Sign in</a:t>
            </a:r>
            <a:endParaRPr/>
          </a:p>
        </p:txBody>
      </p:sp>
      <p:sp>
        <p:nvSpPr>
          <p:cNvPr id="343" name="Google Shape;343;p12"/>
          <p:cNvSpPr/>
          <p:nvPr/>
        </p:nvSpPr>
        <p:spPr>
          <a:xfrm>
            <a:off x="447670" y="2982050"/>
            <a:ext cx="1543200" cy="80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125">
                <a:solidFill>
                  <a:srgbClr val="5F6B76"/>
                </a:solidFill>
                <a:latin typeface="Arial"/>
                <a:ea typeface="Arial"/>
                <a:cs typeface="Arial"/>
                <a:sym typeface="Arial"/>
              </a:rPr>
              <a:t>Open the personal library</a:t>
            </a:r>
            <a:endParaRPr/>
          </a:p>
        </p:txBody>
      </p:sp>
      <p:sp>
        <p:nvSpPr>
          <p:cNvPr id="344" name="Google Shape;344;p12"/>
          <p:cNvSpPr/>
          <p:nvPr/>
        </p:nvSpPr>
        <p:spPr>
          <a:xfrm>
            <a:off x="2148454" y="2610575"/>
            <a:ext cx="15432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Create a deck</a:t>
            </a:r>
            <a:endParaRPr/>
          </a:p>
        </p:txBody>
      </p:sp>
      <p:sp>
        <p:nvSpPr>
          <p:cNvPr id="345" name="Google Shape;345;p12"/>
          <p:cNvSpPr/>
          <p:nvPr/>
        </p:nvSpPr>
        <p:spPr>
          <a:xfrm>
            <a:off x="2148454" y="2982050"/>
            <a:ext cx="1543200" cy="80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125">
                <a:solidFill>
                  <a:srgbClr val="5F6B76"/>
                </a:solidFill>
                <a:latin typeface="Arial"/>
                <a:ea typeface="Arial"/>
                <a:cs typeface="Arial"/>
                <a:sym typeface="Arial"/>
              </a:rPr>
              <a:t>Name a collection</a:t>
            </a:r>
            <a:endParaRPr/>
          </a:p>
        </p:txBody>
      </p:sp>
      <p:sp>
        <p:nvSpPr>
          <p:cNvPr id="346" name="Google Shape;346;p12"/>
          <p:cNvSpPr/>
          <p:nvPr/>
        </p:nvSpPr>
        <p:spPr>
          <a:xfrm>
            <a:off x="3849238" y="2610575"/>
            <a:ext cx="15432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Add cards</a:t>
            </a:r>
            <a:endParaRPr/>
          </a:p>
        </p:txBody>
      </p:sp>
      <p:sp>
        <p:nvSpPr>
          <p:cNvPr id="347" name="Google Shape;347;p12"/>
          <p:cNvSpPr/>
          <p:nvPr/>
        </p:nvSpPr>
        <p:spPr>
          <a:xfrm>
            <a:off x="3849238" y="2982050"/>
            <a:ext cx="1543200" cy="80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125">
                <a:solidFill>
                  <a:srgbClr val="5F6B76"/>
                </a:solidFill>
                <a:latin typeface="Arial"/>
                <a:ea typeface="Arial"/>
                <a:cs typeface="Arial"/>
                <a:sym typeface="Arial"/>
              </a:rPr>
              <a:t>Save two cards</a:t>
            </a:r>
            <a:endParaRPr/>
          </a:p>
        </p:txBody>
      </p:sp>
      <p:sp>
        <p:nvSpPr>
          <p:cNvPr id="348" name="Google Shape;348;p12"/>
          <p:cNvSpPr/>
          <p:nvPr/>
        </p:nvSpPr>
        <p:spPr>
          <a:xfrm>
            <a:off x="5550022" y="2610575"/>
            <a:ext cx="15432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Edit and delete</a:t>
            </a:r>
            <a:endParaRPr/>
          </a:p>
        </p:txBody>
      </p:sp>
      <p:sp>
        <p:nvSpPr>
          <p:cNvPr id="349" name="Google Shape;349;p12"/>
          <p:cNvSpPr/>
          <p:nvPr/>
        </p:nvSpPr>
        <p:spPr>
          <a:xfrm>
            <a:off x="5550022" y="2982050"/>
            <a:ext cx="1543200" cy="80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125">
                <a:solidFill>
                  <a:srgbClr val="5F6B76"/>
                </a:solidFill>
                <a:latin typeface="Arial"/>
                <a:ea typeface="Arial"/>
                <a:cs typeface="Arial"/>
                <a:sym typeface="Arial"/>
              </a:rPr>
              <a:t>Update one card and remove another</a:t>
            </a:r>
            <a:endParaRPr/>
          </a:p>
        </p:txBody>
      </p:sp>
      <p:sp>
        <p:nvSpPr>
          <p:cNvPr id="350" name="Google Shape;350;p12"/>
          <p:cNvSpPr/>
          <p:nvPr/>
        </p:nvSpPr>
        <p:spPr>
          <a:xfrm>
            <a:off x="7250806" y="2610575"/>
            <a:ext cx="1543200" cy="285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200">
                <a:solidFill>
                  <a:srgbClr val="17212B"/>
                </a:solidFill>
                <a:latin typeface="Arial"/>
                <a:ea typeface="Arial"/>
                <a:cs typeface="Arial"/>
                <a:sym typeface="Arial"/>
              </a:rPr>
              <a:t>Return later</a:t>
            </a:r>
            <a:endParaRPr/>
          </a:p>
        </p:txBody>
      </p:sp>
      <p:sp>
        <p:nvSpPr>
          <p:cNvPr id="351" name="Google Shape;351;p12"/>
          <p:cNvSpPr/>
          <p:nvPr/>
        </p:nvSpPr>
        <p:spPr>
          <a:xfrm>
            <a:off x="7250806" y="2982050"/>
            <a:ext cx="1543200" cy="809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 sz="1125">
                <a:solidFill>
                  <a:srgbClr val="5F6B76"/>
                </a:solidFill>
                <a:latin typeface="Arial"/>
                <a:ea typeface="Arial"/>
                <a:cs typeface="Arial"/>
                <a:sym typeface="Arial"/>
              </a:rPr>
              <a:t>Refresh, sign out and sign back in</a:t>
            </a:r>
            <a:endParaRPr/>
          </a:p>
        </p:txBody>
      </p:sp>
      <p:sp>
        <p:nvSpPr>
          <p:cNvPr id="352" name="Google Shape;352;p12"/>
          <p:cNvSpPr/>
          <p:nvPr/>
        </p:nvSpPr>
        <p:spPr>
          <a:xfrm>
            <a:off x="552525" y="4135725"/>
            <a:ext cx="80391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500">
                <a:solidFill>
                  <a:srgbClr val="2B6DAF"/>
                </a:solidFill>
                <a:latin typeface="Arial"/>
                <a:ea typeface="Arial"/>
                <a:cs typeface="Arial"/>
                <a:sym typeface="Arial"/>
              </a:rPr>
              <a:t>One demo connects the frontend, API, authentication and saved data.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3"/>
          <p:cNvSpPr/>
          <p:nvPr/>
        </p:nvSpPr>
        <p:spPr>
          <a:xfrm>
            <a:off x="514350" y="548640"/>
            <a:ext cx="2743200" cy="1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59A9C"/>
              </a:buClr>
              <a:buSzPts val="800"/>
              <a:buFont typeface="Arial"/>
              <a:buNone/>
            </a:pPr>
            <a:r>
              <a:t/>
            </a:r>
            <a:endParaRPr b="0" i="0" sz="800" u="none" cap="none">
              <a:solidFill>
                <a:schemeClr val="dk1"/>
              </a:solidFill>
              <a:latin typeface="Arial"/>
              <a:ea typeface="Arial"/>
              <a:cs typeface="Arial"/>
              <a:sym typeface="Arial"/>
            </a:endParaRPr>
          </a:p>
        </p:txBody>
      </p:sp>
      <p:sp>
        <p:nvSpPr>
          <p:cNvPr id="359" name="Google Shape;359;p13"/>
          <p:cNvSpPr/>
          <p:nvPr/>
        </p:nvSpPr>
        <p:spPr>
          <a:xfrm>
            <a:off x="514350" y="1097280"/>
            <a:ext cx="7680900" cy="44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7212B"/>
              </a:buClr>
              <a:buSzPts val="2300"/>
              <a:buFont typeface="Arial"/>
              <a:buNone/>
            </a:pPr>
            <a:r>
              <a:t/>
            </a:r>
            <a:endParaRPr b="0" i="0" sz="2300" u="none" cap="none">
              <a:solidFill>
                <a:schemeClr val="dk1"/>
              </a:solidFill>
              <a:latin typeface="Arial"/>
              <a:ea typeface="Arial"/>
              <a:cs typeface="Arial"/>
              <a:sym typeface="Arial"/>
            </a:endParaRPr>
          </a:p>
        </p:txBody>
      </p:sp>
      <p:sp>
        <p:nvSpPr>
          <p:cNvPr id="360" name="Google Shape;360;p13"/>
          <p:cNvSpPr/>
          <p:nvPr/>
        </p:nvSpPr>
        <p:spPr>
          <a:xfrm>
            <a:off x="514350" y="1817370"/>
            <a:ext cx="7680900" cy="377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C6EAA"/>
              </a:buClr>
              <a:buSzPts val="1700"/>
              <a:buFont typeface="Arial"/>
              <a:buNone/>
            </a:pPr>
            <a:r>
              <a:t/>
            </a:r>
            <a:endParaRPr b="0" i="0" sz="1700" u="none" cap="none">
              <a:solidFill>
                <a:schemeClr val="dk1"/>
              </a:solidFill>
              <a:latin typeface="Arial"/>
              <a:ea typeface="Arial"/>
              <a:cs typeface="Arial"/>
              <a:sym typeface="Arial"/>
            </a:endParaRPr>
          </a:p>
        </p:txBody>
      </p:sp>
      <p:sp>
        <p:nvSpPr>
          <p:cNvPr id="361" name="Google Shape;361;p13"/>
          <p:cNvSpPr/>
          <p:nvPr/>
        </p:nvSpPr>
        <p:spPr>
          <a:xfrm>
            <a:off x="514350" y="2914650"/>
            <a:ext cx="74067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B76"/>
              </a:buClr>
              <a:buSzPts val="1400"/>
              <a:buFont typeface="Arial"/>
              <a:buNone/>
            </a:pPr>
            <a:r>
              <a:t/>
            </a:r>
            <a:endParaRPr b="0" i="0" sz="1400" u="none" cap="none">
              <a:solidFill>
                <a:schemeClr val="dk1"/>
              </a:solidFill>
              <a:latin typeface="Arial"/>
              <a:ea typeface="Arial"/>
              <a:cs typeface="Arial"/>
              <a:sym typeface="Arial"/>
            </a:endParaRPr>
          </a:p>
        </p:txBody>
      </p:sp>
      <p:sp>
        <p:nvSpPr>
          <p:cNvPr id="362" name="Google Shape;362;p13"/>
          <p:cNvSpPr txBox="1"/>
          <p:nvPr>
            <p:ph idx="4294967295" type="sldNum"/>
          </p:nvPr>
        </p:nvSpPr>
        <p:spPr>
          <a:xfrm>
            <a:off x="8820150" y="4855464"/>
            <a:ext cx="238200" cy="171600"/>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7A8491"/>
              </a:buClr>
              <a:buSzPts val="600"/>
              <a:buFont typeface="Arial"/>
              <a:buNone/>
            </a:pPr>
            <a:fld id="{00000000-1234-1234-1234-123412341234}" type="slidenum">
              <a:rPr b="0" i="0" lang="en" sz="600" u="none" cap="none">
                <a:solidFill>
                  <a:srgbClr val="7A8491"/>
                </a:solidFill>
                <a:latin typeface="Arial"/>
                <a:ea typeface="Arial"/>
                <a:cs typeface="Arial"/>
                <a:sym typeface="Arial"/>
              </a:rPr>
              <a:t>‹#›</a:t>
            </a:fld>
            <a:endParaRPr b="0" i="0" sz="600" u="none" cap="none">
              <a:solidFill>
                <a:srgbClr val="7A8491"/>
              </a:solidFill>
              <a:latin typeface="Arial"/>
              <a:ea typeface="Arial"/>
              <a:cs typeface="Arial"/>
              <a:sym typeface="Arial"/>
            </a:endParaRPr>
          </a:p>
        </p:txBody>
      </p:sp>
      <p:sp>
        <p:nvSpPr>
          <p:cNvPr id="363" name="Google Shape;363;p13"/>
          <p:cNvSpPr/>
          <p:nvPr/>
        </p:nvSpPr>
        <p:spPr>
          <a:xfrm>
            <a:off x="514350" y="552450"/>
            <a:ext cx="7620000" cy="190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800">
                <a:solidFill>
                  <a:srgbClr val="159A9C"/>
                </a:solidFill>
                <a:latin typeface="Arial"/>
                <a:ea typeface="Arial"/>
                <a:cs typeface="Arial"/>
                <a:sym typeface="Arial"/>
              </a:rPr>
              <a:t>TEAM 2 / ITERATION 1</a:t>
            </a:r>
            <a:endParaRPr/>
          </a:p>
        </p:txBody>
      </p:sp>
      <p:sp>
        <p:nvSpPr>
          <p:cNvPr id="364" name="Google Shape;364;p13"/>
          <p:cNvSpPr/>
          <p:nvPr/>
        </p:nvSpPr>
        <p:spPr>
          <a:xfrm>
            <a:off x="514350" y="1095375"/>
            <a:ext cx="8001000" cy="476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2250">
                <a:solidFill>
                  <a:srgbClr val="17212B"/>
                </a:solidFill>
                <a:latin typeface="Arial"/>
                <a:ea typeface="Arial"/>
                <a:cs typeface="Arial"/>
                <a:sym typeface="Arial"/>
              </a:rPr>
              <a:t>Feedback and next steps</a:t>
            </a:r>
            <a:endParaRPr/>
          </a:p>
        </p:txBody>
      </p:sp>
      <p:sp>
        <p:nvSpPr>
          <p:cNvPr id="365" name="Google Shape;365;p13"/>
          <p:cNvSpPr/>
          <p:nvPr/>
        </p:nvSpPr>
        <p:spPr>
          <a:xfrm>
            <a:off x="514350" y="2047875"/>
            <a:ext cx="7810500" cy="1047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 sz="1500">
                <a:solidFill>
                  <a:srgbClr val="5F6B76"/>
                </a:solidFill>
              </a:rPr>
              <a:t>Next iteration: </a:t>
            </a:r>
            <a:r>
              <a:rPr lang="en" sz="1500">
                <a:solidFill>
                  <a:srgbClr val="5F6B76"/>
                </a:solidFill>
              </a:rPr>
              <a:t>add study mode and spaced repetition to the saved flashcards.</a:t>
            </a:r>
            <a:endParaRPr sz="1500">
              <a:solidFill>
                <a:srgbClr val="5F6B76"/>
              </a:solidFill>
            </a:endParaRPr>
          </a:p>
          <a:p>
            <a:pPr indent="0" lvl="0" marL="0" marR="0" rtl="0" algn="l">
              <a:spcBef>
                <a:spcPts val="0"/>
              </a:spcBef>
              <a:spcAft>
                <a:spcPts val="0"/>
              </a:spcAft>
              <a:buNone/>
            </a:pPr>
            <a:r>
              <a:t/>
            </a:r>
            <a:endParaRPr sz="1500">
              <a:solidFill>
                <a:srgbClr val="5F6B76"/>
              </a:solidFill>
            </a:endParaRPr>
          </a:p>
          <a:p>
            <a:pPr indent="0" lvl="0" marL="0" marR="0" rtl="0" algn="l">
              <a:spcBef>
                <a:spcPts val="0"/>
              </a:spcBef>
              <a:spcAft>
                <a:spcPts val="0"/>
              </a:spcAft>
              <a:buNone/>
            </a:pPr>
            <a:r>
              <a:rPr b="1" lang="en" sz="1500">
                <a:solidFill>
                  <a:srgbClr val="5F6B76"/>
                </a:solidFill>
              </a:rPr>
              <a:t>We welcome your feedback:</a:t>
            </a:r>
            <a:r>
              <a:rPr lang="en" sz="1500">
                <a:solidFill>
                  <a:srgbClr val="5F6B76"/>
                </a:solidFill>
              </a:rPr>
              <a:t> what should we improve about the app so far?</a:t>
            </a:r>
            <a:endParaRPr sz="1500">
              <a:solidFill>
                <a:srgbClr val="5F6B76"/>
              </a:solidFill>
            </a:endParaRPr>
          </a:p>
          <a:p>
            <a:pPr indent="0" lvl="0" marL="0" marR="0" rtl="0" algn="l">
              <a:spcBef>
                <a:spcPts val="0"/>
              </a:spcBef>
              <a:spcAft>
                <a:spcPts val="0"/>
              </a:spcAft>
              <a:buNone/>
            </a:pPr>
            <a:r>
              <a:t/>
            </a:r>
            <a:endParaRPr sz="1500">
              <a:solidFill>
                <a:srgbClr val="5F6B76"/>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