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Hi everyone, we're Team 2, and this is Cadence, an AI-powered spaced repetition platform. A quick reminder of the idea, on the right: spaced repetition means reviewing material at increasing intervals, based on how well you recalled it last time. Cards you know come back less often, and cards you struggle with come back sooner.</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2400"/>
              </a:spcBef>
              <a:spcAft>
                <a:spcPts val="0"/>
              </a:spcAft>
              <a:buSzPts val="1100"/>
              <a:buNone/>
            </a:pPr>
            <a:r>
              <a:rPr lang="en-US" sz="1200"/>
              <a:t>In Iteration 1 we built accounts and saved decks. In Iteration 2 we made Cadence a study tool. You can study a deck one card at a time and rate each card, and Cadence schedules its next review with Anki-style scheduling rules. Today we'll cover what changed in our scope, how study mode is built, how we tested and secured it, and then a live demo of a full study session.</a:t>
            </a:r>
            <a:endParaRPr/>
          </a:p>
          <a:p>
            <a:pPr indent="0" lvl="0" marL="0" rtl="0" algn="l">
              <a:lnSpc>
                <a:spcPct val="115000"/>
              </a:lnSpc>
              <a:spcBef>
                <a:spcPts val="2400"/>
              </a:spcBef>
              <a:spcAft>
                <a:spcPts val="0"/>
              </a:spcAft>
              <a:buSzPts val="1100"/>
              <a:buNone/>
            </a:pPr>
            <a:r>
              <a:t/>
            </a:r>
            <a:endParaRPr/>
          </a:p>
          <a:p>
            <a:pPr indent="0" lvl="0" marL="0" rtl="0" algn="l">
              <a:lnSpc>
                <a:spcPct val="115000"/>
              </a:lnSpc>
              <a:spcBef>
                <a:spcPts val="2400"/>
              </a:spcBef>
              <a:spcAft>
                <a:spcPts val="0"/>
              </a:spcAft>
              <a:buSzPts val="1100"/>
              <a:buNone/>
            </a:pPr>
            <a:r>
              <a:rPr lang="en-US" sz="1200"/>
              <a:t>Sources: Miles Cameron, ITERATION_2_PRESENTATION_UPDATES.md (provided by Nurzat).</a:t>
            </a:r>
            <a:endParaRPr/>
          </a:p>
          <a:p>
            <a:pPr indent="0" lvl="0" marL="0" rtl="0" algn="l">
              <a:lnSpc>
                <a:spcPct val="115000"/>
              </a:lnSpc>
              <a:spcBef>
                <a:spcPts val="2400"/>
              </a:spcBef>
              <a:spcAft>
                <a:spcPts val="0"/>
              </a:spcAft>
              <a:buSzPts val="1100"/>
              <a:buNone/>
            </a:pPr>
            <a:r>
              <a:rPr lang="en-US" sz="1200"/>
              <a:t>https://github.com/BUMETCS673/CS673OLF26P2/blob/efec09be14c28154b76d3cfbcf965d33bd3c51a1/code/plans/FINALIZE_ITERATION_2_PLAN.md</a:t>
            </a:r>
            <a:endParaRPr/>
          </a:p>
        </p:txBody>
      </p:sp>
      <p:sp>
        <p:nvSpPr>
          <p:cNvPr id="19" name="Google Shape;1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We're the same four people, in the same roles. For Iteration 2 we split the work into pieces with one owner each and interfaces agreed up front, so we could build in parallel. I built the scheduler, the endpoint that saves each rating, the shared foundations and design system, the demo data, and the rating buttons. Duc built the session logic, the study page and its summary, and the frontend test suite and its coverage gate. Nurzat built the due-cards endpoint, the due counts, and the deck pages. Von built the interval previews, which show when each rating would bring a card back.</a:t>
            </a:r>
            <a:endParaRPr/>
          </a:p>
          <a:p>
            <a:pPr indent="0" lvl="0" marL="0" rtl="0" algn="l">
              <a:lnSpc>
                <a:spcPct val="115000"/>
              </a:lnSpc>
              <a:spcBef>
                <a:spcPts val="2400"/>
              </a:spcBef>
              <a:spcAft>
                <a:spcPts val="0"/>
              </a:spcAft>
              <a:buSzPts val="1100"/>
              <a:buNone/>
            </a:pPr>
            <a:r>
              <a:t/>
            </a:r>
            <a:endParaRPr/>
          </a:p>
          <a:p>
            <a:pPr indent="0" lvl="0" marL="0" rtl="0" algn="l">
              <a:lnSpc>
                <a:spcPct val="115000"/>
              </a:lnSpc>
              <a:spcBef>
                <a:spcPts val="2400"/>
              </a:spcBef>
              <a:spcAft>
                <a:spcPts val="0"/>
              </a:spcAft>
              <a:buSzPts val="1100"/>
              <a:buNone/>
            </a:pPr>
            <a:r>
              <a:rPr lang="en-US" sz="1200"/>
              <a:t>Sources: Miles Cameron, ITERATION_2_PRESENTATION_UPDATES.md (provided by Nurzat).</a:t>
            </a:r>
            <a:endParaRPr/>
          </a:p>
          <a:p>
            <a:pPr indent="0" lvl="0" marL="0" rtl="0" algn="l">
              <a:lnSpc>
                <a:spcPct val="115000"/>
              </a:lnSpc>
              <a:spcBef>
                <a:spcPts val="2400"/>
              </a:spcBef>
              <a:spcAft>
                <a:spcPts val="0"/>
              </a:spcAft>
              <a:buSzPts val="1100"/>
              <a:buNone/>
            </a:pPr>
            <a:r>
              <a:rPr lang="en-US" sz="1200"/>
              <a:t>https://github.com/BUMETCS673/CS673OLF26P2/blob/efec09be14c28154b76d3cfbcf965d33bd3c51a1/code/plans/FINALIZE_ITERATION_2_PLAN.md</a:t>
            </a:r>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The problem hasn't changed. Writing good flashcards takes time, and once you have them, you still have to work out what to study next. Our vision is one workflow that handles both: AI helps write the cards, and spaced repetition decides when each one comes up.</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2400"/>
              </a:spcBef>
              <a:spcAft>
                <a:spcPts val="0"/>
              </a:spcAft>
              <a:buSzPts val="1100"/>
              <a:buNone/>
            </a:pPr>
            <a:r>
              <a:rPr lang="en-US" sz="1200"/>
              <a:t>Iteration 1 gave us accounts and saved decks. Iteration 2 answers the second half of the problem: what to study next. Each deck now shows what's due, and you can study it one card at a time. Every rating is saved, and the scheduler works out when that card should come back. The AI half is next.</a:t>
            </a:r>
            <a:endParaRPr/>
          </a:p>
          <a:p>
            <a:pPr indent="0" lvl="0" marL="0" rtl="0" algn="l">
              <a:lnSpc>
                <a:spcPct val="115000"/>
              </a:lnSpc>
              <a:spcBef>
                <a:spcPts val="2400"/>
              </a:spcBef>
              <a:spcAft>
                <a:spcPts val="0"/>
              </a:spcAft>
              <a:buSzPts val="1100"/>
              <a:buNone/>
            </a:pPr>
            <a:r>
              <a:t/>
            </a:r>
            <a:endParaRPr/>
          </a:p>
          <a:p>
            <a:pPr indent="0" lvl="0" marL="0" rtl="0" algn="l">
              <a:lnSpc>
                <a:spcPct val="115000"/>
              </a:lnSpc>
              <a:spcBef>
                <a:spcPts val="2400"/>
              </a:spcBef>
              <a:spcAft>
                <a:spcPts val="0"/>
              </a:spcAft>
              <a:buSzPts val="1100"/>
              <a:buNone/>
            </a:pPr>
            <a:r>
              <a:rPr lang="en-US" sz="1200"/>
              <a:t>Sources: Miles Cameron, ITERATION_2_PRESENTATION_UPDATES.md (provided by Nurzat).</a:t>
            </a:r>
            <a:endParaRPr/>
          </a:p>
          <a:p>
            <a:pPr indent="0" lvl="0" marL="0" rtl="0" algn="l">
              <a:lnSpc>
                <a:spcPct val="115000"/>
              </a:lnSpc>
              <a:spcBef>
                <a:spcPts val="2400"/>
              </a:spcBef>
              <a:spcAft>
                <a:spcPts val="0"/>
              </a:spcAft>
              <a:buSzPts val="1100"/>
              <a:buNone/>
            </a:pPr>
            <a:r>
              <a:rPr lang="en-US" sz="1200"/>
              <a:t>https://github.com/BUMETCS673/CS673OLF26P2/blob/efec09be14c28154b76d3cfbcf965d33bd3c51a1/code/plans/FINALIZE_ITERATION_2_PLAN.md</a:t>
            </a:r>
            <a:endParaRP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Here's where our scope stands. In Iteration 2 we delivered study mode. You study a deck one card at a time and rate each answer Again, Hard, Good, or Easy, and Cadence schedules the card with Anki-style scheduling rules. Every deck shows how many cards are due, and every card shows when it comes back. We also added demo data with cards at every stage, so we can show reviews and relapses without waiting days for them.</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rPr lang="en-US" sz="1200"/>
              <a:t>We made one scope change. AI generation was planned for this iteration, but we moved it to Iteration 3 so that study mode would ship complete and tested rather than both landing half-finished. Typed-answer mode moved to the later roadmap for the same reason. Iteration 3 is AI card generation, where learners review and edit every generated card before it's saved, followed by system testing and the final release.</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rPr lang="en-US" sz="1200"/>
              <a:t>Sources: Miles Cameron, ITERATION_2_PRESENTATION_UPDATES.md (provided by Nurzat).</a:t>
            </a:r>
            <a:endParaRPr/>
          </a:p>
          <a:p>
            <a:pPr indent="0" lvl="0" marL="0" rtl="0" algn="l">
              <a:lnSpc>
                <a:spcPct val="115000"/>
              </a:lnSpc>
              <a:spcBef>
                <a:spcPts val="1200"/>
              </a:spcBef>
              <a:spcAft>
                <a:spcPts val="0"/>
              </a:spcAft>
              <a:buSzPts val="1100"/>
              <a:buNone/>
            </a:pPr>
            <a:r>
              <a:rPr lang="en-US" sz="1200"/>
              <a:t>https://github.com/BUMETCS673/CS673OLF26P2/blob/efec09be14c28154b76d3cfbcf965d33bd3c51a1/code/plans/FINALIZE_ITERATION_2_PLAN.md</a:t>
            </a:r>
            <a:endParaRPr/>
          </a:p>
        </p:txBody>
      </p:sp>
      <p:sp>
        <p:nvSpPr>
          <p:cNvPr id="83" name="Google Shape;8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Study mode fits into the same four layers. On the left, the React UI now has a study page. The order cards come up in is handled by a session reducer, a pure function we can test without a browser. The rating buttons and every other page now share one design system. Vite in development, and nginx in production, still serve the app and forward /api to Flask.</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Flask has two new routes. One serves a deck's due cards, and the other saves each rating. Both use the same owner checks as before. The algorithm itself lives in scheduler.py. It's pure Python, with no Flask, no database, and no clock, so we test it directly against Anki's results. PostgreSQL stores each card's scheduling state in new columns, added with a database migration.</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The key design decision is at the bottom right: the backend owns the algorithm. Each card it sends comes with an intervals field, the number of seconds until the card would come back for each rating. The frontend only formats those numbers, so there's exactly one copy of the scheduling logic.</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Sources: Miles Cameron, ITERATION_2_PRESENTATION_UPDATES.md (provided by Nurzat).</a:t>
            </a:r>
            <a:endParaRPr sz="1200"/>
          </a:p>
          <a:p>
            <a:pPr indent="0" lvl="0" marL="0" rtl="0" algn="l">
              <a:lnSpc>
                <a:spcPct val="115000"/>
              </a:lnSpc>
              <a:spcBef>
                <a:spcPts val="1200"/>
              </a:spcBef>
              <a:spcAft>
                <a:spcPts val="0"/>
              </a:spcAft>
              <a:buSzPts val="1100"/>
              <a:buNone/>
            </a:pPr>
            <a:r>
              <a:rPr lang="en-US" sz="1200"/>
              <a:t>https://github.com/BUMETCS673/CS673OLF26P2/blob/efec09be14c28154b76d3cfbcf965d33bd3c51a1/code/plans/FINALIZE_ITERATION_2_PLAN.md</a:t>
            </a:r>
            <a:endParaRPr sz="1200"/>
          </a:p>
        </p:txBody>
      </p:sp>
      <p:sp>
        <p:nvSpPr>
          <p:cNvPr id="121" name="Google Shape;12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t>Testing grew a lot this iteration. On the backend we have 201 tests, with 97.02 percent coverage, and every one runs on both SQLite and PostgreSQL. The scheduler tests check our results against what Anki gives for the same cards, including overdue reviews and lapses. The endpoint tests cover session limits, answers that come too early, and a user trying to study someone else's deck.</a:t>
            </a:r>
            <a:endParaRPr sz="1200"/>
          </a:p>
          <a:p>
            <a:pPr indent="0" lvl="0" marL="0" rtl="0" algn="l">
              <a:lnSpc>
                <a:spcPct val="115000"/>
              </a:lnSpc>
              <a:spcBef>
                <a:spcPts val="1200"/>
              </a:spcBef>
              <a:spcAft>
                <a:spcPts val="0"/>
              </a:spcAft>
              <a:buClr>
                <a:schemeClr val="dk1"/>
              </a:buClr>
              <a:buSzPts val="1100"/>
              <a:buFont typeface="Arial"/>
              <a:buNone/>
            </a:pPr>
            <a:r>
              <a:t/>
            </a:r>
            <a:endParaRPr sz="1200"/>
          </a:p>
          <a:p>
            <a:pPr indent="0" lvl="0" marL="0" rtl="0" algn="l">
              <a:lnSpc>
                <a:spcPct val="115000"/>
              </a:lnSpc>
              <a:spcBef>
                <a:spcPts val="1200"/>
              </a:spcBef>
              <a:spcAft>
                <a:spcPts val="0"/>
              </a:spcAft>
              <a:buClr>
                <a:schemeClr val="dk1"/>
              </a:buClr>
              <a:buSzPts val="1100"/>
              <a:buFont typeface="Arial"/>
              <a:buNone/>
            </a:pPr>
            <a:r>
              <a:rPr lang="en-US" sz="1200"/>
              <a:t>On the frontend, we moved to Vitest and React Testing Library. We now have 174 tests and 91.66 percent statement coverage, covering every page and component, including the Iteration 1 pages, which had none before. Both sides have a 90% coverage gate, so CI blocks any merge that drops below it.</a:t>
            </a:r>
            <a:endParaRPr sz="1200"/>
          </a:p>
          <a:p>
            <a:pPr indent="0" lvl="0" marL="0" rtl="0" algn="l">
              <a:lnSpc>
                <a:spcPct val="115000"/>
              </a:lnSpc>
              <a:spcBef>
                <a:spcPts val="1200"/>
              </a:spcBef>
              <a:spcAft>
                <a:spcPts val="0"/>
              </a:spcAft>
              <a:buClr>
                <a:schemeClr val="dk1"/>
              </a:buClr>
              <a:buSzPts val="1100"/>
              <a:buFont typeface="Arial"/>
              <a:buNone/>
            </a:pPr>
            <a:r>
              <a:t/>
            </a:r>
            <a:endParaRPr sz="1200"/>
          </a:p>
          <a:p>
            <a:pPr indent="0" lvl="0" marL="0" rtl="0" algn="l">
              <a:lnSpc>
                <a:spcPct val="115000"/>
              </a:lnSpc>
              <a:spcBef>
                <a:spcPts val="1200"/>
              </a:spcBef>
              <a:spcAft>
                <a:spcPts val="0"/>
              </a:spcAft>
              <a:buClr>
                <a:schemeClr val="dk1"/>
              </a:buClr>
              <a:buSzPts val="1100"/>
              <a:buFont typeface="Arial"/>
              <a:buNone/>
            </a:pPr>
            <a:r>
              <a:rPr lang="en-US" sz="1200"/>
              <a:t>Code review still catches bugs. On the study page, a reviewer found that a key pressed at the wrong moment could send a second rating, and the fix came with a regression test.</a:t>
            </a:r>
            <a:endParaRPr sz="1200"/>
          </a:p>
          <a:p>
            <a:pPr indent="0" lvl="0" marL="0" rtl="0" algn="l">
              <a:lnSpc>
                <a:spcPct val="115000"/>
              </a:lnSpc>
              <a:spcBef>
                <a:spcPts val="1200"/>
              </a:spcBef>
              <a:spcAft>
                <a:spcPts val="0"/>
              </a:spcAft>
              <a:buClr>
                <a:schemeClr val="dk1"/>
              </a:buClr>
              <a:buSzPts val="1100"/>
              <a:buFont typeface="Arial"/>
              <a:buNone/>
            </a:pPr>
            <a:r>
              <a:t/>
            </a:r>
            <a:endParaRPr sz="1200"/>
          </a:p>
          <a:p>
            <a:pPr indent="0" lvl="0" marL="0" rtl="0" algn="l">
              <a:lnSpc>
                <a:spcPct val="115000"/>
              </a:lnSpc>
              <a:spcBef>
                <a:spcPts val="1200"/>
              </a:spcBef>
              <a:spcAft>
                <a:spcPts val="0"/>
              </a:spcAft>
              <a:buClr>
                <a:schemeClr val="dk1"/>
              </a:buClr>
              <a:buSzPts val="1100"/>
              <a:buFont typeface="Arial"/>
              <a:buNone/>
            </a:pPr>
            <a:r>
              <a:rPr lang="en-US" sz="1200"/>
              <a:t>Our limit is end-to-end testing. The full study flow is checked by a manual walkthrough on a fresh database, not by browser automation. Next iteration we'll test AI generation against a simulated provider.</a:t>
            </a:r>
            <a:endParaRPr sz="1200"/>
          </a:p>
          <a:p>
            <a:pPr indent="0" lvl="0" marL="0" rtl="0" algn="l">
              <a:lnSpc>
                <a:spcPct val="115000"/>
              </a:lnSpc>
              <a:spcBef>
                <a:spcPts val="1200"/>
              </a:spcBef>
              <a:spcAft>
                <a:spcPts val="0"/>
              </a:spcAft>
              <a:buClr>
                <a:schemeClr val="dk1"/>
              </a:buClr>
              <a:buSzPts val="1100"/>
              <a:buFont typeface="Arial"/>
              <a:buNone/>
            </a:pPr>
            <a:r>
              <a:t/>
            </a:r>
            <a:endParaRPr sz="1200"/>
          </a:p>
          <a:p>
            <a:pPr indent="0" lvl="0" marL="0" rtl="0" algn="l">
              <a:lnSpc>
                <a:spcPct val="115000"/>
              </a:lnSpc>
              <a:spcBef>
                <a:spcPts val="1200"/>
              </a:spcBef>
              <a:spcAft>
                <a:spcPts val="0"/>
              </a:spcAft>
              <a:buClr>
                <a:schemeClr val="dk1"/>
              </a:buClr>
              <a:buSzPts val="1100"/>
              <a:buFont typeface="Arial"/>
              <a:buNone/>
            </a:pPr>
            <a:r>
              <a:rPr lang="en-US" sz="1200"/>
              <a:t>Sources: Miles Cameron, ITERATION_2_PRESENTATION_UPDATES.md (provided by Nurzat).</a:t>
            </a:r>
            <a:endParaRPr sz="1200"/>
          </a:p>
          <a:p>
            <a:pPr indent="0" lvl="0" marL="0" rtl="0" algn="l">
              <a:lnSpc>
                <a:spcPct val="115000"/>
              </a:lnSpc>
              <a:spcBef>
                <a:spcPts val="1200"/>
              </a:spcBef>
              <a:spcAft>
                <a:spcPts val="0"/>
              </a:spcAft>
              <a:buClr>
                <a:schemeClr val="dk1"/>
              </a:buClr>
              <a:buSzPts val="1100"/>
              <a:buFont typeface="Arial"/>
              <a:buNone/>
            </a:pPr>
            <a:r>
              <a:rPr lang="en-US" sz="1200"/>
              <a:t>https://github.com/BUMETCS673/CS673OLF26P2/blob/efec09be14c28154b76d3cfbcf965d33bd3c51a1/code/plans/FINALIZE_ITERATION_2_PLAN.md</a:t>
            </a:r>
            <a:endParaRPr sz="1200"/>
          </a:p>
          <a:p>
            <a:pPr indent="0" lvl="0" marL="0" rtl="0" algn="l">
              <a:lnSpc>
                <a:spcPct val="115000"/>
              </a:lnSpc>
              <a:spcBef>
                <a:spcPts val="1200"/>
              </a:spcBef>
              <a:spcAft>
                <a:spcPts val="0"/>
              </a:spcAft>
              <a:buClr>
                <a:schemeClr val="dk1"/>
              </a:buClr>
              <a:buSzPts val="1100"/>
              <a:buFont typeface="Arial"/>
              <a:buNone/>
            </a:pPr>
            <a:r>
              <a:rPr lang="en-US" sz="1200"/>
              <a:t>CI evidence: https://github.com/BUMETCS673/CS673OLF26P2/actions/runs/37337765004 (2026-10-05). Coverage artifacts: coverage-sqlite/coverage.xml and coverage-frontend/coverage-summary.json. Test inventory: 192 backend + 9 B2; 152 frontend + 22 F4 = 201 / 174.</a:t>
            </a:r>
            <a:endParaRPr sz="1200"/>
          </a:p>
        </p:txBody>
      </p:sp>
      <p:sp>
        <p:nvSpPr>
          <p:cNvPr id="177" name="Google Shape;17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Our workflow is the same as in Iteration 1. Every change starts on a feature branch and goes up as a pull request. It merges into develop only after the required "CI passed" check is green and a teammate has approved it, and develop is promoted to main for each release. CI runs linting, the backend tests on SQLite and PostgreSQL, a migration check, and the frontend tests and build. It also builds both Docker images and scans them for vulnerabilities.</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rPr lang="en-US" sz="1200"/>
              <a:t>Three things are new. Frontend tests moved to Vitest, with a 90% coverage gate. We added demo-data commands: flask seed creates a deck with cards at every stage, --reset starts it fresh, and time-travel makes it look as though days have passed, so cards come due on demand. And one of our checks paid off. A newly published OpenSSL vulnerability turned develop red, because the build cache was skipping our security-patch step. We changed the build so that step always runs.</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rPr lang="en-US" sz="1200"/>
              <a:t>Every merge also publishes images to GitHub's container registry. Hosting on Render is configured but not switched on yet.</a:t>
            </a:r>
            <a:endParaRPr/>
          </a:p>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SzPts val="1100"/>
              <a:buNone/>
            </a:pPr>
            <a:r>
              <a:rPr lang="en-US" sz="1200"/>
              <a:t>Sources: Miles Cameron, ITERATION_2_PRESENTATION_UPDATES.md (provided by Nurzat).</a:t>
            </a:r>
            <a:endParaRPr/>
          </a:p>
          <a:p>
            <a:pPr indent="0" lvl="0" marL="0" rtl="0" algn="l">
              <a:lnSpc>
                <a:spcPct val="115000"/>
              </a:lnSpc>
              <a:spcBef>
                <a:spcPts val="1200"/>
              </a:spcBef>
              <a:spcAft>
                <a:spcPts val="0"/>
              </a:spcAft>
              <a:buSzPts val="1100"/>
              <a:buNone/>
            </a:pPr>
            <a:r>
              <a:rPr lang="en-US" sz="1200"/>
              <a:t>https://github.com/BUMETCS673/CS673OLF26P2/blob/efec09be14c28154b76d3cfbcf965d33bd3c51a1/code/plans/FINALIZE_ITERATION_2_PLAN.md</a:t>
            </a:r>
            <a:endParaRPr/>
          </a:p>
        </p:txBody>
      </p:sp>
      <p:sp>
        <p:nvSpPr>
          <p:cNvPr id="214" name="Google Shape;21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Everything from Iteration 1 still applies: hashed passwords, generic login errors, owner checks, input validation, and no raw SQL. Here's what's new.</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The study routes use the same owner checks, so if you try to study someone else's deck, it simply isn't found. We also protect the schedule itself. A review card rated before its due time gets a conflict response. Learning cards can be shown within the twenty-minute learn-ahead window. And the study page sends exactly one rating per card, so a double-click can't push a card's next review out twice.</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Last time, CSRF, production cookies, and HTTPS were on our "next" list. For CSRF: the session cookie is SameSite, every request with a body must be JSON, and the API allows no cross-origin access, which protects state-changing requests from cross-origin sites. Secure cookies and HTTPS are configured in our Render setup, and we'll verify them once it's deployed.</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Trivy earned its place this iteration by blocking merges over a newly published OpenSSL vulnerability. Next up: safeguards for AI generation.</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US" sz="1200"/>
              <a:t>Sources: Miles Cameron, ITERATION_2_PRESENTATION_UPDATES.md (provided by Nurzat).</a:t>
            </a:r>
            <a:endParaRPr sz="1200"/>
          </a:p>
          <a:p>
            <a:pPr indent="0" lvl="0" marL="0" rtl="0" algn="l">
              <a:lnSpc>
                <a:spcPct val="115000"/>
              </a:lnSpc>
              <a:spcBef>
                <a:spcPts val="1200"/>
              </a:spcBef>
              <a:spcAft>
                <a:spcPts val="0"/>
              </a:spcAft>
              <a:buSzPts val="1100"/>
              <a:buNone/>
            </a:pPr>
            <a:r>
              <a:rPr lang="en-US" sz="1200"/>
              <a:t>https://github.com/BUMETCS673/CS673OLF26P2/blob/efec09be14c28154b76d3cfbcf965d33bd3c51a1/code/plans/FINALIZE_ITERATION_2_PLAN.md</a:t>
            </a:r>
            <a:endParaRPr sz="1200"/>
          </a:p>
        </p:txBody>
      </p:sp>
      <p:sp>
        <p:nvSpPr>
          <p:cNvPr id="262" name="Google Shape;26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200"/>
              <a:t>Now let's see it. I'm signed in as our demo user, with our seeded demo data.</a:t>
            </a:r>
            <a:endParaRPr sz="1200"/>
          </a:p>
          <a:p>
            <a:pPr indent="0" lvl="0" marL="0" rtl="0" algn="l">
              <a:lnSpc>
                <a:spcPct val="115000"/>
              </a:lnSpc>
              <a:spcBef>
                <a:spcPts val="2400"/>
              </a:spcBef>
              <a:spcAft>
                <a:spcPts val="0"/>
              </a:spcAft>
              <a:buSzPts val="1100"/>
              <a:buNone/>
            </a:pPr>
            <a:r>
              <a:t/>
            </a:r>
            <a:endParaRPr sz="1200"/>
          </a:p>
          <a:p>
            <a:pPr indent="0" lvl="0" marL="0" rtl="0" algn="l">
              <a:lnSpc>
                <a:spcPct val="115000"/>
              </a:lnSpc>
              <a:spcBef>
                <a:spcPts val="2400"/>
              </a:spcBef>
              <a:spcAft>
                <a:spcPts val="0"/>
              </a:spcAft>
              <a:buSzPts val="1100"/>
              <a:buNone/>
            </a:pPr>
            <a:r>
              <a:rPr lang="en-US" sz="1200"/>
              <a:t>The deck list shows what's waiting in each deck. Spanish 101 has four new cards. Travel Spanish has six due and three new, because we seeded it with cards at every stage.</a:t>
            </a:r>
            <a:endParaRPr sz="1200"/>
          </a:p>
          <a:p>
            <a:pPr indent="0" lvl="0" marL="0" rtl="0" algn="l">
              <a:lnSpc>
                <a:spcPct val="115000"/>
              </a:lnSpc>
              <a:spcBef>
                <a:spcPts val="2400"/>
              </a:spcBef>
              <a:spcAft>
                <a:spcPts val="0"/>
              </a:spcAft>
              <a:buSzPts val="1100"/>
              <a:buNone/>
            </a:pPr>
            <a:r>
              <a:t/>
            </a:r>
            <a:endParaRPr sz="1200"/>
          </a:p>
          <a:p>
            <a:pPr indent="0" lvl="0" marL="0" rtl="0" algn="l">
              <a:lnSpc>
                <a:spcPct val="115000"/>
              </a:lnSpc>
              <a:spcBef>
                <a:spcPts val="2400"/>
              </a:spcBef>
              <a:spcAft>
                <a:spcPts val="0"/>
              </a:spcAft>
              <a:buSzPts val="1100"/>
              <a:buNone/>
            </a:pPr>
            <a:r>
              <a:rPr lang="en-US" sz="1200"/>
              <a:t>I'll open Travel Spanish. Each card shows where it stands: "the airport" is a review card that's due now, "the hotel" comes back in five days, and these at the bottom are new. I'll press Study now. The nine on the button is the number of cards initially available. Learning cards can appear again as we rate them.</a:t>
            </a:r>
            <a:endParaRPr sz="1200"/>
          </a:p>
          <a:p>
            <a:pPr indent="0" lvl="0" marL="0" rtl="0" algn="l">
              <a:lnSpc>
                <a:spcPct val="115000"/>
              </a:lnSpc>
              <a:spcBef>
                <a:spcPts val="2400"/>
              </a:spcBef>
              <a:spcAft>
                <a:spcPts val="0"/>
              </a:spcAft>
              <a:buSzPts val="1100"/>
              <a:buNone/>
            </a:pPr>
            <a:r>
              <a:t/>
            </a:r>
            <a:endParaRPr sz="1200"/>
          </a:p>
          <a:p>
            <a:pPr indent="0" lvl="0" marL="0" rtl="0" algn="l">
              <a:lnSpc>
                <a:spcPct val="115000"/>
              </a:lnSpc>
              <a:spcBef>
                <a:spcPts val="2400"/>
              </a:spcBef>
              <a:spcAft>
                <a:spcPts val="0"/>
              </a:spcAft>
              <a:buSzPts val="1100"/>
              <a:buNone/>
            </a:pPr>
            <a:r>
              <a:rPr lang="en-US" sz="1200"/>
              <a:t>The first card is "the passport". The answer is hidden, so I'll press Space to reveal it. Each button shows when I'd see this card again: Again in ten minutes, Good in a day. I'll press Good. Next is "the suitcase". I'll press Again, and it will come back about a minute later in this same session. I'll keep going with the number keys. Here's "the airport", a review card that's four days overdue. Good would bring it back in a month, and Easy in a month and a half. Those are the same numbers Anki gives for this card.</a:t>
            </a:r>
            <a:endParaRPr sz="1200"/>
          </a:p>
          <a:p>
            <a:pPr indent="0" lvl="0" marL="0" rtl="0" algn="l">
              <a:lnSpc>
                <a:spcPct val="115000"/>
              </a:lnSpc>
              <a:spcBef>
                <a:spcPts val="2400"/>
              </a:spcBef>
              <a:spcAft>
                <a:spcPts val="0"/>
              </a:spcAft>
              <a:buSzPts val="1100"/>
              <a:buNone/>
            </a:pPr>
            <a:r>
              <a:t/>
            </a:r>
            <a:endParaRPr sz="1200"/>
          </a:p>
          <a:p>
            <a:pPr indent="0" lvl="0" marL="0" rtl="0" algn="l">
              <a:lnSpc>
                <a:spcPct val="115000"/>
              </a:lnSpc>
              <a:spcBef>
                <a:spcPts val="2400"/>
              </a:spcBef>
              <a:spcAft>
                <a:spcPts val="0"/>
              </a:spcAft>
              <a:buSzPts val="1100"/>
              <a:buNone/>
            </a:pPr>
            <a:r>
              <a:rPr lang="en-US" sz="1200"/>
              <a:t>When nothing's left, the summary shows how many cards I rated each way. Back on the deck, every badge has moved. The airport now says "Review · in 1mo", and the deck list shows Travel Spanish as "All caught up".</a:t>
            </a:r>
            <a:endParaRPr sz="1200"/>
          </a:p>
          <a:p>
            <a:pPr indent="0" lvl="0" marL="0" rtl="0" algn="l">
              <a:lnSpc>
                <a:spcPct val="115000"/>
              </a:lnSpc>
              <a:spcBef>
                <a:spcPts val="2400"/>
              </a:spcBef>
              <a:spcAft>
                <a:spcPts val="0"/>
              </a:spcAft>
              <a:buSzPts val="1100"/>
              <a:buNone/>
            </a:pPr>
            <a:r>
              <a:t/>
            </a:r>
            <a:endParaRPr sz="1200"/>
          </a:p>
          <a:p>
            <a:pPr indent="0" lvl="0" marL="0" rtl="0" algn="l">
              <a:lnSpc>
                <a:spcPct val="115000"/>
              </a:lnSpc>
              <a:spcBef>
                <a:spcPts val="2400"/>
              </a:spcBef>
              <a:spcAft>
                <a:spcPts val="0"/>
              </a:spcAft>
              <a:buSzPts val="1100"/>
              <a:buNone/>
            </a:pPr>
            <a:r>
              <a:rPr lang="en-US" sz="1200"/>
              <a:t>Finally, I'll refresh, then sign out and back in. Everything is still there, because each rating was saved the moment I made it.</a:t>
            </a:r>
            <a:endParaRPr sz="1200"/>
          </a:p>
          <a:p>
            <a:pPr indent="0" lvl="0" marL="0" rtl="0" algn="l">
              <a:lnSpc>
                <a:spcPct val="115000"/>
              </a:lnSpc>
              <a:spcBef>
                <a:spcPts val="2400"/>
              </a:spcBef>
              <a:spcAft>
                <a:spcPts val="0"/>
              </a:spcAft>
              <a:buSzPts val="1100"/>
              <a:buNone/>
            </a:pPr>
            <a:r>
              <a:t/>
            </a:r>
            <a:endParaRPr sz="1200"/>
          </a:p>
          <a:p>
            <a:pPr indent="0" lvl="0" marL="0" rtl="0" algn="l">
              <a:lnSpc>
                <a:spcPct val="115000"/>
              </a:lnSpc>
              <a:spcBef>
                <a:spcPts val="2400"/>
              </a:spcBef>
              <a:spcAft>
                <a:spcPts val="0"/>
              </a:spcAft>
              <a:buSzPts val="1100"/>
              <a:buNone/>
            </a:pPr>
            <a:r>
              <a:rPr lang="en-US" sz="1200"/>
              <a:t>Sources: Miles Cameron, ITERATION_2_PRESENTATION_UPDATES.md (provided by Nurzat).</a:t>
            </a:r>
            <a:endParaRPr sz="1200"/>
          </a:p>
          <a:p>
            <a:pPr indent="0" lvl="0" marL="0" rtl="0" algn="l">
              <a:lnSpc>
                <a:spcPct val="115000"/>
              </a:lnSpc>
              <a:spcBef>
                <a:spcPts val="2400"/>
              </a:spcBef>
              <a:spcAft>
                <a:spcPts val="0"/>
              </a:spcAft>
              <a:buSzPts val="1100"/>
              <a:buNone/>
            </a:pPr>
            <a:r>
              <a:rPr lang="en-US" sz="1200"/>
              <a:t>https://github.com/BUMETCS673/CS673OLF26P2/blob/efec09be14c28154b76d3cfbcf965d33bd3c51a1/code/plans/FINALIZE_ITERATION_2_PLAN.md</a:t>
            </a:r>
            <a:endParaRPr sz="1200"/>
          </a:p>
        </p:txBody>
      </p:sp>
      <p:sp>
        <p:nvSpPr>
          <p:cNvPr id="308" name="Google Shape;30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t>To wrap up: Iteration 2 made Cadence a working study tool, from seeing what's due to scheduling each card's next review. Next iteration we add AI generation. You'll describe what you want to learn, Cadence will propose cards, and you'll review and edit every one before it's saved. We'd love your feedback, especially on the study experience. Thank you.</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US" sz="1200"/>
              <a:t>Sources: Miles Cameron, ITERATION_2_PRESENTATION_UPDATES.md (provided by Nurzat).</a:t>
            </a:r>
            <a:endParaRPr/>
          </a:p>
          <a:p>
            <a:pPr indent="0" lvl="0" marL="0" rtl="0" algn="l">
              <a:lnSpc>
                <a:spcPct val="115000"/>
              </a:lnSpc>
              <a:spcBef>
                <a:spcPts val="1200"/>
              </a:spcBef>
              <a:spcAft>
                <a:spcPts val="0"/>
              </a:spcAft>
              <a:buClr>
                <a:schemeClr val="dk1"/>
              </a:buClr>
              <a:buSzPts val="1100"/>
              <a:buFont typeface="Arial"/>
              <a:buNone/>
            </a:pPr>
            <a:r>
              <a:rPr lang="en-US" sz="1200"/>
              <a:t>https://github.com/BUMETCS673/CS673OLF26P2/blob/efec09be14c28154b76d3cfbcf965d33bd3c51a1/code/plans/FINALIZE_ITERATION_2_PLAN.md</a:t>
            </a:r>
            <a:endParaRPr/>
          </a:p>
        </p:txBody>
      </p:sp>
      <p:sp>
        <p:nvSpPr>
          <p:cNvPr id="359" name="Google Shape;35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8FA"/>
        </a:solidFill>
      </p:bgPr>
    </p:bg>
    <p:spTree>
      <p:nvGrpSpPr>
        <p:cNvPr id="11" name="Shape 11"/>
        <p:cNvGrpSpPr/>
        <p:nvPr/>
      </p:nvGrpSpPr>
      <p:grpSpPr>
        <a:xfrm>
          <a:off x="0" y="0"/>
          <a:ext cx="0" cy="0"/>
          <a:chOff x="0" y="0"/>
          <a:chExt cx="0" cy="0"/>
        </a:xfrm>
      </p:grpSpPr>
      <p:sp>
        <p:nvSpPr>
          <p:cNvPr id="12" name="Google Shape;12;p2"/>
          <p:cNvSpPr/>
          <p:nvPr/>
        </p:nvSpPr>
        <p:spPr>
          <a:xfrm>
            <a:off x="0" y="0"/>
            <a:ext cx="9143771" cy="82296"/>
          </a:xfrm>
          <a:prstGeom prst="rect">
            <a:avLst/>
          </a:prstGeom>
          <a:solidFill>
            <a:srgbClr val="29A3A3"/>
          </a:solidFill>
          <a:ln cap="flat" cmpd="sng" w="12700">
            <a:solidFill>
              <a:srgbClr val="29A3A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a:solidFill>
                <a:srgbClr val="000000"/>
              </a:solidFill>
              <a:latin typeface="Arial"/>
              <a:ea typeface="Arial"/>
              <a:cs typeface="Arial"/>
              <a:sym typeface="Arial"/>
            </a:endParaRPr>
          </a:p>
        </p:txBody>
      </p:sp>
      <p:sp>
        <p:nvSpPr>
          <p:cNvPr id="13" name="Google Shape;13;p2"/>
          <p:cNvSpPr/>
          <p:nvPr/>
        </p:nvSpPr>
        <p:spPr>
          <a:xfrm>
            <a:off x="7338060" y="4855464"/>
            <a:ext cx="1440180" cy="1234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491"/>
              </a:buClr>
              <a:buSzPts val="600"/>
              <a:buFont typeface="Arial"/>
              <a:buNone/>
            </a:pPr>
            <a:r>
              <a:rPr b="0" i="0" lang="en-US" sz="600" u="none" cap="none">
                <a:solidFill>
                  <a:srgbClr val="7A8491"/>
                </a:solidFill>
                <a:latin typeface="Arial"/>
                <a:ea typeface="Arial"/>
                <a:cs typeface="Arial"/>
                <a:sym typeface="Arial"/>
              </a:rPr>
              <a:t>CS673 • Team 2</a:t>
            </a:r>
            <a:endParaRPr b="0" i="0" sz="600" u="none" cap="none">
              <a:solidFill>
                <a:schemeClr val="dk1"/>
              </a:solidFill>
              <a:latin typeface="Arial"/>
              <a:ea typeface="Arial"/>
              <a:cs typeface="Arial"/>
              <a:sym typeface="Arial"/>
            </a:endParaRPr>
          </a:p>
        </p:txBody>
      </p:sp>
      <p:sp>
        <p:nvSpPr>
          <p:cNvPr id="14" name="Google Shape;14;p2"/>
          <p:cNvSpPr txBox="1"/>
          <p:nvPr>
            <p:ph idx="12" type="sldNum"/>
          </p:nvPr>
        </p:nvSpPr>
        <p:spPr>
          <a:xfrm>
            <a:off x="8881110" y="4855464"/>
            <a:ext cx="123444" cy="123444"/>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881110" y="4855464"/>
            <a:ext cx="123444" cy="123444"/>
          </a:xfrm>
          <a:prstGeom prst="rect">
            <a:avLst/>
          </a:prstGeom>
          <a:noFill/>
          <a:ln>
            <a:noFill/>
          </a:ln>
        </p:spPr>
        <p:txBody>
          <a:bodyPr anchorCtr="0" anchor="t" bIns="34275" lIns="68575" spcFirstLastPara="1" rIns="68575" wrap="square" tIns="34275">
            <a:noAutofit/>
          </a:bodyPr>
          <a:lstStyle>
            <a:lvl1pPr indent="0" lvl="0"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600"/>
              <a:buFont typeface="Arial"/>
              <a:buNone/>
              <a:defRPr b="0" i="0" sz="600" u="none" cap="none">
                <a:solidFill>
                  <a:srgbClr val="7A849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20" name="Shape 20"/>
        <p:cNvGrpSpPr/>
        <p:nvPr/>
      </p:nvGrpSpPr>
      <p:grpSpPr>
        <a:xfrm>
          <a:off x="0" y="0"/>
          <a:ext cx="0" cy="0"/>
          <a:chOff x="0" y="0"/>
          <a:chExt cx="0" cy="0"/>
        </a:xfrm>
      </p:grpSpPr>
      <p:sp>
        <p:nvSpPr>
          <p:cNvPr id="21" name="Google Shape;21;p4"/>
          <p:cNvSpPr/>
          <p:nvPr/>
        </p:nvSpPr>
        <p:spPr>
          <a:xfrm>
            <a:off x="5897880" y="82296"/>
            <a:ext cx="3243900" cy="4773300"/>
          </a:xfrm>
          <a:prstGeom prst="rect">
            <a:avLst/>
          </a:prstGeom>
          <a:solidFill>
            <a:srgbClr val="E7F2F3"/>
          </a:solidFill>
          <a:ln cap="flat" cmpd="sng" w="12700">
            <a:solidFill>
              <a:srgbClr val="E7F2F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 name="Google Shape;22;p4"/>
          <p:cNvSpPr/>
          <p:nvPr/>
        </p:nvSpPr>
        <p:spPr>
          <a:xfrm>
            <a:off x="480060" y="445770"/>
            <a:ext cx="3429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i="0" lang="en-US" sz="800" u="none" cap="none">
                <a:solidFill>
                  <a:srgbClr val="159A9C"/>
                </a:solidFill>
                <a:latin typeface="Arial"/>
                <a:ea typeface="Arial"/>
                <a:cs typeface="Arial"/>
                <a:sym typeface="Arial"/>
              </a:rPr>
              <a:t>CS673 SOFTWARE ENGINEERING</a:t>
            </a:r>
            <a:endParaRPr b="0" i="0" sz="800" u="none" cap="none">
              <a:solidFill>
                <a:schemeClr val="dk1"/>
              </a:solidFill>
              <a:latin typeface="Arial"/>
              <a:ea typeface="Arial"/>
              <a:cs typeface="Arial"/>
              <a:sym typeface="Arial"/>
            </a:endParaRPr>
          </a:p>
        </p:txBody>
      </p:sp>
      <p:sp>
        <p:nvSpPr>
          <p:cNvPr id="23" name="Google Shape;23;p4"/>
          <p:cNvSpPr/>
          <p:nvPr/>
        </p:nvSpPr>
        <p:spPr>
          <a:xfrm>
            <a:off x="480050" y="1347503"/>
            <a:ext cx="5212200" cy="99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300"/>
              <a:buFont typeface="Arial"/>
              <a:buNone/>
            </a:pPr>
            <a:r>
              <a:rPr b="1" lang="en-US" sz="2300">
                <a:solidFill>
                  <a:srgbClr val="17212B"/>
                </a:solidFill>
              </a:rPr>
              <a:t>Cadence</a:t>
            </a:r>
            <a:endParaRPr b="1" sz="2300">
              <a:solidFill>
                <a:srgbClr val="17212B"/>
              </a:solidFill>
            </a:endParaRPr>
          </a:p>
          <a:p>
            <a:pPr indent="0" lvl="0" marL="0" marR="0" rtl="0" algn="l">
              <a:spcBef>
                <a:spcPts val="0"/>
              </a:spcBef>
              <a:spcAft>
                <a:spcPts val="0"/>
              </a:spcAft>
              <a:buClr>
                <a:srgbClr val="17212B"/>
              </a:buClr>
              <a:buSzPts val="2300"/>
              <a:buFont typeface="Arial"/>
              <a:buNone/>
            </a:pPr>
            <a:r>
              <a:t/>
            </a:r>
            <a:endParaRPr b="1" sz="1600">
              <a:solidFill>
                <a:srgbClr val="17212B"/>
              </a:solidFill>
            </a:endParaRPr>
          </a:p>
          <a:p>
            <a:pPr indent="0" lvl="0" marL="0" marR="0" rtl="0" algn="l">
              <a:spcBef>
                <a:spcPts val="0"/>
              </a:spcBef>
              <a:spcAft>
                <a:spcPts val="0"/>
              </a:spcAft>
              <a:buClr>
                <a:srgbClr val="17212B"/>
              </a:buClr>
              <a:buSzPts val="2300"/>
              <a:buFont typeface="Arial"/>
              <a:buNone/>
            </a:pPr>
            <a:r>
              <a:rPr b="1" i="0" lang="en-US" sz="1600" u="none" cap="none">
                <a:solidFill>
                  <a:srgbClr val="17212B"/>
                </a:solidFill>
                <a:latin typeface="Arial"/>
                <a:ea typeface="Arial"/>
                <a:cs typeface="Arial"/>
                <a:sym typeface="Arial"/>
              </a:rPr>
              <a:t>AI-Powered</a:t>
            </a:r>
            <a:r>
              <a:rPr lang="en-US" sz="1600">
                <a:solidFill>
                  <a:schemeClr val="dk1"/>
                </a:solidFill>
              </a:rPr>
              <a:t> </a:t>
            </a:r>
            <a:r>
              <a:rPr b="1" i="0" lang="en-US" sz="1600" u="none" cap="none">
                <a:solidFill>
                  <a:srgbClr val="17212B"/>
                </a:solidFill>
                <a:latin typeface="Arial"/>
                <a:ea typeface="Arial"/>
                <a:cs typeface="Arial"/>
                <a:sym typeface="Arial"/>
              </a:rPr>
              <a:t>Spaced Repetition</a:t>
            </a:r>
            <a:r>
              <a:rPr lang="en-US" sz="1600">
                <a:solidFill>
                  <a:schemeClr val="dk1"/>
                </a:solidFill>
              </a:rPr>
              <a:t> </a:t>
            </a:r>
            <a:r>
              <a:rPr b="1" i="0" lang="en-US" sz="1600" u="none" cap="none">
                <a:solidFill>
                  <a:srgbClr val="17212B"/>
                </a:solidFill>
                <a:latin typeface="Arial"/>
                <a:ea typeface="Arial"/>
                <a:cs typeface="Arial"/>
                <a:sym typeface="Arial"/>
              </a:rPr>
              <a:t>Learning Platform</a:t>
            </a:r>
            <a:endParaRPr b="0" i="0" sz="1600" u="none" cap="none">
              <a:solidFill>
                <a:schemeClr val="dk1"/>
              </a:solidFill>
              <a:latin typeface="Arial"/>
              <a:ea typeface="Arial"/>
              <a:cs typeface="Arial"/>
              <a:sym typeface="Arial"/>
            </a:endParaRPr>
          </a:p>
        </p:txBody>
      </p:sp>
      <p:sp>
        <p:nvSpPr>
          <p:cNvPr id="24" name="Google Shape;24;p4"/>
          <p:cNvSpPr/>
          <p:nvPr/>
        </p:nvSpPr>
        <p:spPr>
          <a:xfrm>
            <a:off x="493776" y="2503170"/>
            <a:ext cx="41148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300"/>
              <a:buFont typeface="Arial"/>
              <a:buNone/>
            </a:pPr>
            <a:r>
              <a:rPr b="0" lang="en-US" sz="1350">
                <a:solidFill>
                  <a:srgbClr val="606C78"/>
                </a:solidFill>
                <a:latin typeface="Arial"/>
                <a:ea typeface="Arial"/>
                <a:cs typeface="Arial"/>
                <a:sym typeface="Arial"/>
              </a:rPr>
              <a:t>Study mode and spaced repetition · Iteration 2</a:t>
            </a:r>
            <a:endParaRPr b="0" i="0" sz="1300" u="none" cap="none">
              <a:solidFill>
                <a:schemeClr val="dk1"/>
              </a:solidFill>
              <a:latin typeface="Arial"/>
              <a:ea typeface="Arial"/>
              <a:cs typeface="Arial"/>
              <a:sym typeface="Arial"/>
            </a:endParaRPr>
          </a:p>
        </p:txBody>
      </p:sp>
      <p:sp>
        <p:nvSpPr>
          <p:cNvPr id="25" name="Google Shape;25;p4"/>
          <p:cNvSpPr/>
          <p:nvPr/>
        </p:nvSpPr>
        <p:spPr>
          <a:xfrm>
            <a:off x="493776" y="2942844"/>
            <a:ext cx="137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rPr b="1" i="0" lang="en-US" sz="1100" u="none" cap="none">
                <a:solidFill>
                  <a:srgbClr val="17212B"/>
                </a:solidFill>
                <a:latin typeface="Arial"/>
                <a:ea typeface="Arial"/>
                <a:cs typeface="Arial"/>
                <a:sym typeface="Arial"/>
              </a:rPr>
              <a:t>Team 2</a:t>
            </a:r>
            <a:endParaRPr b="0" i="0" sz="1100" u="none" cap="none">
              <a:solidFill>
                <a:schemeClr val="dk1"/>
              </a:solidFill>
              <a:latin typeface="Arial"/>
              <a:ea typeface="Arial"/>
              <a:cs typeface="Arial"/>
              <a:sym typeface="Arial"/>
            </a:endParaRPr>
          </a:p>
        </p:txBody>
      </p:sp>
      <p:sp>
        <p:nvSpPr>
          <p:cNvPr id="26" name="Google Shape;26;p4"/>
          <p:cNvSpPr/>
          <p:nvPr/>
        </p:nvSpPr>
        <p:spPr>
          <a:xfrm>
            <a:off x="6412230" y="754380"/>
            <a:ext cx="2091600" cy="3257700"/>
          </a:xfrm>
          <a:prstGeom prst="roundRect">
            <a:avLst>
              <a:gd fmla="val 1666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 name="Google Shape;27;p4"/>
          <p:cNvSpPr/>
          <p:nvPr/>
        </p:nvSpPr>
        <p:spPr>
          <a:xfrm>
            <a:off x="6665976" y="1474470"/>
            <a:ext cx="15774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500"/>
              <a:buFont typeface="Arial"/>
              <a:buNone/>
            </a:pPr>
            <a:r>
              <a:rPr b="1" i="0" lang="en-US" sz="1500" u="none" cap="none">
                <a:solidFill>
                  <a:srgbClr val="17212B"/>
                </a:solidFill>
                <a:latin typeface="Arial"/>
                <a:ea typeface="Arial"/>
                <a:cs typeface="Arial"/>
                <a:sym typeface="Arial"/>
              </a:rPr>
              <a:t>What is spaced</a:t>
            </a:r>
            <a:endParaRPr b="0" i="0" sz="1500" u="none" cap="none">
              <a:solidFill>
                <a:schemeClr val="dk1"/>
              </a:solidFill>
              <a:latin typeface="Arial"/>
              <a:ea typeface="Arial"/>
              <a:cs typeface="Arial"/>
              <a:sym typeface="Arial"/>
            </a:endParaRPr>
          </a:p>
          <a:p>
            <a:pPr indent="0" lvl="0" marL="0" marR="0" rtl="0" algn="l">
              <a:spcBef>
                <a:spcPts val="0"/>
              </a:spcBef>
              <a:spcAft>
                <a:spcPts val="0"/>
              </a:spcAft>
              <a:buClr>
                <a:srgbClr val="17212B"/>
              </a:buClr>
              <a:buSzPts val="1500"/>
              <a:buFont typeface="Arial"/>
              <a:buNone/>
            </a:pPr>
            <a:r>
              <a:rPr b="1" i="0" lang="en-US" sz="1500" u="none" cap="none">
                <a:solidFill>
                  <a:srgbClr val="17212B"/>
                </a:solidFill>
                <a:latin typeface="Arial"/>
                <a:ea typeface="Arial"/>
                <a:cs typeface="Arial"/>
                <a:sym typeface="Arial"/>
              </a:rPr>
              <a:t>repetition?</a:t>
            </a:r>
            <a:endParaRPr b="0" i="0" sz="1500" u="none" cap="none">
              <a:solidFill>
                <a:schemeClr val="dk1"/>
              </a:solidFill>
              <a:latin typeface="Arial"/>
              <a:ea typeface="Arial"/>
              <a:cs typeface="Arial"/>
              <a:sym typeface="Arial"/>
            </a:endParaRPr>
          </a:p>
        </p:txBody>
      </p:sp>
      <p:cxnSp>
        <p:nvCxnSpPr>
          <p:cNvPr id="28" name="Google Shape;28;p4"/>
          <p:cNvCxnSpPr/>
          <p:nvPr/>
        </p:nvCxnSpPr>
        <p:spPr>
          <a:xfrm>
            <a:off x="6686550" y="2180844"/>
            <a:ext cx="1543200" cy="0"/>
          </a:xfrm>
          <a:prstGeom prst="straightConnector1">
            <a:avLst/>
          </a:prstGeom>
          <a:noFill/>
          <a:ln cap="flat" cmpd="sng" w="12700">
            <a:solidFill>
              <a:srgbClr val="D9E0E6"/>
            </a:solidFill>
            <a:prstDash val="solid"/>
            <a:round/>
            <a:headEnd len="sm" w="sm" type="none"/>
            <a:tailEnd len="sm" w="sm" type="none"/>
          </a:ln>
        </p:spPr>
      </p:cxnSp>
      <p:sp>
        <p:nvSpPr>
          <p:cNvPr id="29" name="Google Shape;29;p4"/>
          <p:cNvSpPr/>
          <p:nvPr/>
        </p:nvSpPr>
        <p:spPr>
          <a:xfrm>
            <a:off x="6665976" y="2386584"/>
            <a:ext cx="1543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100"/>
              <a:buFont typeface="Arial"/>
              <a:buNone/>
            </a:pPr>
            <a:r>
              <a:rPr b="0" i="0" lang="en-US" sz="1100" u="none" cap="none">
                <a:solidFill>
                  <a:srgbClr val="5F6B76"/>
                </a:solidFill>
                <a:latin typeface="Arial"/>
                <a:ea typeface="Arial"/>
                <a:cs typeface="Arial"/>
                <a:sym typeface="Arial"/>
              </a:rPr>
              <a:t>Review information at</a:t>
            </a:r>
            <a:endParaRPr b="0" i="0" sz="1100" u="none" cap="none">
              <a:solidFill>
                <a:schemeClr val="dk1"/>
              </a:solidFill>
              <a:latin typeface="Arial"/>
              <a:ea typeface="Arial"/>
              <a:cs typeface="Arial"/>
              <a:sym typeface="Arial"/>
            </a:endParaRPr>
          </a:p>
          <a:p>
            <a:pPr indent="0" lvl="0" marL="0" marR="0" rtl="0" algn="l">
              <a:spcBef>
                <a:spcPts val="0"/>
              </a:spcBef>
              <a:spcAft>
                <a:spcPts val="0"/>
              </a:spcAft>
              <a:buClr>
                <a:srgbClr val="5F6B76"/>
              </a:buClr>
              <a:buSzPts val="1100"/>
              <a:buFont typeface="Arial"/>
              <a:buNone/>
            </a:pPr>
            <a:r>
              <a:rPr b="0" i="0" lang="en-US" sz="1100" u="none" cap="none">
                <a:solidFill>
                  <a:srgbClr val="5F6B76"/>
                </a:solidFill>
                <a:latin typeface="Arial"/>
                <a:ea typeface="Arial"/>
                <a:cs typeface="Arial"/>
                <a:sym typeface="Arial"/>
              </a:rPr>
              <a:t>increasing intervals based</a:t>
            </a:r>
            <a:endParaRPr b="0" i="0" sz="1100" u="none" cap="none">
              <a:solidFill>
                <a:schemeClr val="dk1"/>
              </a:solidFill>
              <a:latin typeface="Arial"/>
              <a:ea typeface="Arial"/>
              <a:cs typeface="Arial"/>
              <a:sym typeface="Arial"/>
            </a:endParaRPr>
          </a:p>
          <a:p>
            <a:pPr indent="0" lvl="0" marL="0" marR="0" rtl="0" algn="l">
              <a:spcBef>
                <a:spcPts val="0"/>
              </a:spcBef>
              <a:spcAft>
                <a:spcPts val="0"/>
              </a:spcAft>
              <a:buClr>
                <a:srgbClr val="5F6B76"/>
              </a:buClr>
              <a:buSzPts val="1100"/>
              <a:buFont typeface="Arial"/>
              <a:buNone/>
            </a:pPr>
            <a:r>
              <a:rPr b="0" i="0" lang="en-US" sz="1100" u="none" cap="none">
                <a:solidFill>
                  <a:srgbClr val="5F6B76"/>
                </a:solidFill>
                <a:latin typeface="Arial"/>
                <a:ea typeface="Arial"/>
                <a:cs typeface="Arial"/>
                <a:sym typeface="Arial"/>
              </a:rPr>
              <a:t>on recall performance.</a:t>
            </a:r>
            <a:endParaRPr b="0" i="0" sz="1100" u="none" cap="none">
              <a:solidFill>
                <a:schemeClr val="dk1"/>
              </a:solidFill>
              <a:latin typeface="Arial"/>
              <a:ea typeface="Arial"/>
              <a:cs typeface="Arial"/>
              <a:sym typeface="Arial"/>
            </a:endParaRPr>
          </a:p>
        </p:txBody>
      </p:sp>
      <p:sp>
        <p:nvSpPr>
          <p:cNvPr id="30" name="Google Shape;30;p4"/>
          <p:cNvSpPr txBox="1"/>
          <p:nvPr>
            <p:ph idx="4294967295" type="sldNum"/>
          </p:nvPr>
        </p:nvSpPr>
        <p:spPr>
          <a:xfrm>
            <a:off x="8881110" y="4855464"/>
            <a:ext cx="123300" cy="123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SzPts val="600"/>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5"/>
          <p:cNvSpPr/>
          <p:nvPr/>
        </p:nvSpPr>
        <p:spPr>
          <a:xfrm>
            <a:off x="445770" y="260604"/>
            <a:ext cx="3429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i="0" lang="en-US" sz="800" u="none" cap="none">
                <a:solidFill>
                  <a:srgbClr val="159A9C"/>
                </a:solidFill>
                <a:latin typeface="Arial"/>
                <a:ea typeface="Arial"/>
                <a:cs typeface="Arial"/>
                <a:sym typeface="Arial"/>
              </a:rPr>
              <a:t>ORGANIZATION</a:t>
            </a:r>
            <a:endParaRPr b="0" i="0" sz="800" u="none" cap="none">
              <a:solidFill>
                <a:schemeClr val="dk1"/>
              </a:solidFill>
              <a:latin typeface="Arial"/>
              <a:ea typeface="Arial"/>
              <a:cs typeface="Arial"/>
              <a:sym typeface="Arial"/>
            </a:endParaRPr>
          </a:p>
        </p:txBody>
      </p:sp>
      <p:sp>
        <p:nvSpPr>
          <p:cNvPr id="37" name="Google Shape;37;p5"/>
          <p:cNvSpPr/>
          <p:nvPr/>
        </p:nvSpPr>
        <p:spPr>
          <a:xfrm>
            <a:off x="445770" y="493776"/>
            <a:ext cx="8229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100"/>
              <a:buFont typeface="Arial"/>
              <a:buNone/>
            </a:pPr>
            <a:r>
              <a:rPr b="1" i="0" lang="en-US" sz="2100" u="none" cap="none">
                <a:solidFill>
                  <a:srgbClr val="17212B"/>
                </a:solidFill>
                <a:latin typeface="Arial"/>
                <a:ea typeface="Arial"/>
                <a:cs typeface="Arial"/>
                <a:sym typeface="Arial"/>
              </a:rPr>
              <a:t>Team &amp; Roles</a:t>
            </a:r>
            <a:endParaRPr b="0" i="0" sz="2100" u="none" cap="none">
              <a:solidFill>
                <a:schemeClr val="dk1"/>
              </a:solidFill>
              <a:latin typeface="Arial"/>
              <a:ea typeface="Arial"/>
              <a:cs typeface="Arial"/>
              <a:sym typeface="Arial"/>
            </a:endParaRPr>
          </a:p>
        </p:txBody>
      </p:sp>
      <p:sp>
        <p:nvSpPr>
          <p:cNvPr id="38" name="Google Shape;38;p5"/>
          <p:cNvSpPr/>
          <p:nvPr/>
        </p:nvSpPr>
        <p:spPr>
          <a:xfrm>
            <a:off x="1845960" y="1491615"/>
            <a:ext cx="493800" cy="493800"/>
          </a:xfrm>
          <a:prstGeom prst="ellipse">
            <a:avLst/>
          </a:prstGeom>
          <a:solidFill>
            <a:srgbClr val="DDEEE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9" name="Google Shape;39;p5"/>
          <p:cNvSpPr/>
          <p:nvPr/>
        </p:nvSpPr>
        <p:spPr>
          <a:xfrm>
            <a:off x="1845960" y="1615059"/>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i="0" lang="en-US" sz="1500" u="none" cap="none">
                <a:solidFill>
                  <a:srgbClr val="159A9C"/>
                </a:solidFill>
                <a:latin typeface="Arial"/>
                <a:ea typeface="Arial"/>
                <a:cs typeface="Arial"/>
                <a:sym typeface="Arial"/>
              </a:rPr>
              <a:t>M</a:t>
            </a:r>
            <a:endParaRPr b="0" i="0" sz="1500" u="none" cap="none">
              <a:solidFill>
                <a:schemeClr val="dk1"/>
              </a:solidFill>
              <a:latin typeface="Arial"/>
              <a:ea typeface="Arial"/>
              <a:cs typeface="Arial"/>
              <a:sym typeface="Arial"/>
            </a:endParaRPr>
          </a:p>
        </p:txBody>
      </p:sp>
      <p:sp>
        <p:nvSpPr>
          <p:cNvPr id="40" name="Google Shape;40;p5"/>
          <p:cNvSpPr/>
          <p:nvPr/>
        </p:nvSpPr>
        <p:spPr>
          <a:xfrm>
            <a:off x="2497470" y="1600200"/>
            <a:ext cx="1851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18232D"/>
                </a:solidFill>
                <a:latin typeface="Arial"/>
                <a:ea typeface="Arial"/>
                <a:cs typeface="Arial"/>
                <a:sym typeface="Arial"/>
              </a:rPr>
              <a:t>Miles Cameron</a:t>
            </a:r>
            <a:endParaRPr/>
          </a:p>
        </p:txBody>
      </p:sp>
      <p:sp>
        <p:nvSpPr>
          <p:cNvPr id="41" name="Google Shape;41;p5"/>
          <p:cNvSpPr/>
          <p:nvPr/>
        </p:nvSpPr>
        <p:spPr>
          <a:xfrm>
            <a:off x="2497470" y="1866900"/>
            <a:ext cx="1954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606C78"/>
                </a:solidFill>
                <a:latin typeface="Arial"/>
                <a:ea typeface="Arial"/>
                <a:cs typeface="Arial"/>
                <a:sym typeface="Arial"/>
              </a:rPr>
              <a:t>Team Leader, Security Leader</a:t>
            </a:r>
            <a:endParaRPr/>
          </a:p>
        </p:txBody>
      </p:sp>
      <p:sp>
        <p:nvSpPr>
          <p:cNvPr id="42" name="Google Shape;42;p5"/>
          <p:cNvSpPr/>
          <p:nvPr/>
        </p:nvSpPr>
        <p:spPr>
          <a:xfrm>
            <a:off x="4692030" y="1491615"/>
            <a:ext cx="493800" cy="493800"/>
          </a:xfrm>
          <a:prstGeom prst="ellipse">
            <a:avLst/>
          </a:prstGeom>
          <a:solidFill>
            <a:srgbClr val="E7EBF6"/>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43" name="Google Shape;43;p5"/>
          <p:cNvSpPr/>
          <p:nvPr/>
        </p:nvSpPr>
        <p:spPr>
          <a:xfrm>
            <a:off x="4692030" y="1615059"/>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i="0" lang="en-US" sz="1500" u="none" cap="none">
                <a:solidFill>
                  <a:srgbClr val="159A9C"/>
                </a:solidFill>
                <a:latin typeface="Arial"/>
                <a:ea typeface="Arial"/>
                <a:cs typeface="Arial"/>
                <a:sym typeface="Arial"/>
              </a:rPr>
              <a:t>N</a:t>
            </a:r>
            <a:endParaRPr b="0" i="0" sz="1500" u="none" cap="none">
              <a:solidFill>
                <a:schemeClr val="dk1"/>
              </a:solidFill>
              <a:latin typeface="Arial"/>
              <a:ea typeface="Arial"/>
              <a:cs typeface="Arial"/>
              <a:sym typeface="Arial"/>
            </a:endParaRPr>
          </a:p>
        </p:txBody>
      </p:sp>
      <p:sp>
        <p:nvSpPr>
          <p:cNvPr id="44" name="Google Shape;44;p5"/>
          <p:cNvSpPr/>
          <p:nvPr/>
        </p:nvSpPr>
        <p:spPr>
          <a:xfrm>
            <a:off x="5343540" y="1600200"/>
            <a:ext cx="1851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18232D"/>
                </a:solidFill>
                <a:latin typeface="Arial"/>
                <a:ea typeface="Arial"/>
                <a:cs typeface="Arial"/>
                <a:sym typeface="Arial"/>
              </a:rPr>
              <a:t>Nurzat Mukhamedali</a:t>
            </a:r>
            <a:br>
              <a:rPr b="1" lang="en-US" sz="1200">
                <a:solidFill>
                  <a:srgbClr val="18232D"/>
                </a:solidFill>
                <a:latin typeface="Arial"/>
                <a:ea typeface="Arial"/>
                <a:cs typeface="Arial"/>
                <a:sym typeface="Arial"/>
              </a:rPr>
            </a:br>
            <a:endParaRPr/>
          </a:p>
        </p:txBody>
      </p:sp>
      <p:sp>
        <p:nvSpPr>
          <p:cNvPr id="45" name="Google Shape;45;p5"/>
          <p:cNvSpPr/>
          <p:nvPr/>
        </p:nvSpPr>
        <p:spPr>
          <a:xfrm>
            <a:off x="5343540" y="1866900"/>
            <a:ext cx="1954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606C78"/>
                </a:solidFill>
                <a:latin typeface="Arial"/>
                <a:ea typeface="Arial"/>
                <a:cs typeface="Arial"/>
                <a:sym typeface="Arial"/>
              </a:rPr>
              <a:t>Requirements Leader</a:t>
            </a:r>
            <a:endParaRPr/>
          </a:p>
        </p:txBody>
      </p:sp>
      <p:sp>
        <p:nvSpPr>
          <p:cNvPr id="46" name="Google Shape;46;p5"/>
          <p:cNvSpPr/>
          <p:nvPr/>
        </p:nvSpPr>
        <p:spPr>
          <a:xfrm>
            <a:off x="1845960" y="3034665"/>
            <a:ext cx="493800" cy="493800"/>
          </a:xfrm>
          <a:prstGeom prst="ellipse">
            <a:avLst/>
          </a:prstGeom>
          <a:solidFill>
            <a:srgbClr val="DDEEE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47" name="Google Shape;47;p5"/>
          <p:cNvSpPr/>
          <p:nvPr/>
        </p:nvSpPr>
        <p:spPr>
          <a:xfrm>
            <a:off x="1845960" y="3158109"/>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lang="en-US" sz="1500">
                <a:solidFill>
                  <a:srgbClr val="159A9C"/>
                </a:solidFill>
              </a:rPr>
              <a:t>O</a:t>
            </a:r>
            <a:endParaRPr b="0" i="0" sz="1500" u="none" cap="none">
              <a:solidFill>
                <a:schemeClr val="dk1"/>
              </a:solidFill>
              <a:latin typeface="Arial"/>
              <a:ea typeface="Arial"/>
              <a:cs typeface="Arial"/>
              <a:sym typeface="Arial"/>
            </a:endParaRPr>
          </a:p>
        </p:txBody>
      </p:sp>
      <p:sp>
        <p:nvSpPr>
          <p:cNvPr id="48" name="Google Shape;48;p5"/>
          <p:cNvSpPr/>
          <p:nvPr/>
        </p:nvSpPr>
        <p:spPr>
          <a:xfrm>
            <a:off x="2497470" y="3143250"/>
            <a:ext cx="1851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18232D"/>
                </a:solidFill>
                <a:latin typeface="Arial"/>
                <a:ea typeface="Arial"/>
                <a:cs typeface="Arial"/>
                <a:sym typeface="Arial"/>
              </a:rPr>
              <a:t>Osasenaga Von Okunbor</a:t>
            </a:r>
            <a:br>
              <a:rPr b="1" lang="en-US" sz="1200">
                <a:solidFill>
                  <a:srgbClr val="18232D"/>
                </a:solidFill>
                <a:latin typeface="Arial"/>
                <a:ea typeface="Arial"/>
                <a:cs typeface="Arial"/>
                <a:sym typeface="Arial"/>
              </a:rPr>
            </a:br>
            <a:endParaRPr/>
          </a:p>
        </p:txBody>
      </p:sp>
      <p:sp>
        <p:nvSpPr>
          <p:cNvPr id="49" name="Google Shape;49;p5"/>
          <p:cNvSpPr/>
          <p:nvPr/>
        </p:nvSpPr>
        <p:spPr>
          <a:xfrm>
            <a:off x="2497470" y="3409950"/>
            <a:ext cx="1954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606C78"/>
                </a:solidFill>
                <a:latin typeface="Arial"/>
                <a:ea typeface="Arial"/>
                <a:cs typeface="Arial"/>
                <a:sym typeface="Arial"/>
              </a:rPr>
              <a:t>QA Leader</a:t>
            </a:r>
            <a:endParaRPr/>
          </a:p>
        </p:txBody>
      </p:sp>
      <p:sp>
        <p:nvSpPr>
          <p:cNvPr id="50" name="Google Shape;50;p5"/>
          <p:cNvSpPr/>
          <p:nvPr/>
        </p:nvSpPr>
        <p:spPr>
          <a:xfrm>
            <a:off x="4692030" y="3034665"/>
            <a:ext cx="493800" cy="493800"/>
          </a:xfrm>
          <a:prstGeom prst="ellipse">
            <a:avLst/>
          </a:prstGeom>
          <a:solidFill>
            <a:srgbClr val="E7EBF6"/>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51" name="Google Shape;51;p5"/>
          <p:cNvSpPr/>
          <p:nvPr/>
        </p:nvSpPr>
        <p:spPr>
          <a:xfrm>
            <a:off x="4692030" y="3158109"/>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i="0" lang="en-US" sz="1500" u="none" cap="none">
                <a:solidFill>
                  <a:srgbClr val="159A9C"/>
                </a:solidFill>
                <a:latin typeface="Arial"/>
                <a:ea typeface="Arial"/>
                <a:cs typeface="Arial"/>
                <a:sym typeface="Arial"/>
              </a:rPr>
              <a:t>D</a:t>
            </a:r>
            <a:endParaRPr b="0" i="0" sz="1500" u="none" cap="none">
              <a:solidFill>
                <a:schemeClr val="dk1"/>
              </a:solidFill>
              <a:latin typeface="Arial"/>
              <a:ea typeface="Arial"/>
              <a:cs typeface="Arial"/>
              <a:sym typeface="Arial"/>
            </a:endParaRPr>
          </a:p>
        </p:txBody>
      </p:sp>
      <p:sp>
        <p:nvSpPr>
          <p:cNvPr id="52" name="Google Shape;52;p5"/>
          <p:cNvSpPr/>
          <p:nvPr/>
        </p:nvSpPr>
        <p:spPr>
          <a:xfrm>
            <a:off x="5343540" y="3143250"/>
            <a:ext cx="1851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18232D"/>
                </a:solidFill>
                <a:latin typeface="Arial"/>
                <a:ea typeface="Arial"/>
                <a:cs typeface="Arial"/>
                <a:sym typeface="Arial"/>
              </a:rPr>
              <a:t>Duc Anh Nguyen</a:t>
            </a:r>
            <a:endParaRPr/>
          </a:p>
        </p:txBody>
      </p:sp>
      <p:sp>
        <p:nvSpPr>
          <p:cNvPr id="53" name="Google Shape;53;p5"/>
          <p:cNvSpPr/>
          <p:nvPr/>
        </p:nvSpPr>
        <p:spPr>
          <a:xfrm>
            <a:off x="5343540" y="3409950"/>
            <a:ext cx="19545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975">
                <a:solidFill>
                  <a:srgbClr val="606C78"/>
                </a:solidFill>
                <a:latin typeface="Arial"/>
                <a:ea typeface="Arial"/>
                <a:cs typeface="Arial"/>
                <a:sym typeface="Arial"/>
              </a:rPr>
              <a:t>Config / DevOps Leader, Design &amp; Implementation Leader</a:t>
            </a:r>
            <a:endParaRPr/>
          </a:p>
        </p:txBody>
      </p:sp>
      <p:sp>
        <p:nvSpPr>
          <p:cNvPr id="54" name="Google Shape;54;p5"/>
          <p:cNvSpPr txBox="1"/>
          <p:nvPr>
            <p:ph idx="4294967295" type="sldNum"/>
          </p:nvPr>
        </p:nvSpPr>
        <p:spPr>
          <a:xfrm>
            <a:off x="8881110" y="4855464"/>
            <a:ext cx="123300" cy="123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SzPts val="600"/>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6"/>
          <p:cNvSpPr/>
          <p:nvPr/>
        </p:nvSpPr>
        <p:spPr>
          <a:xfrm>
            <a:off x="445770" y="260604"/>
            <a:ext cx="34290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800"/>
              <a:buFont typeface="Arial"/>
              <a:buNone/>
            </a:pPr>
            <a:r>
              <a:rPr b="1" lang="en-US" sz="800">
                <a:solidFill>
                  <a:srgbClr val="159A9C"/>
                </a:solidFill>
              </a:rPr>
              <a:t>PROJECT RECAP</a:t>
            </a:r>
            <a:endParaRPr b="1" sz="800">
              <a:solidFill>
                <a:srgbClr val="159A9C"/>
              </a:solidFill>
            </a:endParaRPr>
          </a:p>
        </p:txBody>
      </p:sp>
      <p:sp>
        <p:nvSpPr>
          <p:cNvPr id="61" name="Google Shape;61;p6"/>
          <p:cNvSpPr/>
          <p:nvPr/>
        </p:nvSpPr>
        <p:spPr>
          <a:xfrm>
            <a:off x="445770" y="493776"/>
            <a:ext cx="8229600" cy="3771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100"/>
              <a:buFont typeface="Arial"/>
              <a:buNone/>
            </a:pPr>
            <a:r>
              <a:rPr b="1" lang="en-US" sz="2100">
                <a:solidFill>
                  <a:srgbClr val="17212B"/>
                </a:solidFill>
              </a:rPr>
              <a:t>What Cadence is for</a:t>
            </a:r>
            <a:endParaRPr b="1" sz="2100">
              <a:solidFill>
                <a:srgbClr val="17212B"/>
              </a:solidFill>
            </a:endParaRPr>
          </a:p>
        </p:txBody>
      </p:sp>
      <p:sp>
        <p:nvSpPr>
          <p:cNvPr id="62" name="Google Shape;62;p6"/>
          <p:cNvSpPr/>
          <p:nvPr/>
        </p:nvSpPr>
        <p:spPr>
          <a:xfrm>
            <a:off x="514350" y="1062990"/>
            <a:ext cx="2537460" cy="1405890"/>
          </a:xfrm>
          <a:prstGeom prst="roundRect">
            <a:avLst>
              <a:gd fmla="val 390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a:solidFill>
                <a:srgbClr val="000000"/>
              </a:solidFill>
              <a:latin typeface="Arial"/>
              <a:ea typeface="Arial"/>
              <a:cs typeface="Arial"/>
              <a:sym typeface="Arial"/>
            </a:endParaRPr>
          </a:p>
        </p:txBody>
      </p:sp>
      <p:sp>
        <p:nvSpPr>
          <p:cNvPr id="63" name="Google Shape;63;p6"/>
          <p:cNvSpPr/>
          <p:nvPr/>
        </p:nvSpPr>
        <p:spPr>
          <a:xfrm>
            <a:off x="514350" y="1062990"/>
            <a:ext cx="48006" cy="140589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a:solidFill>
                <a:srgbClr val="000000"/>
              </a:solidFill>
              <a:latin typeface="Arial"/>
              <a:ea typeface="Arial"/>
              <a:cs typeface="Arial"/>
              <a:sym typeface="Arial"/>
            </a:endParaRPr>
          </a:p>
        </p:txBody>
      </p:sp>
      <p:sp>
        <p:nvSpPr>
          <p:cNvPr id="64" name="Google Shape;64;p6"/>
          <p:cNvSpPr/>
          <p:nvPr/>
        </p:nvSpPr>
        <p:spPr>
          <a:xfrm>
            <a:off x="685800" y="1200150"/>
            <a:ext cx="222885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7212B"/>
              </a:buClr>
              <a:buSzPts val="1200"/>
              <a:buFont typeface="Arial"/>
              <a:buNone/>
            </a:pPr>
            <a:r>
              <a:rPr b="1" i="0" lang="en-US" sz="1200" u="none" cap="none">
                <a:solidFill>
                  <a:srgbClr val="17212B"/>
                </a:solidFill>
                <a:latin typeface="Arial"/>
                <a:ea typeface="Arial"/>
                <a:cs typeface="Arial"/>
                <a:sym typeface="Arial"/>
              </a:rPr>
              <a:t>Problem</a:t>
            </a:r>
            <a:endParaRPr b="0" i="0" sz="1200" u="none" cap="none">
              <a:solidFill>
                <a:schemeClr val="dk1"/>
              </a:solidFill>
              <a:latin typeface="Arial"/>
              <a:ea typeface="Arial"/>
              <a:cs typeface="Arial"/>
              <a:sym typeface="Arial"/>
            </a:endParaRPr>
          </a:p>
        </p:txBody>
      </p:sp>
      <p:sp>
        <p:nvSpPr>
          <p:cNvPr id="65" name="Google Shape;65;p6"/>
          <p:cNvSpPr/>
          <p:nvPr/>
        </p:nvSpPr>
        <p:spPr>
          <a:xfrm>
            <a:off x="685800" y="1488186"/>
            <a:ext cx="2228850" cy="8709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lang="en-US" sz="1050">
                <a:solidFill>
                  <a:srgbClr val="5F6B76"/>
                </a:solidFill>
              </a:rPr>
              <a:t>Creating useful study material takes time. Learners also need a way to decide what to review next.</a:t>
            </a:r>
            <a:endParaRPr sz="18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sz="900">
              <a:solidFill>
                <a:srgbClr val="5F6B76"/>
              </a:solidFill>
            </a:endParaRPr>
          </a:p>
          <a:p>
            <a:pPr indent="0" lvl="0" marL="0" marR="0" rtl="0" algn="l">
              <a:lnSpc>
                <a:spcPct val="115000"/>
              </a:lnSpc>
              <a:spcBef>
                <a:spcPts val="1200"/>
              </a:spcBef>
              <a:spcAft>
                <a:spcPts val="0"/>
              </a:spcAft>
              <a:buClr>
                <a:schemeClr val="dk1"/>
              </a:buClr>
              <a:buSzPts val="1100"/>
              <a:buFont typeface="Arial"/>
              <a:buNone/>
            </a:pPr>
            <a:r>
              <a:t/>
            </a:r>
            <a:endParaRPr b="0" i="0" sz="900" u="none" cap="none">
              <a:solidFill>
                <a:srgbClr val="5F6B76"/>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900" u="none" cap="none">
              <a:solidFill>
                <a:srgbClr val="5F6B76"/>
              </a:solidFill>
              <a:latin typeface="Arial"/>
              <a:ea typeface="Arial"/>
              <a:cs typeface="Arial"/>
              <a:sym typeface="Arial"/>
            </a:endParaRPr>
          </a:p>
          <a:p>
            <a:pPr indent="0" lvl="0" marL="0" marR="0" rtl="0" algn="l">
              <a:lnSpc>
                <a:spcPct val="100000"/>
              </a:lnSpc>
              <a:spcBef>
                <a:spcPts val="1200"/>
              </a:spcBef>
              <a:spcAft>
                <a:spcPts val="0"/>
              </a:spcAft>
              <a:buClr>
                <a:srgbClr val="5F6B76"/>
              </a:buClr>
              <a:buSzPts val="900"/>
              <a:buFont typeface="Arial"/>
              <a:buNone/>
            </a:pPr>
            <a:r>
              <a:t/>
            </a:r>
            <a:endParaRPr b="0" i="0" sz="900" u="none" cap="none">
              <a:solidFill>
                <a:srgbClr val="5F6B76"/>
              </a:solidFill>
              <a:latin typeface="Arial"/>
              <a:ea typeface="Arial"/>
              <a:cs typeface="Arial"/>
              <a:sym typeface="Arial"/>
            </a:endParaRPr>
          </a:p>
        </p:txBody>
      </p:sp>
      <p:sp>
        <p:nvSpPr>
          <p:cNvPr id="66" name="Google Shape;66;p6"/>
          <p:cNvSpPr/>
          <p:nvPr/>
        </p:nvSpPr>
        <p:spPr>
          <a:xfrm>
            <a:off x="3305556" y="1062990"/>
            <a:ext cx="48006" cy="140589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a:solidFill>
                <a:srgbClr val="000000"/>
              </a:solidFill>
              <a:latin typeface="Arial"/>
              <a:ea typeface="Arial"/>
              <a:cs typeface="Arial"/>
              <a:sym typeface="Arial"/>
            </a:endParaRPr>
          </a:p>
        </p:txBody>
      </p:sp>
      <p:sp>
        <p:nvSpPr>
          <p:cNvPr id="67" name="Google Shape;67;p6"/>
          <p:cNvSpPr/>
          <p:nvPr/>
        </p:nvSpPr>
        <p:spPr>
          <a:xfrm>
            <a:off x="6096762" y="1062990"/>
            <a:ext cx="2537460" cy="1405890"/>
          </a:xfrm>
          <a:prstGeom prst="roundRect">
            <a:avLst>
              <a:gd fmla="val 390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a:solidFill>
                <a:srgbClr val="000000"/>
              </a:solidFill>
              <a:latin typeface="Arial"/>
              <a:ea typeface="Arial"/>
              <a:cs typeface="Arial"/>
              <a:sym typeface="Arial"/>
            </a:endParaRPr>
          </a:p>
        </p:txBody>
      </p:sp>
      <p:sp>
        <p:nvSpPr>
          <p:cNvPr id="68" name="Google Shape;68;p6"/>
          <p:cNvSpPr/>
          <p:nvPr/>
        </p:nvSpPr>
        <p:spPr>
          <a:xfrm>
            <a:off x="6096762" y="1062990"/>
            <a:ext cx="48006" cy="140589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a:solidFill>
                <a:srgbClr val="000000"/>
              </a:solidFill>
              <a:latin typeface="Arial"/>
              <a:ea typeface="Arial"/>
              <a:cs typeface="Arial"/>
              <a:sym typeface="Arial"/>
            </a:endParaRPr>
          </a:p>
        </p:txBody>
      </p:sp>
      <p:sp>
        <p:nvSpPr>
          <p:cNvPr id="69" name="Google Shape;69;p6"/>
          <p:cNvSpPr/>
          <p:nvPr/>
        </p:nvSpPr>
        <p:spPr>
          <a:xfrm>
            <a:off x="6268212" y="1200150"/>
            <a:ext cx="222885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7212B"/>
              </a:buClr>
              <a:buSzPts val="1200"/>
              <a:buFont typeface="Arial"/>
              <a:buNone/>
            </a:pPr>
            <a:r>
              <a:rPr b="1" i="0" lang="en-US" sz="1200" u="none" cap="none">
                <a:solidFill>
                  <a:srgbClr val="17212B"/>
                </a:solidFill>
                <a:latin typeface="Arial"/>
                <a:ea typeface="Arial"/>
                <a:cs typeface="Arial"/>
                <a:sym typeface="Arial"/>
              </a:rPr>
              <a:t>Target users</a:t>
            </a:r>
            <a:endParaRPr b="0" i="0" sz="1200" u="none" cap="none">
              <a:solidFill>
                <a:schemeClr val="dk1"/>
              </a:solidFill>
              <a:latin typeface="Arial"/>
              <a:ea typeface="Arial"/>
              <a:cs typeface="Arial"/>
              <a:sym typeface="Arial"/>
            </a:endParaRPr>
          </a:p>
        </p:txBody>
      </p:sp>
      <p:sp>
        <p:nvSpPr>
          <p:cNvPr id="70" name="Google Shape;70;p6"/>
          <p:cNvSpPr/>
          <p:nvPr/>
        </p:nvSpPr>
        <p:spPr>
          <a:xfrm>
            <a:off x="6268212" y="1488186"/>
            <a:ext cx="2228850" cy="87096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050"/>
              <a:buFont typeface="Arial"/>
              <a:buNone/>
            </a:pPr>
            <a:r>
              <a:rPr lang="en-US" sz="1050">
                <a:solidFill>
                  <a:srgbClr val="5F6B76"/>
                </a:solidFill>
              </a:rPr>
              <a:t>Students, language learners and people preparing for professional exams.</a:t>
            </a:r>
            <a:endParaRPr sz="18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sz="900">
              <a:solidFill>
                <a:srgbClr val="5F6B76"/>
              </a:solidFill>
            </a:endParaRPr>
          </a:p>
          <a:p>
            <a:pPr indent="0" lvl="0" marL="0" marR="0" rtl="0" algn="l">
              <a:lnSpc>
                <a:spcPct val="100000"/>
              </a:lnSpc>
              <a:spcBef>
                <a:spcPts val="1200"/>
              </a:spcBef>
              <a:spcAft>
                <a:spcPts val="0"/>
              </a:spcAft>
              <a:buClr>
                <a:srgbClr val="5F6B76"/>
              </a:buClr>
              <a:buSzPts val="900"/>
              <a:buFont typeface="Arial"/>
              <a:buNone/>
            </a:pPr>
            <a:r>
              <a:t/>
            </a:r>
            <a:endParaRPr b="0" i="0" sz="900" u="none" cap="none">
              <a:solidFill>
                <a:srgbClr val="5F6B76"/>
              </a:solidFill>
              <a:latin typeface="Arial"/>
              <a:ea typeface="Arial"/>
              <a:cs typeface="Arial"/>
              <a:sym typeface="Arial"/>
            </a:endParaRPr>
          </a:p>
        </p:txBody>
      </p:sp>
      <p:sp>
        <p:nvSpPr>
          <p:cNvPr id="71" name="Google Shape;71;p6"/>
          <p:cNvSpPr/>
          <p:nvPr/>
        </p:nvSpPr>
        <p:spPr>
          <a:xfrm>
            <a:off x="514350" y="2914650"/>
            <a:ext cx="2057400" cy="2057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Arial"/>
              <a:buNone/>
            </a:pPr>
            <a:r>
              <a:rPr b="1" lang="en-US" sz="1200">
                <a:solidFill>
                  <a:srgbClr val="18232D"/>
                </a:solidFill>
                <a:latin typeface="Arial"/>
                <a:ea typeface="Arial"/>
                <a:cs typeface="Arial"/>
                <a:sym typeface="Arial"/>
              </a:rPr>
              <a:t>Iteration 2 contribution</a:t>
            </a:r>
            <a:endParaRPr sz="1800">
              <a:solidFill>
                <a:schemeClr val="dk1"/>
              </a:solidFill>
            </a:endParaRPr>
          </a:p>
        </p:txBody>
      </p:sp>
      <p:sp>
        <p:nvSpPr>
          <p:cNvPr id="72" name="Google Shape;72;p6"/>
          <p:cNvSpPr/>
          <p:nvPr/>
        </p:nvSpPr>
        <p:spPr>
          <a:xfrm>
            <a:off x="514350" y="3257550"/>
            <a:ext cx="7818120" cy="4800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50"/>
              <a:buFont typeface="Arial"/>
              <a:buNone/>
            </a:pPr>
            <a:r>
              <a:rPr b="1" lang="en-US" sz="1650">
                <a:solidFill>
                  <a:srgbClr val="18232D"/>
                </a:solidFill>
                <a:latin typeface="Arial"/>
                <a:ea typeface="Arial"/>
                <a:cs typeface="Arial"/>
                <a:sym typeface="Arial"/>
              </a:rPr>
              <a:t>Iteration 2 turns saved decks into a study tool. Learners see what’s due, study one card at a time, and rate each answer. Cadence schedules the next review with Anki-style rules. AI card generation is planned next.</a:t>
            </a:r>
            <a:endParaRPr sz="1800">
              <a:solidFill>
                <a:schemeClr val="dk1"/>
              </a:solidFill>
            </a:endParaRPr>
          </a:p>
        </p:txBody>
      </p:sp>
      <p:sp>
        <p:nvSpPr>
          <p:cNvPr id="73" name="Google Shape;73;p6"/>
          <p:cNvSpPr txBox="1"/>
          <p:nvPr>
            <p:ph idx="4294967295" type="sldNum"/>
          </p:nvPr>
        </p:nvSpPr>
        <p:spPr>
          <a:xfrm>
            <a:off x="8881110" y="4855464"/>
            <a:ext cx="123444" cy="12344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SzPts val="600"/>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74" name="Google Shape;74;p6"/>
          <p:cNvSpPr/>
          <p:nvPr/>
        </p:nvSpPr>
        <p:spPr>
          <a:xfrm>
            <a:off x="3305556" y="1062990"/>
            <a:ext cx="2537400" cy="1405800"/>
          </a:xfrm>
          <a:prstGeom prst="roundRect">
            <a:avLst>
              <a:gd fmla="val 390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75" name="Google Shape;75;p6"/>
          <p:cNvSpPr/>
          <p:nvPr/>
        </p:nvSpPr>
        <p:spPr>
          <a:xfrm>
            <a:off x="3477006" y="1200150"/>
            <a:ext cx="22290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rgbClr val="000000"/>
              </a:solidFill>
              <a:latin typeface="Arial"/>
              <a:ea typeface="Arial"/>
              <a:cs typeface="Arial"/>
              <a:sym typeface="Arial"/>
            </a:endParaRPr>
          </a:p>
        </p:txBody>
      </p:sp>
      <p:sp>
        <p:nvSpPr>
          <p:cNvPr id="76" name="Google Shape;76;p6"/>
          <p:cNvSpPr/>
          <p:nvPr/>
        </p:nvSpPr>
        <p:spPr>
          <a:xfrm>
            <a:off x="3477006" y="1488186"/>
            <a:ext cx="2229000" cy="870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100"/>
              <a:buFont typeface="Arial"/>
              <a:buNone/>
            </a:pPr>
            <a:r>
              <a:t/>
            </a:r>
            <a:endParaRPr sz="900">
              <a:solidFill>
                <a:srgbClr val="5F6B76"/>
              </a:solidFill>
            </a:endParaRPr>
          </a:p>
        </p:txBody>
      </p:sp>
      <p:sp>
        <p:nvSpPr>
          <p:cNvPr id="77" name="Google Shape;77;p6"/>
          <p:cNvSpPr/>
          <p:nvPr/>
        </p:nvSpPr>
        <p:spPr>
          <a:xfrm>
            <a:off x="3476625" y="1200150"/>
            <a:ext cx="22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Product vision</a:t>
            </a:r>
            <a:endParaRPr sz="1800"/>
          </a:p>
        </p:txBody>
      </p:sp>
      <p:sp>
        <p:nvSpPr>
          <p:cNvPr id="78" name="Google Shape;78;p6"/>
          <p:cNvSpPr/>
          <p:nvPr/>
        </p:nvSpPr>
        <p:spPr>
          <a:xfrm>
            <a:off x="3476625" y="1524000"/>
            <a:ext cx="2229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050"/>
              <a:buFont typeface="Arial"/>
              <a:buNone/>
            </a:pPr>
            <a:r>
              <a:rPr b="0" lang="en-US" sz="1050">
                <a:solidFill>
                  <a:srgbClr val="5F6B76"/>
                </a:solidFill>
                <a:latin typeface="Arial"/>
                <a:ea typeface="Arial"/>
                <a:cs typeface="Arial"/>
                <a:sym typeface="Arial"/>
              </a:rPr>
              <a:t>AI-assisted card creation, learner review and spaced repetition in one workflow.</a:t>
            </a:r>
            <a:endParaRPr sz="1800"/>
          </a:p>
        </p:txBody>
      </p:sp>
      <p:sp>
        <p:nvSpPr>
          <p:cNvPr id="79" name="Google Shape;79;p6"/>
          <p:cNvSpPr/>
          <p:nvPr/>
        </p:nvSpPr>
        <p:spPr>
          <a:xfrm>
            <a:off x="3305556" y="1062990"/>
            <a:ext cx="48000" cy="1405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86" name="Google Shape;86;p7"/>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87" name="Google Shape;87;p7"/>
          <p:cNvSpPr/>
          <p:nvPr/>
        </p:nvSpPr>
        <p:spPr>
          <a:xfrm>
            <a:off x="514350" y="1062990"/>
            <a:ext cx="2503200" cy="3154800"/>
          </a:xfrm>
          <a:prstGeom prst="roundRect">
            <a:avLst>
              <a:gd fmla="val 219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88" name="Google Shape;88;p7"/>
          <p:cNvSpPr/>
          <p:nvPr/>
        </p:nvSpPr>
        <p:spPr>
          <a:xfrm>
            <a:off x="514350" y="1062990"/>
            <a:ext cx="48000" cy="3154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89" name="Google Shape;89;p7"/>
          <p:cNvSpPr/>
          <p:nvPr/>
        </p:nvSpPr>
        <p:spPr>
          <a:xfrm>
            <a:off x="68580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90" name="Google Shape;90;p7"/>
          <p:cNvSpPr/>
          <p:nvPr/>
        </p:nvSpPr>
        <p:spPr>
          <a:xfrm>
            <a:off x="685800" y="1488186"/>
            <a:ext cx="2194500" cy="261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91" name="Google Shape;91;p7"/>
          <p:cNvSpPr/>
          <p:nvPr/>
        </p:nvSpPr>
        <p:spPr>
          <a:xfrm>
            <a:off x="685800" y="3806190"/>
            <a:ext cx="994500" cy="240000"/>
          </a:xfrm>
          <a:prstGeom prst="roundRect">
            <a:avLst>
              <a:gd fmla="val 16667" name="adj"/>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2" name="Google Shape;92;p7"/>
          <p:cNvSpPr/>
          <p:nvPr/>
        </p:nvSpPr>
        <p:spPr>
          <a:xfrm>
            <a:off x="685800" y="3854196"/>
            <a:ext cx="994500" cy="123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800"/>
              <a:buFont typeface="Arial"/>
              <a:buNone/>
            </a:pPr>
            <a:r>
              <a:t/>
            </a:r>
            <a:endParaRPr b="0" i="0" sz="800" u="none" cap="none">
              <a:solidFill>
                <a:schemeClr val="dk1"/>
              </a:solidFill>
              <a:latin typeface="Arial"/>
              <a:ea typeface="Arial"/>
              <a:cs typeface="Arial"/>
              <a:sym typeface="Arial"/>
            </a:endParaRPr>
          </a:p>
        </p:txBody>
      </p:sp>
      <p:sp>
        <p:nvSpPr>
          <p:cNvPr id="93" name="Google Shape;93;p7"/>
          <p:cNvSpPr/>
          <p:nvPr/>
        </p:nvSpPr>
        <p:spPr>
          <a:xfrm>
            <a:off x="3291840" y="1062990"/>
            <a:ext cx="2503200" cy="3154800"/>
          </a:xfrm>
          <a:prstGeom prst="roundRect">
            <a:avLst>
              <a:gd fmla="val 219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4" name="Google Shape;94;p7"/>
          <p:cNvSpPr/>
          <p:nvPr/>
        </p:nvSpPr>
        <p:spPr>
          <a:xfrm>
            <a:off x="3291840" y="1062990"/>
            <a:ext cx="48000" cy="31548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5" name="Google Shape;95;p7"/>
          <p:cNvSpPr/>
          <p:nvPr/>
        </p:nvSpPr>
        <p:spPr>
          <a:xfrm>
            <a:off x="346329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96" name="Google Shape;96;p7"/>
          <p:cNvSpPr/>
          <p:nvPr/>
        </p:nvSpPr>
        <p:spPr>
          <a:xfrm>
            <a:off x="3463290" y="1488186"/>
            <a:ext cx="2194500" cy="261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97" name="Google Shape;97;p7"/>
          <p:cNvSpPr/>
          <p:nvPr/>
        </p:nvSpPr>
        <p:spPr>
          <a:xfrm>
            <a:off x="3463290" y="3806190"/>
            <a:ext cx="994500" cy="240000"/>
          </a:xfrm>
          <a:prstGeom prst="roundRect">
            <a:avLst>
              <a:gd fmla="val 16667" name="adj"/>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8" name="Google Shape;98;p7"/>
          <p:cNvSpPr/>
          <p:nvPr/>
        </p:nvSpPr>
        <p:spPr>
          <a:xfrm>
            <a:off x="3463290" y="3854196"/>
            <a:ext cx="994500" cy="123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800"/>
              <a:buFont typeface="Arial"/>
              <a:buNone/>
            </a:pPr>
            <a:r>
              <a:t/>
            </a:r>
            <a:endParaRPr b="0" i="0" sz="800" u="none" cap="none">
              <a:solidFill>
                <a:schemeClr val="dk1"/>
              </a:solidFill>
              <a:latin typeface="Arial"/>
              <a:ea typeface="Arial"/>
              <a:cs typeface="Arial"/>
              <a:sym typeface="Arial"/>
            </a:endParaRPr>
          </a:p>
        </p:txBody>
      </p:sp>
      <p:sp>
        <p:nvSpPr>
          <p:cNvPr id="99" name="Google Shape;99;p7"/>
          <p:cNvSpPr/>
          <p:nvPr/>
        </p:nvSpPr>
        <p:spPr>
          <a:xfrm>
            <a:off x="6069330" y="1062990"/>
            <a:ext cx="2503200" cy="3154800"/>
          </a:xfrm>
          <a:prstGeom prst="roundRect">
            <a:avLst>
              <a:gd fmla="val 219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0" name="Google Shape;100;p7"/>
          <p:cNvSpPr/>
          <p:nvPr/>
        </p:nvSpPr>
        <p:spPr>
          <a:xfrm>
            <a:off x="6069330" y="1062990"/>
            <a:ext cx="48000" cy="31548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1" name="Google Shape;101;p7"/>
          <p:cNvSpPr/>
          <p:nvPr/>
        </p:nvSpPr>
        <p:spPr>
          <a:xfrm>
            <a:off x="624078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02" name="Google Shape;102;p7"/>
          <p:cNvSpPr/>
          <p:nvPr/>
        </p:nvSpPr>
        <p:spPr>
          <a:xfrm>
            <a:off x="6240780" y="1488186"/>
            <a:ext cx="2194500" cy="261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103" name="Google Shape;103;p7"/>
          <p:cNvSpPr/>
          <p:nvPr/>
        </p:nvSpPr>
        <p:spPr>
          <a:xfrm>
            <a:off x="6240780" y="3806190"/>
            <a:ext cx="994500" cy="240000"/>
          </a:xfrm>
          <a:prstGeom prst="roundRect">
            <a:avLst>
              <a:gd fmla="val 16667" name="adj"/>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4" name="Google Shape;104;p7"/>
          <p:cNvSpPr/>
          <p:nvPr/>
        </p:nvSpPr>
        <p:spPr>
          <a:xfrm>
            <a:off x="6240780" y="3854196"/>
            <a:ext cx="994500" cy="123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800"/>
              <a:buFont typeface="Arial"/>
              <a:buNone/>
            </a:pPr>
            <a:r>
              <a:t/>
            </a:r>
            <a:endParaRPr b="0" i="0" sz="800" u="none" cap="none">
              <a:solidFill>
                <a:schemeClr val="dk1"/>
              </a:solidFill>
              <a:latin typeface="Arial"/>
              <a:ea typeface="Arial"/>
              <a:cs typeface="Arial"/>
              <a:sym typeface="Arial"/>
            </a:endParaRPr>
          </a:p>
        </p:txBody>
      </p:sp>
      <p:sp>
        <p:nvSpPr>
          <p:cNvPr id="105" name="Google Shape;105;p7"/>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106" name="Google Shape;106;p7"/>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lang="en-US" sz="800">
                <a:solidFill>
                  <a:srgbClr val="159A9C"/>
                </a:solidFill>
                <a:latin typeface="Arial"/>
                <a:ea typeface="Arial"/>
                <a:cs typeface="Arial"/>
                <a:sym typeface="Arial"/>
              </a:rPr>
              <a:t>REQUIREMENTS / NURZAT</a:t>
            </a:r>
            <a:endParaRPr sz="1800"/>
          </a:p>
        </p:txBody>
      </p:sp>
      <p:sp>
        <p:nvSpPr>
          <p:cNvPr id="107" name="Google Shape;107;p7"/>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2100"/>
              <a:buFont typeface="Arial"/>
              <a:buNone/>
            </a:pPr>
            <a:r>
              <a:rPr b="1" lang="en-US" sz="2100">
                <a:solidFill>
                  <a:srgbClr val="18232D"/>
                </a:solidFill>
                <a:latin typeface="Arial"/>
                <a:ea typeface="Arial"/>
                <a:cs typeface="Arial"/>
                <a:sym typeface="Arial"/>
              </a:rPr>
              <a:t>What we built, and what’s next</a:t>
            </a:r>
            <a:endParaRPr sz="1800"/>
          </a:p>
        </p:txBody>
      </p:sp>
      <p:sp>
        <p:nvSpPr>
          <p:cNvPr id="108" name="Google Shape;108;p7"/>
          <p:cNvSpPr/>
          <p:nvPr/>
        </p:nvSpPr>
        <p:spPr>
          <a:xfrm>
            <a:off x="685800"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Iteration 2</a:t>
            </a:r>
            <a:endParaRPr sz="1800"/>
          </a:p>
        </p:txBody>
      </p:sp>
      <p:sp>
        <p:nvSpPr>
          <p:cNvPr id="109" name="Google Shape;109;p7"/>
          <p:cNvSpPr/>
          <p:nvPr/>
        </p:nvSpPr>
        <p:spPr>
          <a:xfrm>
            <a:off x="685800" y="1524000"/>
            <a:ext cx="219090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Study one card at a time</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Rate Again, Hard, Good or Easy</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Anki-style scheduling</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Due counts and card schedules</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Demo data at every stage</a:t>
            </a:r>
            <a:endParaRPr sz="1800"/>
          </a:p>
        </p:txBody>
      </p:sp>
      <p:sp>
        <p:nvSpPr>
          <p:cNvPr id="110" name="Google Shape;110;p7"/>
          <p:cNvSpPr/>
          <p:nvPr/>
        </p:nvSpPr>
        <p:spPr>
          <a:xfrm>
            <a:off x="3476625"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Iteration 3</a:t>
            </a:r>
            <a:endParaRPr sz="1800"/>
          </a:p>
        </p:txBody>
      </p:sp>
      <p:sp>
        <p:nvSpPr>
          <p:cNvPr id="111" name="Google Shape;111;p7"/>
          <p:cNvSpPr/>
          <p:nvPr/>
        </p:nvSpPr>
        <p:spPr>
          <a:xfrm>
            <a:off x="3476625" y="1524000"/>
            <a:ext cx="2190900" cy="18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AI card generation</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Review and edit generated cards</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System testing and release</a:t>
            </a:r>
            <a:endParaRPr sz="1800"/>
          </a:p>
        </p:txBody>
      </p:sp>
      <p:sp>
        <p:nvSpPr>
          <p:cNvPr id="112" name="Google Shape;112;p7"/>
          <p:cNvSpPr/>
          <p:nvPr/>
        </p:nvSpPr>
        <p:spPr>
          <a:xfrm>
            <a:off x="6267450"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Later roadmap</a:t>
            </a:r>
            <a:endParaRPr sz="1800"/>
          </a:p>
        </p:txBody>
      </p:sp>
      <p:sp>
        <p:nvSpPr>
          <p:cNvPr id="113" name="Google Shape;113;p7"/>
          <p:cNvSpPr/>
          <p:nvPr/>
        </p:nvSpPr>
        <p:spPr>
          <a:xfrm>
            <a:off x="6267450" y="1524000"/>
            <a:ext cx="2190900" cy="18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Typed-answer mode</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Duplicate card detection</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Study history and statistics</a:t>
            </a:r>
            <a:endParaRPr sz="1800"/>
          </a:p>
        </p:txBody>
      </p:sp>
      <p:sp>
        <p:nvSpPr>
          <p:cNvPr id="114" name="Google Shape;114;p7"/>
          <p:cNvSpPr/>
          <p:nvPr/>
        </p:nvSpPr>
        <p:spPr>
          <a:xfrm>
            <a:off x="762000" y="3857625"/>
            <a:ext cx="1143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750"/>
              <a:buFont typeface="Arial"/>
              <a:buNone/>
            </a:pPr>
            <a:r>
              <a:rPr b="1" lang="en-US" sz="750">
                <a:solidFill>
                  <a:srgbClr val="FFFFFF"/>
                </a:solidFill>
                <a:latin typeface="Arial"/>
                <a:ea typeface="Arial"/>
                <a:cs typeface="Arial"/>
                <a:sym typeface="Arial"/>
              </a:rPr>
              <a:t>DELIVERED</a:t>
            </a:r>
            <a:endParaRPr sz="1800"/>
          </a:p>
        </p:txBody>
      </p:sp>
      <p:sp>
        <p:nvSpPr>
          <p:cNvPr id="115" name="Google Shape;115;p7"/>
          <p:cNvSpPr/>
          <p:nvPr/>
        </p:nvSpPr>
        <p:spPr>
          <a:xfrm>
            <a:off x="3543300" y="3857625"/>
            <a:ext cx="1143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750"/>
              <a:buFont typeface="Arial"/>
              <a:buNone/>
            </a:pPr>
            <a:r>
              <a:rPr b="1" lang="en-US" sz="750">
                <a:solidFill>
                  <a:srgbClr val="FFFFFF"/>
                </a:solidFill>
                <a:latin typeface="Arial"/>
                <a:ea typeface="Arial"/>
                <a:cs typeface="Arial"/>
                <a:sym typeface="Arial"/>
              </a:rPr>
              <a:t>PLANNED</a:t>
            </a:r>
            <a:endParaRPr sz="1800"/>
          </a:p>
        </p:txBody>
      </p:sp>
      <p:sp>
        <p:nvSpPr>
          <p:cNvPr id="116" name="Google Shape;116;p7"/>
          <p:cNvSpPr/>
          <p:nvPr/>
        </p:nvSpPr>
        <p:spPr>
          <a:xfrm>
            <a:off x="6334125" y="3857625"/>
            <a:ext cx="1143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750"/>
              <a:buFont typeface="Arial"/>
              <a:buNone/>
            </a:pPr>
            <a:r>
              <a:rPr b="1" lang="en-US" sz="750">
                <a:solidFill>
                  <a:srgbClr val="FFFFFF"/>
                </a:solidFill>
                <a:latin typeface="Arial"/>
                <a:ea typeface="Arial"/>
                <a:cs typeface="Arial"/>
                <a:sym typeface="Arial"/>
              </a:rPr>
              <a:t>FUTURE</a:t>
            </a:r>
            <a:endParaRPr sz="1800"/>
          </a:p>
        </p:txBody>
      </p:sp>
      <p:sp>
        <p:nvSpPr>
          <p:cNvPr id="117" name="Google Shape;117;p7"/>
          <p:cNvSpPr/>
          <p:nvPr/>
        </p:nvSpPr>
        <p:spPr>
          <a:xfrm>
            <a:off x="514350" y="4400550"/>
            <a:ext cx="8096400" cy="2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Scope change: AI generation moved to Iteration 3 to finish study mode.</a:t>
            </a:r>
            <a:endParaRPr b="1"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124" name="Google Shape;124;p8"/>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125" name="Google Shape;125;p8"/>
          <p:cNvSpPr/>
          <p:nvPr/>
        </p:nvSpPr>
        <p:spPr>
          <a:xfrm>
            <a:off x="51435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26" name="Google Shape;126;p8"/>
          <p:cNvSpPr/>
          <p:nvPr/>
        </p:nvSpPr>
        <p:spPr>
          <a:xfrm>
            <a:off x="514350" y="1062990"/>
            <a:ext cx="48000" cy="12003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27" name="Google Shape;127;p8"/>
          <p:cNvSpPr/>
          <p:nvPr/>
        </p:nvSpPr>
        <p:spPr>
          <a:xfrm>
            <a:off x="68580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28" name="Google Shape;128;p8"/>
          <p:cNvSpPr/>
          <p:nvPr/>
        </p:nvSpPr>
        <p:spPr>
          <a:xfrm>
            <a:off x="68580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129" name="Google Shape;129;p8"/>
          <p:cNvSpPr/>
          <p:nvPr/>
        </p:nvSpPr>
        <p:spPr>
          <a:xfrm>
            <a:off x="260604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0" name="Google Shape;130;p8"/>
          <p:cNvSpPr/>
          <p:nvPr/>
        </p:nvSpPr>
        <p:spPr>
          <a:xfrm>
            <a:off x="2606040" y="1062990"/>
            <a:ext cx="48000" cy="12003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1" name="Google Shape;131;p8"/>
          <p:cNvSpPr/>
          <p:nvPr/>
        </p:nvSpPr>
        <p:spPr>
          <a:xfrm>
            <a:off x="277749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32" name="Google Shape;132;p8"/>
          <p:cNvSpPr/>
          <p:nvPr/>
        </p:nvSpPr>
        <p:spPr>
          <a:xfrm>
            <a:off x="277749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33" name="Google Shape;133;p8"/>
          <p:cNvSpPr/>
          <p:nvPr/>
        </p:nvSpPr>
        <p:spPr>
          <a:xfrm>
            <a:off x="469773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4" name="Google Shape;134;p8"/>
          <p:cNvSpPr/>
          <p:nvPr/>
        </p:nvSpPr>
        <p:spPr>
          <a:xfrm>
            <a:off x="4697730" y="1062990"/>
            <a:ext cx="48000" cy="1200300"/>
          </a:xfrm>
          <a:prstGeom prst="rect">
            <a:avLst/>
          </a:prstGeom>
          <a:solidFill>
            <a:srgbClr val="5C8F68"/>
          </a:solidFill>
          <a:ln cap="flat" cmpd="sng" w="12700">
            <a:solidFill>
              <a:srgbClr val="5C8F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5" name="Google Shape;135;p8"/>
          <p:cNvSpPr/>
          <p:nvPr/>
        </p:nvSpPr>
        <p:spPr>
          <a:xfrm>
            <a:off x="486918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36" name="Google Shape;136;p8"/>
          <p:cNvSpPr/>
          <p:nvPr/>
        </p:nvSpPr>
        <p:spPr>
          <a:xfrm>
            <a:off x="486918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37" name="Google Shape;137;p8"/>
          <p:cNvSpPr/>
          <p:nvPr/>
        </p:nvSpPr>
        <p:spPr>
          <a:xfrm>
            <a:off x="678942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8" name="Google Shape;138;p8"/>
          <p:cNvSpPr/>
          <p:nvPr/>
        </p:nvSpPr>
        <p:spPr>
          <a:xfrm>
            <a:off x="6789420" y="1062990"/>
            <a:ext cx="48000" cy="12003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9" name="Google Shape;139;p8"/>
          <p:cNvSpPr/>
          <p:nvPr/>
        </p:nvSpPr>
        <p:spPr>
          <a:xfrm>
            <a:off x="696087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40" name="Google Shape;140;p8"/>
          <p:cNvSpPr/>
          <p:nvPr/>
        </p:nvSpPr>
        <p:spPr>
          <a:xfrm>
            <a:off x="696087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cxnSp>
        <p:nvCxnSpPr>
          <p:cNvPr id="141" name="Google Shape;141;p8"/>
          <p:cNvCxnSpPr/>
          <p:nvPr/>
        </p:nvCxnSpPr>
        <p:spPr>
          <a:xfrm>
            <a:off x="1303020" y="2846070"/>
            <a:ext cx="6480900" cy="0"/>
          </a:xfrm>
          <a:prstGeom prst="straightConnector1">
            <a:avLst/>
          </a:prstGeom>
          <a:noFill/>
          <a:ln cap="flat" cmpd="sng" w="25400">
            <a:solidFill>
              <a:srgbClr val="D9E0E6"/>
            </a:solidFill>
            <a:prstDash val="solid"/>
            <a:round/>
            <a:headEnd len="sm" w="sm" type="none"/>
            <a:tailEnd len="sm" w="sm" type="none"/>
          </a:ln>
        </p:spPr>
      </p:cxnSp>
      <p:sp>
        <p:nvSpPr>
          <p:cNvPr id="142" name="Google Shape;142;p8"/>
          <p:cNvSpPr/>
          <p:nvPr/>
        </p:nvSpPr>
        <p:spPr>
          <a:xfrm>
            <a:off x="51435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3" name="Google Shape;143;p8"/>
          <p:cNvSpPr/>
          <p:nvPr/>
        </p:nvSpPr>
        <p:spPr>
          <a:xfrm>
            <a:off x="51435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4" name="Google Shape;144;p8"/>
          <p:cNvSpPr/>
          <p:nvPr/>
        </p:nvSpPr>
        <p:spPr>
          <a:xfrm>
            <a:off x="260604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5" name="Google Shape;145;p8"/>
          <p:cNvSpPr/>
          <p:nvPr/>
        </p:nvSpPr>
        <p:spPr>
          <a:xfrm>
            <a:off x="260604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6" name="Google Shape;146;p8"/>
          <p:cNvSpPr/>
          <p:nvPr/>
        </p:nvSpPr>
        <p:spPr>
          <a:xfrm>
            <a:off x="469773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7" name="Google Shape;147;p8"/>
          <p:cNvSpPr/>
          <p:nvPr/>
        </p:nvSpPr>
        <p:spPr>
          <a:xfrm>
            <a:off x="469773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8" name="Google Shape;148;p8"/>
          <p:cNvSpPr/>
          <p:nvPr/>
        </p:nvSpPr>
        <p:spPr>
          <a:xfrm>
            <a:off x="678942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9" name="Google Shape;149;p8"/>
          <p:cNvSpPr/>
          <p:nvPr/>
        </p:nvSpPr>
        <p:spPr>
          <a:xfrm>
            <a:off x="678942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50" name="Google Shape;150;p8"/>
          <p:cNvSpPr/>
          <p:nvPr/>
        </p:nvSpPr>
        <p:spPr>
          <a:xfrm>
            <a:off x="514350" y="4217670"/>
            <a:ext cx="75438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51" name="Google Shape;151;p8"/>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152" name="Google Shape;152;p8"/>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lang="en-US" sz="800">
                <a:solidFill>
                  <a:srgbClr val="159A9C"/>
                </a:solidFill>
                <a:latin typeface="Arial"/>
                <a:ea typeface="Arial"/>
                <a:cs typeface="Arial"/>
                <a:sym typeface="Arial"/>
              </a:rPr>
              <a:t>DESIGN &amp; IMPLEMENTATION / DUC</a:t>
            </a:r>
            <a:endParaRPr sz="1800"/>
          </a:p>
        </p:txBody>
      </p:sp>
      <p:sp>
        <p:nvSpPr>
          <p:cNvPr id="153" name="Google Shape;153;p8"/>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2100"/>
              <a:buFont typeface="Arial"/>
              <a:buNone/>
            </a:pPr>
            <a:r>
              <a:rPr b="1" lang="en-US" sz="2100">
                <a:solidFill>
                  <a:srgbClr val="18232D"/>
                </a:solidFill>
                <a:latin typeface="Arial"/>
                <a:ea typeface="Arial"/>
                <a:cs typeface="Arial"/>
                <a:sym typeface="Arial"/>
              </a:rPr>
              <a:t>How study mode is built</a:t>
            </a:r>
            <a:endParaRPr sz="1800"/>
          </a:p>
        </p:txBody>
      </p:sp>
      <p:sp>
        <p:nvSpPr>
          <p:cNvPr id="154" name="Google Shape;154;p8"/>
          <p:cNvSpPr/>
          <p:nvPr/>
        </p:nvSpPr>
        <p:spPr>
          <a:xfrm>
            <a:off x="68580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React UI</a:t>
            </a:r>
            <a:endParaRPr sz="1800"/>
          </a:p>
        </p:txBody>
      </p:sp>
      <p:sp>
        <p:nvSpPr>
          <p:cNvPr id="155" name="Google Shape;155;p8"/>
          <p:cNvSpPr/>
          <p:nvPr/>
        </p:nvSpPr>
        <p:spPr>
          <a:xfrm>
            <a:off x="68580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Study page, rating buttons, shared styles</a:t>
            </a:r>
            <a:endParaRPr sz="1800"/>
          </a:p>
        </p:txBody>
      </p:sp>
      <p:sp>
        <p:nvSpPr>
          <p:cNvPr id="156" name="Google Shape;156;p8"/>
          <p:cNvSpPr/>
          <p:nvPr/>
        </p:nvSpPr>
        <p:spPr>
          <a:xfrm>
            <a:off x="277749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Vite / nginx</a:t>
            </a:r>
            <a:endParaRPr sz="1800"/>
          </a:p>
        </p:txBody>
      </p:sp>
      <p:sp>
        <p:nvSpPr>
          <p:cNvPr id="157" name="Google Shape;157;p8"/>
          <p:cNvSpPr/>
          <p:nvPr/>
        </p:nvSpPr>
        <p:spPr>
          <a:xfrm>
            <a:off x="277749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050"/>
              <a:buFont typeface="Arial"/>
              <a:buNone/>
            </a:pPr>
            <a:r>
              <a:rPr b="0" lang="en-US" sz="1050">
                <a:solidFill>
                  <a:srgbClr val="5F6B76"/>
                </a:solidFill>
                <a:latin typeface="Arial"/>
                <a:ea typeface="Arial"/>
                <a:cs typeface="Arial"/>
                <a:sym typeface="Arial"/>
              </a:rPr>
              <a:t>Serves frontend</a:t>
            </a:r>
            <a:endParaRPr sz="1800"/>
          </a:p>
          <a:p>
            <a:pPr indent="0" lvl="0" marL="0" marR="0" rtl="0" algn="l">
              <a:spcBef>
                <a:spcPts val="0"/>
              </a:spcBef>
              <a:spcAft>
                <a:spcPts val="0"/>
              </a:spcAft>
              <a:buClr>
                <a:srgbClr val="5F6B76"/>
              </a:buClr>
              <a:buSzPts val="1050"/>
              <a:buFont typeface="Arial"/>
              <a:buNone/>
            </a:pPr>
            <a:r>
              <a:rPr b="0" lang="en-US" sz="1050">
                <a:solidFill>
                  <a:srgbClr val="5F6B76"/>
                </a:solidFill>
                <a:latin typeface="Arial"/>
                <a:ea typeface="Arial"/>
                <a:cs typeface="Arial"/>
                <a:sym typeface="Arial"/>
              </a:rPr>
              <a:t>Forwards /api</a:t>
            </a:r>
            <a:endParaRPr sz="1800"/>
          </a:p>
        </p:txBody>
      </p:sp>
      <p:sp>
        <p:nvSpPr>
          <p:cNvPr id="158" name="Google Shape;158;p8"/>
          <p:cNvSpPr/>
          <p:nvPr/>
        </p:nvSpPr>
        <p:spPr>
          <a:xfrm>
            <a:off x="486918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Flask API</a:t>
            </a:r>
            <a:endParaRPr sz="1800"/>
          </a:p>
        </p:txBody>
      </p:sp>
      <p:sp>
        <p:nvSpPr>
          <p:cNvPr id="159" name="Google Shape;159;p8"/>
          <p:cNvSpPr/>
          <p:nvPr/>
        </p:nvSpPr>
        <p:spPr>
          <a:xfrm>
            <a:off x="486918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Due cards, reviews, owner checks</a:t>
            </a:r>
            <a:endParaRPr sz="1800"/>
          </a:p>
        </p:txBody>
      </p:sp>
      <p:sp>
        <p:nvSpPr>
          <p:cNvPr id="160" name="Google Shape;160;p8"/>
          <p:cNvSpPr/>
          <p:nvPr/>
        </p:nvSpPr>
        <p:spPr>
          <a:xfrm>
            <a:off x="696087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PostgreSQL</a:t>
            </a:r>
            <a:endParaRPr sz="1800"/>
          </a:p>
        </p:txBody>
      </p:sp>
      <p:sp>
        <p:nvSpPr>
          <p:cNvPr id="161" name="Google Shape;161;p8"/>
          <p:cNvSpPr/>
          <p:nvPr/>
        </p:nvSpPr>
        <p:spPr>
          <a:xfrm>
            <a:off x="696087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Scheduling state on every card</a:t>
            </a:r>
            <a:endParaRPr sz="1800"/>
          </a:p>
        </p:txBody>
      </p:sp>
      <p:sp>
        <p:nvSpPr>
          <p:cNvPr id="162" name="Google Shape;162;p8"/>
          <p:cNvSpPr/>
          <p:nvPr/>
        </p:nvSpPr>
        <p:spPr>
          <a:xfrm>
            <a:off x="2381250" y="1657350"/>
            <a:ext cx="171600" cy="171600"/>
          </a:xfrm>
          <a:prstGeom prst="chevron">
            <a:avLst>
              <a:gd fmla="val 50000" name="adj"/>
            </a:avLst>
          </a:prstGeom>
          <a:solidFill>
            <a:srgbClr val="CBDADF"/>
          </a:solidFill>
          <a:ln>
            <a:noFill/>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163" name="Google Shape;163;p8"/>
          <p:cNvSpPr/>
          <p:nvPr/>
        </p:nvSpPr>
        <p:spPr>
          <a:xfrm>
            <a:off x="4476750" y="1657350"/>
            <a:ext cx="171600" cy="171600"/>
          </a:xfrm>
          <a:prstGeom prst="chevron">
            <a:avLst>
              <a:gd fmla="val 50000" name="adj"/>
            </a:avLst>
          </a:prstGeom>
          <a:solidFill>
            <a:srgbClr val="CBDADF"/>
          </a:solidFill>
          <a:ln>
            <a:noFill/>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164" name="Google Shape;164;p8"/>
          <p:cNvSpPr/>
          <p:nvPr/>
        </p:nvSpPr>
        <p:spPr>
          <a:xfrm>
            <a:off x="6572250" y="1657350"/>
            <a:ext cx="171600" cy="171600"/>
          </a:xfrm>
          <a:prstGeom prst="chevron">
            <a:avLst>
              <a:gd fmla="val 50000" name="adj"/>
            </a:avLst>
          </a:prstGeom>
          <a:solidFill>
            <a:srgbClr val="CBDADF"/>
          </a:solidFill>
          <a:ln>
            <a:noFill/>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165" name="Google Shape;165;p8"/>
          <p:cNvSpPr/>
          <p:nvPr/>
        </p:nvSpPr>
        <p:spPr>
          <a:xfrm>
            <a:off x="51435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study/</a:t>
            </a:r>
            <a:endParaRPr sz="1800"/>
          </a:p>
        </p:txBody>
      </p:sp>
      <p:sp>
        <p:nvSpPr>
          <p:cNvPr id="166" name="Google Shape;166;p8"/>
          <p:cNvSpPr/>
          <p:nvPr/>
        </p:nvSpPr>
        <p:spPr>
          <a:xfrm>
            <a:off x="51435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Session order, reveal and rate</a:t>
            </a:r>
            <a:endParaRPr sz="1800"/>
          </a:p>
        </p:txBody>
      </p:sp>
      <p:sp>
        <p:nvSpPr>
          <p:cNvPr id="167" name="Google Shape;167;p8"/>
          <p:cNvSpPr/>
          <p:nvPr/>
        </p:nvSpPr>
        <p:spPr>
          <a:xfrm>
            <a:off x="260604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scheduler.py</a:t>
            </a:r>
            <a:endParaRPr sz="1800"/>
          </a:p>
        </p:txBody>
      </p:sp>
      <p:sp>
        <p:nvSpPr>
          <p:cNvPr id="168" name="Google Shape;168;p8"/>
          <p:cNvSpPr/>
          <p:nvPr/>
        </p:nvSpPr>
        <p:spPr>
          <a:xfrm>
            <a:off x="260604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Anki-style rules, pure and tested alone</a:t>
            </a:r>
            <a:endParaRPr sz="1800"/>
          </a:p>
        </p:txBody>
      </p:sp>
      <p:sp>
        <p:nvSpPr>
          <p:cNvPr id="169" name="Google Shape;169;p8"/>
          <p:cNvSpPr/>
          <p:nvPr/>
        </p:nvSpPr>
        <p:spPr>
          <a:xfrm>
            <a:off x="469773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/due and /review</a:t>
            </a:r>
            <a:endParaRPr sz="1800"/>
          </a:p>
        </p:txBody>
      </p:sp>
      <p:sp>
        <p:nvSpPr>
          <p:cNvPr id="170" name="Google Shape;170;p8"/>
          <p:cNvSpPr/>
          <p:nvPr/>
        </p:nvSpPr>
        <p:spPr>
          <a:xfrm>
            <a:off x="469773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Serve due cards, save each rating</a:t>
            </a:r>
            <a:endParaRPr sz="1800"/>
          </a:p>
        </p:txBody>
      </p:sp>
      <p:sp>
        <p:nvSpPr>
          <p:cNvPr id="171" name="Google Shape;171;p8"/>
          <p:cNvSpPr/>
          <p:nvPr/>
        </p:nvSpPr>
        <p:spPr>
          <a:xfrm>
            <a:off x="678942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Shared contract</a:t>
            </a:r>
            <a:endParaRPr sz="1800"/>
          </a:p>
        </p:txBody>
      </p:sp>
      <p:sp>
        <p:nvSpPr>
          <p:cNvPr id="172" name="Google Shape;172;p8"/>
          <p:cNvSpPr/>
          <p:nvPr/>
        </p:nvSpPr>
        <p:spPr>
          <a:xfrm>
            <a:off x="678942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New fields: due_counts and intervals</a:t>
            </a:r>
            <a:endParaRPr sz="1800"/>
          </a:p>
        </p:txBody>
      </p:sp>
      <p:sp>
        <p:nvSpPr>
          <p:cNvPr id="173" name="Google Shape;173;p8"/>
          <p:cNvSpPr/>
          <p:nvPr/>
        </p:nvSpPr>
        <p:spPr>
          <a:xfrm>
            <a:off x="514350" y="4333875"/>
            <a:ext cx="80964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The backend owns the algorithm; the frontend displays its results.</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180" name="Google Shape;180;p9"/>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181" name="Google Shape;181;p9"/>
          <p:cNvSpPr/>
          <p:nvPr/>
        </p:nvSpPr>
        <p:spPr>
          <a:xfrm>
            <a:off x="514350" y="1062990"/>
            <a:ext cx="2503200" cy="1371600"/>
          </a:xfrm>
          <a:prstGeom prst="roundRect">
            <a:avLst>
              <a:gd fmla="val 4000"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2" name="Google Shape;182;p9"/>
          <p:cNvSpPr/>
          <p:nvPr/>
        </p:nvSpPr>
        <p:spPr>
          <a:xfrm>
            <a:off x="514350" y="1062990"/>
            <a:ext cx="48000" cy="13716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3" name="Google Shape;183;p9"/>
          <p:cNvSpPr/>
          <p:nvPr/>
        </p:nvSpPr>
        <p:spPr>
          <a:xfrm>
            <a:off x="68580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84" name="Google Shape;184;p9"/>
          <p:cNvSpPr/>
          <p:nvPr/>
        </p:nvSpPr>
        <p:spPr>
          <a:xfrm>
            <a:off x="685800" y="1488186"/>
            <a:ext cx="2194500" cy="83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85" name="Google Shape;185;p9"/>
          <p:cNvSpPr/>
          <p:nvPr/>
        </p:nvSpPr>
        <p:spPr>
          <a:xfrm>
            <a:off x="3312414" y="1062990"/>
            <a:ext cx="2503200" cy="1371600"/>
          </a:xfrm>
          <a:prstGeom prst="roundRect">
            <a:avLst>
              <a:gd fmla="val 4000"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6" name="Google Shape;186;p9"/>
          <p:cNvSpPr/>
          <p:nvPr/>
        </p:nvSpPr>
        <p:spPr>
          <a:xfrm>
            <a:off x="3312414" y="1062990"/>
            <a:ext cx="48000" cy="13716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7" name="Google Shape;187;p9"/>
          <p:cNvSpPr/>
          <p:nvPr/>
        </p:nvSpPr>
        <p:spPr>
          <a:xfrm>
            <a:off x="3483864"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88" name="Google Shape;188;p9"/>
          <p:cNvSpPr/>
          <p:nvPr/>
        </p:nvSpPr>
        <p:spPr>
          <a:xfrm>
            <a:off x="3483864" y="1488186"/>
            <a:ext cx="2194500" cy="83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89" name="Google Shape;189;p9"/>
          <p:cNvSpPr/>
          <p:nvPr/>
        </p:nvSpPr>
        <p:spPr>
          <a:xfrm>
            <a:off x="6110478" y="1062990"/>
            <a:ext cx="2503200" cy="1371600"/>
          </a:xfrm>
          <a:prstGeom prst="roundRect">
            <a:avLst>
              <a:gd fmla="val 4000"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90" name="Google Shape;190;p9"/>
          <p:cNvSpPr/>
          <p:nvPr/>
        </p:nvSpPr>
        <p:spPr>
          <a:xfrm>
            <a:off x="6110478" y="1062990"/>
            <a:ext cx="48000" cy="13716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91" name="Google Shape;191;p9"/>
          <p:cNvSpPr/>
          <p:nvPr/>
        </p:nvSpPr>
        <p:spPr>
          <a:xfrm>
            <a:off x="6281928"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92" name="Google Shape;192;p9"/>
          <p:cNvSpPr/>
          <p:nvPr/>
        </p:nvSpPr>
        <p:spPr>
          <a:xfrm>
            <a:off x="6281928" y="1488186"/>
            <a:ext cx="2194500" cy="83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3" name="Google Shape;193;p9"/>
          <p:cNvSpPr/>
          <p:nvPr/>
        </p:nvSpPr>
        <p:spPr>
          <a:xfrm>
            <a:off x="514350" y="2880360"/>
            <a:ext cx="15774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300"/>
              <a:buFont typeface="Arial"/>
              <a:buNone/>
            </a:pPr>
            <a:r>
              <a:t/>
            </a:r>
            <a:endParaRPr b="0" i="0" sz="1300" u="none" cap="none">
              <a:solidFill>
                <a:schemeClr val="dk1"/>
              </a:solidFill>
              <a:latin typeface="Arial"/>
              <a:ea typeface="Arial"/>
              <a:cs typeface="Arial"/>
              <a:sym typeface="Arial"/>
            </a:endParaRPr>
          </a:p>
        </p:txBody>
      </p:sp>
      <p:sp>
        <p:nvSpPr>
          <p:cNvPr id="194" name="Google Shape;194;p9"/>
          <p:cNvSpPr/>
          <p:nvPr/>
        </p:nvSpPr>
        <p:spPr>
          <a:xfrm>
            <a:off x="514350" y="3257550"/>
            <a:ext cx="891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2000"/>
              <a:buFont typeface="Arial"/>
              <a:buNone/>
            </a:pPr>
            <a:r>
              <a:t/>
            </a:r>
            <a:endParaRPr b="0" i="0" sz="2000" u="none" cap="none">
              <a:solidFill>
                <a:schemeClr val="dk1"/>
              </a:solidFill>
              <a:latin typeface="Arial"/>
              <a:ea typeface="Arial"/>
              <a:cs typeface="Arial"/>
              <a:sym typeface="Arial"/>
            </a:endParaRPr>
          </a:p>
        </p:txBody>
      </p:sp>
      <p:sp>
        <p:nvSpPr>
          <p:cNvPr id="195" name="Google Shape;195;p9"/>
          <p:cNvSpPr/>
          <p:nvPr/>
        </p:nvSpPr>
        <p:spPr>
          <a:xfrm>
            <a:off x="1440180" y="3236976"/>
            <a:ext cx="16458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6" name="Google Shape;196;p9"/>
          <p:cNvSpPr/>
          <p:nvPr/>
        </p:nvSpPr>
        <p:spPr>
          <a:xfrm>
            <a:off x="3291840" y="3257550"/>
            <a:ext cx="891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6EAA"/>
              </a:buClr>
              <a:buSzPts val="2000"/>
              <a:buFont typeface="Arial"/>
              <a:buNone/>
            </a:pPr>
            <a:r>
              <a:t/>
            </a:r>
            <a:endParaRPr b="0" i="0" sz="2000" u="none" cap="none">
              <a:solidFill>
                <a:schemeClr val="dk1"/>
              </a:solidFill>
              <a:latin typeface="Arial"/>
              <a:ea typeface="Arial"/>
              <a:cs typeface="Arial"/>
              <a:sym typeface="Arial"/>
            </a:endParaRPr>
          </a:p>
        </p:txBody>
      </p:sp>
      <p:sp>
        <p:nvSpPr>
          <p:cNvPr id="197" name="Google Shape;197;p9"/>
          <p:cNvSpPr/>
          <p:nvPr/>
        </p:nvSpPr>
        <p:spPr>
          <a:xfrm>
            <a:off x="4217670" y="3236976"/>
            <a:ext cx="16458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8" name="Google Shape;198;p9"/>
          <p:cNvSpPr/>
          <p:nvPr/>
        </p:nvSpPr>
        <p:spPr>
          <a:xfrm>
            <a:off x="6069330" y="3257550"/>
            <a:ext cx="891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8F68"/>
              </a:buClr>
              <a:buSzPts val="2000"/>
              <a:buFont typeface="Arial"/>
              <a:buNone/>
            </a:pPr>
            <a:r>
              <a:t/>
            </a:r>
            <a:endParaRPr b="0" i="0" sz="2000" u="none" cap="none">
              <a:solidFill>
                <a:schemeClr val="dk1"/>
              </a:solidFill>
              <a:latin typeface="Arial"/>
              <a:ea typeface="Arial"/>
              <a:cs typeface="Arial"/>
              <a:sym typeface="Arial"/>
            </a:endParaRPr>
          </a:p>
        </p:txBody>
      </p:sp>
      <p:sp>
        <p:nvSpPr>
          <p:cNvPr id="199" name="Google Shape;199;p9"/>
          <p:cNvSpPr/>
          <p:nvPr/>
        </p:nvSpPr>
        <p:spPr>
          <a:xfrm>
            <a:off x="6995160" y="3236976"/>
            <a:ext cx="16458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00" name="Google Shape;200;p9"/>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201" name="Google Shape;201;p9"/>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lang="en-US" sz="800">
                <a:solidFill>
                  <a:srgbClr val="159A9C"/>
                </a:solidFill>
                <a:latin typeface="Arial"/>
                <a:ea typeface="Arial"/>
                <a:cs typeface="Arial"/>
                <a:sym typeface="Arial"/>
              </a:rPr>
              <a:t>QUALITY ASSURANCE / VON</a:t>
            </a:r>
            <a:endParaRPr sz="1800"/>
          </a:p>
        </p:txBody>
      </p:sp>
      <p:sp>
        <p:nvSpPr>
          <p:cNvPr id="202" name="Google Shape;202;p9"/>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2100"/>
              <a:buFont typeface="Arial"/>
              <a:buNone/>
            </a:pPr>
            <a:r>
              <a:rPr b="1" lang="en-US" sz="2100">
                <a:solidFill>
                  <a:srgbClr val="18232D"/>
                </a:solidFill>
                <a:latin typeface="Arial"/>
                <a:ea typeface="Arial"/>
                <a:cs typeface="Arial"/>
                <a:sym typeface="Arial"/>
              </a:rPr>
              <a:t>Quality checks and test evidence</a:t>
            </a:r>
            <a:endParaRPr sz="1800"/>
          </a:p>
        </p:txBody>
      </p:sp>
      <p:sp>
        <p:nvSpPr>
          <p:cNvPr id="203" name="Google Shape;203;p9"/>
          <p:cNvSpPr/>
          <p:nvPr/>
        </p:nvSpPr>
        <p:spPr>
          <a:xfrm>
            <a:off x="685800"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Backend tests</a:t>
            </a:r>
            <a:endParaRPr sz="1800"/>
          </a:p>
        </p:txBody>
      </p:sp>
      <p:sp>
        <p:nvSpPr>
          <p:cNvPr id="204" name="Google Shape;204;p9"/>
          <p:cNvSpPr/>
          <p:nvPr/>
        </p:nvSpPr>
        <p:spPr>
          <a:xfrm>
            <a:off x="685800" y="1524000"/>
            <a:ext cx="21909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201 pytest tests on SQLite and PostgreSQL.</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97.02% backend coverage.</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Scheduler reference cases.</a:t>
            </a:r>
            <a:endParaRPr sz="1800"/>
          </a:p>
        </p:txBody>
      </p:sp>
      <p:sp>
        <p:nvSpPr>
          <p:cNvPr id="205" name="Google Shape;205;p9"/>
          <p:cNvSpPr/>
          <p:nvPr/>
        </p:nvSpPr>
        <p:spPr>
          <a:xfrm>
            <a:off x="3484245"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rPr b="1" lang="en-US" sz="1200">
                <a:solidFill>
                  <a:srgbClr val="17212B"/>
                </a:solidFill>
                <a:latin typeface="Arial"/>
                <a:ea typeface="Arial"/>
                <a:cs typeface="Arial"/>
                <a:sym typeface="Arial"/>
              </a:rPr>
              <a:t>Frontend checks</a:t>
            </a:r>
            <a:endParaRPr sz="1800"/>
          </a:p>
        </p:txBody>
      </p:sp>
      <p:sp>
        <p:nvSpPr>
          <p:cNvPr id="206" name="Google Shape;206;p9"/>
          <p:cNvSpPr/>
          <p:nvPr/>
        </p:nvSpPr>
        <p:spPr>
          <a:xfrm>
            <a:off x="3484245" y="1524000"/>
            <a:ext cx="21909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174 Vitest and React Testing Library tests.</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91.66% statement coverage.</a:t>
            </a:r>
            <a:endParaRPr sz="1800"/>
          </a:p>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Page and component checks.</a:t>
            </a:r>
            <a:endParaRPr sz="1800"/>
          </a:p>
        </p:txBody>
      </p:sp>
      <p:sp>
        <p:nvSpPr>
          <p:cNvPr id="207" name="Google Shape;207;p9"/>
          <p:cNvSpPr/>
          <p:nvPr/>
        </p:nvSpPr>
        <p:spPr>
          <a:xfrm>
            <a:off x="6281738"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Next: Iteration 3</a:t>
            </a:r>
            <a:endParaRPr sz="1800"/>
          </a:p>
        </p:txBody>
      </p:sp>
      <p:sp>
        <p:nvSpPr>
          <p:cNvPr id="208" name="Google Shape;208;p9"/>
          <p:cNvSpPr/>
          <p:nvPr/>
        </p:nvSpPr>
        <p:spPr>
          <a:xfrm>
            <a:off x="6281738" y="1524000"/>
            <a:ext cx="219090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AI generation tests with a simulated provider, timing tests and full regression.</a:t>
            </a:r>
            <a:endParaRPr sz="1800"/>
          </a:p>
        </p:txBody>
      </p:sp>
      <p:sp>
        <p:nvSpPr>
          <p:cNvPr id="209" name="Google Shape;209;p9"/>
          <p:cNvSpPr/>
          <p:nvPr/>
        </p:nvSpPr>
        <p:spPr>
          <a:xfrm>
            <a:off x="514350" y="2857500"/>
            <a:ext cx="7905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350"/>
              <a:buFont typeface="Arial"/>
              <a:buNone/>
            </a:pPr>
            <a:r>
              <a:rPr b="1" lang="en-US" sz="1350">
                <a:solidFill>
                  <a:srgbClr val="17212B"/>
                </a:solidFill>
                <a:latin typeface="Arial"/>
                <a:ea typeface="Arial"/>
                <a:cs typeface="Arial"/>
                <a:sym typeface="Arial"/>
              </a:rPr>
              <a:t>Evidence and limits</a:t>
            </a:r>
            <a:endParaRPr sz="1800"/>
          </a:p>
        </p:txBody>
      </p:sp>
      <p:sp>
        <p:nvSpPr>
          <p:cNvPr id="210" name="Google Shape;210;p9"/>
          <p:cNvSpPr/>
          <p:nvPr/>
        </p:nvSpPr>
        <p:spPr>
          <a:xfrm>
            <a:off x="514350" y="3238500"/>
            <a:ext cx="80487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350"/>
              <a:buFont typeface="Arial"/>
              <a:buNone/>
            </a:pPr>
            <a:r>
              <a:rPr b="0" lang="en-US" sz="1350">
                <a:solidFill>
                  <a:srgbClr val="606C78"/>
                </a:solidFill>
                <a:latin typeface="Arial"/>
                <a:ea typeface="Arial"/>
                <a:cs typeface="Arial"/>
                <a:sym typeface="Arial"/>
              </a:rPr>
              <a:t>CI requires at least 90% backend and frontend coverage.</a:t>
            </a:r>
            <a:endParaRPr sz="1800"/>
          </a:p>
          <a:p>
            <a:pPr indent="0" lvl="0" marL="0" marR="0" rtl="0" algn="l">
              <a:spcBef>
                <a:spcPts val="0"/>
              </a:spcBef>
              <a:spcAft>
                <a:spcPts val="0"/>
              </a:spcAft>
              <a:buClr>
                <a:srgbClr val="606C78"/>
              </a:buClr>
              <a:buSzPts val="1350"/>
              <a:buFont typeface="Arial"/>
              <a:buNone/>
            </a:pPr>
            <a:r>
              <a:rPr b="0" lang="en-US" sz="1350">
                <a:solidFill>
                  <a:srgbClr val="606C78"/>
                </a:solidFill>
                <a:latin typeface="Arial"/>
                <a:ea typeface="Arial"/>
                <a:cs typeface="Arial"/>
                <a:sym typeface="Arial"/>
              </a:rPr>
              <a:t>The study walkthrough is manual; no browser automation yet.</a:t>
            </a:r>
            <a:endParaRPr b="1" sz="17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217" name="Google Shape;217;p10"/>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218" name="Google Shape;218;p10"/>
          <p:cNvSpPr/>
          <p:nvPr/>
        </p:nvSpPr>
        <p:spPr>
          <a:xfrm>
            <a:off x="370333"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19" name="Google Shape;219;p10"/>
          <p:cNvSpPr/>
          <p:nvPr/>
        </p:nvSpPr>
        <p:spPr>
          <a:xfrm>
            <a:off x="370333" y="2108850"/>
            <a:ext cx="48000" cy="9258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0" name="Google Shape;220;p10"/>
          <p:cNvSpPr/>
          <p:nvPr/>
        </p:nvSpPr>
        <p:spPr>
          <a:xfrm>
            <a:off x="541783"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21" name="Google Shape;221;p10"/>
          <p:cNvSpPr/>
          <p:nvPr/>
        </p:nvSpPr>
        <p:spPr>
          <a:xfrm>
            <a:off x="541783"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22" name="Google Shape;222;p10"/>
          <p:cNvSpPr/>
          <p:nvPr/>
        </p:nvSpPr>
        <p:spPr>
          <a:xfrm>
            <a:off x="1865377"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3" name="Google Shape;223;p10"/>
          <p:cNvSpPr/>
          <p:nvPr/>
        </p:nvSpPr>
        <p:spPr>
          <a:xfrm>
            <a:off x="2071117"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4" name="Google Shape;224;p10"/>
          <p:cNvSpPr/>
          <p:nvPr/>
        </p:nvSpPr>
        <p:spPr>
          <a:xfrm>
            <a:off x="2071117" y="2108850"/>
            <a:ext cx="48000" cy="925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5" name="Google Shape;225;p10"/>
          <p:cNvSpPr/>
          <p:nvPr/>
        </p:nvSpPr>
        <p:spPr>
          <a:xfrm>
            <a:off x="2242567"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26" name="Google Shape;226;p10"/>
          <p:cNvSpPr/>
          <p:nvPr/>
        </p:nvSpPr>
        <p:spPr>
          <a:xfrm>
            <a:off x="2242567"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27" name="Google Shape;227;p10"/>
          <p:cNvSpPr/>
          <p:nvPr/>
        </p:nvSpPr>
        <p:spPr>
          <a:xfrm>
            <a:off x="3566161"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8" name="Google Shape;228;p10"/>
          <p:cNvSpPr/>
          <p:nvPr/>
        </p:nvSpPr>
        <p:spPr>
          <a:xfrm>
            <a:off x="3771901"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9" name="Google Shape;229;p10"/>
          <p:cNvSpPr/>
          <p:nvPr/>
        </p:nvSpPr>
        <p:spPr>
          <a:xfrm>
            <a:off x="3771901" y="2108850"/>
            <a:ext cx="48000" cy="9258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0" name="Google Shape;230;p10"/>
          <p:cNvSpPr/>
          <p:nvPr/>
        </p:nvSpPr>
        <p:spPr>
          <a:xfrm>
            <a:off x="3943351"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31" name="Google Shape;231;p10"/>
          <p:cNvSpPr/>
          <p:nvPr/>
        </p:nvSpPr>
        <p:spPr>
          <a:xfrm>
            <a:off x="3943351"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32" name="Google Shape;232;p10"/>
          <p:cNvSpPr/>
          <p:nvPr/>
        </p:nvSpPr>
        <p:spPr>
          <a:xfrm>
            <a:off x="5266945"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3" name="Google Shape;233;p10"/>
          <p:cNvSpPr/>
          <p:nvPr/>
        </p:nvSpPr>
        <p:spPr>
          <a:xfrm>
            <a:off x="5472685"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4" name="Google Shape;234;p10"/>
          <p:cNvSpPr/>
          <p:nvPr/>
        </p:nvSpPr>
        <p:spPr>
          <a:xfrm>
            <a:off x="5472685" y="2108850"/>
            <a:ext cx="48000" cy="925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5" name="Google Shape;235;p10"/>
          <p:cNvSpPr/>
          <p:nvPr/>
        </p:nvSpPr>
        <p:spPr>
          <a:xfrm>
            <a:off x="5644135"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36" name="Google Shape;236;p10"/>
          <p:cNvSpPr/>
          <p:nvPr/>
        </p:nvSpPr>
        <p:spPr>
          <a:xfrm>
            <a:off x="5644135"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37" name="Google Shape;237;p10"/>
          <p:cNvSpPr/>
          <p:nvPr/>
        </p:nvSpPr>
        <p:spPr>
          <a:xfrm>
            <a:off x="6967729"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8" name="Google Shape;238;p10"/>
          <p:cNvSpPr/>
          <p:nvPr/>
        </p:nvSpPr>
        <p:spPr>
          <a:xfrm>
            <a:off x="7173469"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9" name="Google Shape;239;p10"/>
          <p:cNvSpPr/>
          <p:nvPr/>
        </p:nvSpPr>
        <p:spPr>
          <a:xfrm>
            <a:off x="7173469" y="2108850"/>
            <a:ext cx="48000" cy="925800"/>
          </a:xfrm>
          <a:prstGeom prst="rect">
            <a:avLst/>
          </a:prstGeom>
          <a:solidFill>
            <a:srgbClr val="5C8F68"/>
          </a:solidFill>
          <a:ln cap="flat" cmpd="sng" w="12700">
            <a:solidFill>
              <a:srgbClr val="5C8F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40" name="Google Shape;240;p10"/>
          <p:cNvSpPr/>
          <p:nvPr/>
        </p:nvSpPr>
        <p:spPr>
          <a:xfrm>
            <a:off x="7344919"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41" name="Google Shape;241;p10"/>
          <p:cNvSpPr/>
          <p:nvPr/>
        </p:nvSpPr>
        <p:spPr>
          <a:xfrm>
            <a:off x="7344919"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42" name="Google Shape;242;p10"/>
          <p:cNvSpPr/>
          <p:nvPr/>
        </p:nvSpPr>
        <p:spPr>
          <a:xfrm>
            <a:off x="514350" y="2571750"/>
            <a:ext cx="137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300"/>
              <a:buFont typeface="Arial"/>
              <a:buNone/>
            </a:pPr>
            <a:r>
              <a:t/>
            </a:r>
            <a:endParaRPr b="0" i="0" sz="1300" u="none" cap="none">
              <a:solidFill>
                <a:schemeClr val="dk1"/>
              </a:solidFill>
              <a:latin typeface="Arial"/>
              <a:ea typeface="Arial"/>
              <a:cs typeface="Arial"/>
              <a:sym typeface="Arial"/>
            </a:endParaRPr>
          </a:p>
        </p:txBody>
      </p:sp>
      <p:sp>
        <p:nvSpPr>
          <p:cNvPr id="243" name="Google Shape;243;p10"/>
          <p:cNvSpPr/>
          <p:nvPr/>
        </p:nvSpPr>
        <p:spPr>
          <a:xfrm>
            <a:off x="514350" y="2880360"/>
            <a:ext cx="7955400" cy="30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300"/>
              <a:buFont typeface="Arial"/>
              <a:buNone/>
            </a:pPr>
            <a:r>
              <a:t/>
            </a:r>
            <a:endParaRPr b="0" i="0" sz="1300" u="none" cap="none">
              <a:solidFill>
                <a:schemeClr val="dk1"/>
              </a:solidFill>
              <a:latin typeface="Arial"/>
              <a:ea typeface="Arial"/>
              <a:cs typeface="Arial"/>
              <a:sym typeface="Arial"/>
            </a:endParaRPr>
          </a:p>
        </p:txBody>
      </p:sp>
      <p:sp>
        <p:nvSpPr>
          <p:cNvPr id="244" name="Google Shape;244;p10"/>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245" name="Google Shape;245;p10"/>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lang="en-US" sz="800">
                <a:solidFill>
                  <a:srgbClr val="159A9C"/>
                </a:solidFill>
                <a:latin typeface="Arial"/>
                <a:ea typeface="Arial"/>
                <a:cs typeface="Arial"/>
                <a:sym typeface="Arial"/>
              </a:rPr>
              <a:t>CONFIGURATION / DUC</a:t>
            </a:r>
            <a:endParaRPr sz="1800"/>
          </a:p>
        </p:txBody>
      </p:sp>
      <p:sp>
        <p:nvSpPr>
          <p:cNvPr id="246" name="Google Shape;246;p10"/>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100"/>
              <a:buFont typeface="Arial"/>
              <a:buNone/>
            </a:pPr>
            <a:r>
              <a:rPr b="1" lang="en-US" sz="2100">
                <a:solidFill>
                  <a:srgbClr val="17212B"/>
                </a:solidFill>
                <a:latin typeface="Arial"/>
                <a:ea typeface="Arial"/>
                <a:cs typeface="Arial"/>
                <a:sym typeface="Arial"/>
              </a:rPr>
              <a:t>Development and integration workflow</a:t>
            </a:r>
            <a:endParaRPr sz="1800"/>
          </a:p>
        </p:txBody>
      </p:sp>
      <p:sp>
        <p:nvSpPr>
          <p:cNvPr id="247" name="Google Shape;247;p10"/>
          <p:cNvSpPr/>
          <p:nvPr/>
        </p:nvSpPr>
        <p:spPr>
          <a:xfrm>
            <a:off x="522733"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25"/>
              <a:buFont typeface="Arial"/>
              <a:buNone/>
            </a:pPr>
            <a:r>
              <a:rPr b="1" lang="en-US" sz="1125">
                <a:solidFill>
                  <a:srgbClr val="17212B"/>
                </a:solidFill>
                <a:latin typeface="Arial"/>
                <a:ea typeface="Arial"/>
                <a:cs typeface="Arial"/>
                <a:sym typeface="Arial"/>
              </a:rPr>
              <a:t>Feature branch</a:t>
            </a:r>
            <a:endParaRPr sz="1800"/>
          </a:p>
        </p:txBody>
      </p:sp>
      <p:sp>
        <p:nvSpPr>
          <p:cNvPr id="248" name="Google Shape;248;p10"/>
          <p:cNvSpPr/>
          <p:nvPr/>
        </p:nvSpPr>
        <p:spPr>
          <a:xfrm>
            <a:off x="522733"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lang="en-US" sz="900">
                <a:solidFill>
                  <a:srgbClr val="5F6B76"/>
                </a:solidFill>
                <a:latin typeface="Arial"/>
                <a:ea typeface="Arial"/>
                <a:cs typeface="Arial"/>
                <a:sym typeface="Arial"/>
              </a:rPr>
              <a:t>Implement a change</a:t>
            </a:r>
            <a:endParaRPr sz="1800"/>
          </a:p>
        </p:txBody>
      </p:sp>
      <p:sp>
        <p:nvSpPr>
          <p:cNvPr id="249" name="Google Shape;249;p10"/>
          <p:cNvSpPr/>
          <p:nvPr/>
        </p:nvSpPr>
        <p:spPr>
          <a:xfrm>
            <a:off x="2223517"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25"/>
              <a:buFont typeface="Arial"/>
              <a:buNone/>
            </a:pPr>
            <a:r>
              <a:rPr b="1" lang="en-US" sz="1125">
                <a:solidFill>
                  <a:srgbClr val="17212B"/>
                </a:solidFill>
                <a:latin typeface="Arial"/>
                <a:ea typeface="Arial"/>
                <a:cs typeface="Arial"/>
                <a:sym typeface="Arial"/>
              </a:rPr>
              <a:t>Pull request</a:t>
            </a:r>
            <a:endParaRPr sz="1800"/>
          </a:p>
        </p:txBody>
      </p:sp>
      <p:sp>
        <p:nvSpPr>
          <p:cNvPr id="250" name="Google Shape;250;p10"/>
          <p:cNvSpPr/>
          <p:nvPr/>
        </p:nvSpPr>
        <p:spPr>
          <a:xfrm>
            <a:off x="2223517"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lang="en-US" sz="900">
                <a:solidFill>
                  <a:srgbClr val="5F6B76"/>
                </a:solidFill>
                <a:latin typeface="Arial"/>
                <a:ea typeface="Arial"/>
                <a:cs typeface="Arial"/>
                <a:sym typeface="Arial"/>
              </a:rPr>
              <a:t>Explain and compare</a:t>
            </a:r>
            <a:endParaRPr sz="1800"/>
          </a:p>
        </p:txBody>
      </p:sp>
      <p:sp>
        <p:nvSpPr>
          <p:cNvPr id="251" name="Google Shape;251;p10"/>
          <p:cNvSpPr/>
          <p:nvPr/>
        </p:nvSpPr>
        <p:spPr>
          <a:xfrm>
            <a:off x="3924301"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25"/>
              <a:buFont typeface="Arial"/>
              <a:buNone/>
            </a:pPr>
            <a:r>
              <a:rPr b="1" lang="en-US" sz="1125">
                <a:solidFill>
                  <a:srgbClr val="17212B"/>
                </a:solidFill>
                <a:latin typeface="Arial"/>
                <a:ea typeface="Arial"/>
                <a:cs typeface="Arial"/>
                <a:sym typeface="Arial"/>
              </a:rPr>
              <a:t>Checks + review</a:t>
            </a:r>
            <a:endParaRPr sz="1800"/>
          </a:p>
        </p:txBody>
      </p:sp>
      <p:sp>
        <p:nvSpPr>
          <p:cNvPr id="252" name="Google Shape;252;p10"/>
          <p:cNvSpPr/>
          <p:nvPr/>
        </p:nvSpPr>
        <p:spPr>
          <a:xfrm>
            <a:off x="3924301"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“CI passed” + one approval</a:t>
            </a:r>
            <a:endParaRPr sz="1800"/>
          </a:p>
        </p:txBody>
      </p:sp>
      <p:sp>
        <p:nvSpPr>
          <p:cNvPr id="253" name="Google Shape;253;p10"/>
          <p:cNvSpPr/>
          <p:nvPr/>
        </p:nvSpPr>
        <p:spPr>
          <a:xfrm>
            <a:off x="5625085"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25"/>
              <a:buFont typeface="Arial"/>
              <a:buNone/>
            </a:pPr>
            <a:r>
              <a:rPr b="1" lang="en-US" sz="1125">
                <a:solidFill>
                  <a:srgbClr val="17212B"/>
                </a:solidFill>
                <a:latin typeface="Arial"/>
                <a:ea typeface="Arial"/>
                <a:cs typeface="Arial"/>
                <a:sym typeface="Arial"/>
              </a:rPr>
              <a:t>develop</a:t>
            </a:r>
            <a:endParaRPr sz="1800"/>
          </a:p>
        </p:txBody>
      </p:sp>
      <p:sp>
        <p:nvSpPr>
          <p:cNvPr id="254" name="Google Shape;254;p10"/>
          <p:cNvSpPr/>
          <p:nvPr/>
        </p:nvSpPr>
        <p:spPr>
          <a:xfrm>
            <a:off x="5625085"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lang="en-US" sz="900">
                <a:solidFill>
                  <a:srgbClr val="5F6B76"/>
                </a:solidFill>
                <a:latin typeface="Arial"/>
                <a:ea typeface="Arial"/>
                <a:cs typeface="Arial"/>
                <a:sym typeface="Arial"/>
              </a:rPr>
              <a:t>Integrate the team’s </a:t>
            </a:r>
            <a:endParaRPr b="0" sz="900">
              <a:solidFill>
                <a:srgbClr val="5F6B76"/>
              </a:solidFill>
              <a:latin typeface="Arial"/>
              <a:ea typeface="Arial"/>
              <a:cs typeface="Arial"/>
              <a:sym typeface="Arial"/>
            </a:endParaRPr>
          </a:p>
          <a:p>
            <a:pPr indent="0" lvl="0" marL="0" marR="0" rtl="0" algn="l">
              <a:spcBef>
                <a:spcPts val="0"/>
              </a:spcBef>
              <a:spcAft>
                <a:spcPts val="0"/>
              </a:spcAft>
              <a:buClr>
                <a:srgbClr val="5F6B76"/>
              </a:buClr>
              <a:buSzPts val="900"/>
              <a:buFont typeface="Arial"/>
              <a:buNone/>
            </a:pPr>
            <a:r>
              <a:rPr b="0" lang="en-US" sz="900">
                <a:solidFill>
                  <a:srgbClr val="5F6B76"/>
                </a:solidFill>
                <a:latin typeface="Arial"/>
                <a:ea typeface="Arial"/>
                <a:cs typeface="Arial"/>
                <a:sym typeface="Arial"/>
              </a:rPr>
              <a:t>work</a:t>
            </a:r>
            <a:endParaRPr sz="1800"/>
          </a:p>
        </p:txBody>
      </p:sp>
      <p:sp>
        <p:nvSpPr>
          <p:cNvPr id="255" name="Google Shape;255;p10"/>
          <p:cNvSpPr/>
          <p:nvPr/>
        </p:nvSpPr>
        <p:spPr>
          <a:xfrm>
            <a:off x="7325869"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25"/>
              <a:buFont typeface="Arial"/>
              <a:buNone/>
            </a:pPr>
            <a:r>
              <a:rPr b="1" lang="en-US" sz="1125">
                <a:solidFill>
                  <a:srgbClr val="17212B"/>
                </a:solidFill>
                <a:latin typeface="Arial"/>
                <a:ea typeface="Arial"/>
                <a:cs typeface="Arial"/>
                <a:sym typeface="Arial"/>
              </a:rPr>
              <a:t>main</a:t>
            </a:r>
            <a:endParaRPr sz="1800"/>
          </a:p>
        </p:txBody>
      </p:sp>
      <p:sp>
        <p:nvSpPr>
          <p:cNvPr id="256" name="Google Shape;256;p10"/>
          <p:cNvSpPr/>
          <p:nvPr/>
        </p:nvSpPr>
        <p:spPr>
          <a:xfrm>
            <a:off x="7325869"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lang="en-US" sz="900">
                <a:solidFill>
                  <a:srgbClr val="5F6B76"/>
                </a:solidFill>
                <a:latin typeface="Arial"/>
                <a:ea typeface="Arial"/>
                <a:cs typeface="Arial"/>
                <a:sym typeface="Arial"/>
              </a:rPr>
              <a:t>Release after validation</a:t>
            </a:r>
            <a:endParaRPr sz="1800"/>
          </a:p>
        </p:txBody>
      </p:sp>
      <p:sp>
        <p:nvSpPr>
          <p:cNvPr id="257" name="Google Shape;257;p10"/>
          <p:cNvSpPr/>
          <p:nvPr/>
        </p:nvSpPr>
        <p:spPr>
          <a:xfrm>
            <a:off x="514350" y="3745300"/>
            <a:ext cx="7905900" cy="24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New this iteration</a:t>
            </a:r>
            <a:endParaRPr sz="1800"/>
          </a:p>
        </p:txBody>
      </p:sp>
      <p:sp>
        <p:nvSpPr>
          <p:cNvPr id="258" name="Google Shape;258;p10"/>
          <p:cNvSpPr/>
          <p:nvPr/>
        </p:nvSpPr>
        <p:spPr>
          <a:xfrm>
            <a:off x="519075" y="3993100"/>
            <a:ext cx="80487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350"/>
              <a:buFont typeface="Arial"/>
              <a:buNone/>
            </a:pPr>
            <a:r>
              <a:rPr b="0" lang="en-US" sz="1350">
                <a:solidFill>
                  <a:srgbClr val="606C78"/>
                </a:solidFill>
                <a:latin typeface="Arial"/>
                <a:ea typeface="Arial"/>
                <a:cs typeface="Arial"/>
                <a:sym typeface="Arial"/>
              </a:rPr>
              <a:t>Vitest with a 90% coverage gate, demo-data commands, and security patches the build cache can’t skip</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1"/>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265" name="Google Shape;265;p11"/>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266" name="Google Shape;266;p11"/>
          <p:cNvSpPr/>
          <p:nvPr/>
        </p:nvSpPr>
        <p:spPr>
          <a:xfrm>
            <a:off x="514350" y="99441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7" name="Google Shape;267;p11"/>
          <p:cNvSpPr/>
          <p:nvPr/>
        </p:nvSpPr>
        <p:spPr>
          <a:xfrm>
            <a:off x="514350" y="994410"/>
            <a:ext cx="48000" cy="788700"/>
          </a:xfrm>
          <a:prstGeom prst="rect">
            <a:avLst/>
          </a:prstGeom>
          <a:solidFill>
            <a:srgbClr val="B85B5B"/>
          </a:solidFill>
          <a:ln cap="flat" cmpd="sng" w="12700">
            <a:solidFill>
              <a:srgbClr val="B85B5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8" name="Google Shape;268;p11"/>
          <p:cNvSpPr/>
          <p:nvPr/>
        </p:nvSpPr>
        <p:spPr>
          <a:xfrm>
            <a:off x="685800" y="113157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69" name="Google Shape;269;p11"/>
          <p:cNvSpPr/>
          <p:nvPr/>
        </p:nvSpPr>
        <p:spPr>
          <a:xfrm>
            <a:off x="685800" y="141960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70" name="Google Shape;270;p11"/>
          <p:cNvSpPr/>
          <p:nvPr/>
        </p:nvSpPr>
        <p:spPr>
          <a:xfrm>
            <a:off x="4663440" y="99441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1" name="Google Shape;271;p11"/>
          <p:cNvSpPr/>
          <p:nvPr/>
        </p:nvSpPr>
        <p:spPr>
          <a:xfrm>
            <a:off x="4663440" y="994410"/>
            <a:ext cx="48000" cy="7887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2" name="Google Shape;272;p11"/>
          <p:cNvSpPr/>
          <p:nvPr/>
        </p:nvSpPr>
        <p:spPr>
          <a:xfrm>
            <a:off x="4834890" y="113157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73" name="Google Shape;273;p11"/>
          <p:cNvSpPr/>
          <p:nvPr/>
        </p:nvSpPr>
        <p:spPr>
          <a:xfrm>
            <a:off x="4834890" y="141960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74" name="Google Shape;274;p11"/>
          <p:cNvSpPr/>
          <p:nvPr/>
        </p:nvSpPr>
        <p:spPr>
          <a:xfrm>
            <a:off x="514350" y="205740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5" name="Google Shape;275;p11"/>
          <p:cNvSpPr/>
          <p:nvPr/>
        </p:nvSpPr>
        <p:spPr>
          <a:xfrm>
            <a:off x="514350" y="2057400"/>
            <a:ext cx="48000" cy="7887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6" name="Google Shape;276;p11"/>
          <p:cNvSpPr/>
          <p:nvPr/>
        </p:nvSpPr>
        <p:spPr>
          <a:xfrm>
            <a:off x="685800" y="219456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77" name="Google Shape;277;p11"/>
          <p:cNvSpPr/>
          <p:nvPr/>
        </p:nvSpPr>
        <p:spPr>
          <a:xfrm>
            <a:off x="685800" y="248259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78" name="Google Shape;278;p11"/>
          <p:cNvSpPr/>
          <p:nvPr/>
        </p:nvSpPr>
        <p:spPr>
          <a:xfrm>
            <a:off x="4663440" y="205740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9" name="Google Shape;279;p11"/>
          <p:cNvSpPr/>
          <p:nvPr/>
        </p:nvSpPr>
        <p:spPr>
          <a:xfrm>
            <a:off x="4663440" y="2057400"/>
            <a:ext cx="48000" cy="7887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0" name="Google Shape;280;p11"/>
          <p:cNvSpPr/>
          <p:nvPr/>
        </p:nvSpPr>
        <p:spPr>
          <a:xfrm>
            <a:off x="4834890" y="219456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81" name="Google Shape;281;p11"/>
          <p:cNvSpPr/>
          <p:nvPr/>
        </p:nvSpPr>
        <p:spPr>
          <a:xfrm>
            <a:off x="4834890" y="248259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82" name="Google Shape;282;p11"/>
          <p:cNvSpPr/>
          <p:nvPr/>
        </p:nvSpPr>
        <p:spPr>
          <a:xfrm>
            <a:off x="514350" y="312039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3" name="Google Shape;283;p11"/>
          <p:cNvSpPr/>
          <p:nvPr/>
        </p:nvSpPr>
        <p:spPr>
          <a:xfrm>
            <a:off x="514350" y="3120390"/>
            <a:ext cx="48000" cy="7887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4" name="Google Shape;284;p11"/>
          <p:cNvSpPr/>
          <p:nvPr/>
        </p:nvSpPr>
        <p:spPr>
          <a:xfrm>
            <a:off x="685800" y="325755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85" name="Google Shape;285;p11"/>
          <p:cNvSpPr/>
          <p:nvPr/>
        </p:nvSpPr>
        <p:spPr>
          <a:xfrm>
            <a:off x="685800" y="354558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86" name="Google Shape;286;p11"/>
          <p:cNvSpPr/>
          <p:nvPr/>
        </p:nvSpPr>
        <p:spPr>
          <a:xfrm>
            <a:off x="4663440" y="312039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7" name="Google Shape;287;p11"/>
          <p:cNvSpPr/>
          <p:nvPr/>
        </p:nvSpPr>
        <p:spPr>
          <a:xfrm>
            <a:off x="4663440" y="3120390"/>
            <a:ext cx="48000" cy="788700"/>
          </a:xfrm>
          <a:prstGeom prst="rect">
            <a:avLst/>
          </a:prstGeom>
          <a:solidFill>
            <a:srgbClr val="5C8F68"/>
          </a:solidFill>
          <a:ln cap="flat" cmpd="sng" w="12700">
            <a:solidFill>
              <a:srgbClr val="5C8F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8" name="Google Shape;288;p11"/>
          <p:cNvSpPr/>
          <p:nvPr/>
        </p:nvSpPr>
        <p:spPr>
          <a:xfrm>
            <a:off x="4834890" y="325755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89" name="Google Shape;289;p11"/>
          <p:cNvSpPr/>
          <p:nvPr/>
        </p:nvSpPr>
        <p:spPr>
          <a:xfrm>
            <a:off x="4834890" y="354558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90" name="Google Shape;290;p11"/>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291" name="Google Shape;291;p11"/>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lang="en-US" sz="800">
                <a:solidFill>
                  <a:srgbClr val="159A9C"/>
                </a:solidFill>
                <a:latin typeface="Arial"/>
                <a:ea typeface="Arial"/>
                <a:cs typeface="Arial"/>
                <a:sym typeface="Arial"/>
              </a:rPr>
              <a:t>SECURITY / MILES</a:t>
            </a:r>
            <a:endParaRPr sz="1800"/>
          </a:p>
        </p:txBody>
      </p:sp>
      <p:sp>
        <p:nvSpPr>
          <p:cNvPr id="292" name="Google Shape;292;p11"/>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100"/>
              <a:buFont typeface="Arial"/>
              <a:buNone/>
            </a:pPr>
            <a:r>
              <a:rPr b="1" lang="en-US" sz="2100">
                <a:solidFill>
                  <a:srgbClr val="17212B"/>
                </a:solidFill>
                <a:latin typeface="Arial"/>
                <a:ea typeface="Arial"/>
                <a:cs typeface="Arial"/>
                <a:sym typeface="Arial"/>
              </a:rPr>
              <a:t>Security: implemented and next</a:t>
            </a:r>
            <a:endParaRPr sz="1800"/>
          </a:p>
        </p:txBody>
      </p:sp>
      <p:sp>
        <p:nvSpPr>
          <p:cNvPr id="293" name="Google Shape;293;p11"/>
          <p:cNvSpPr/>
          <p:nvPr/>
        </p:nvSpPr>
        <p:spPr>
          <a:xfrm>
            <a:off x="685800" y="113157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Ownership on study routes</a:t>
            </a:r>
            <a:endParaRPr sz="1800"/>
          </a:p>
        </p:txBody>
      </p:sp>
      <p:sp>
        <p:nvSpPr>
          <p:cNvPr id="294" name="Google Shape;294;p11"/>
          <p:cNvSpPr/>
          <p:nvPr/>
        </p:nvSpPr>
        <p:spPr>
          <a:xfrm>
            <a:off x="685800" y="1455420"/>
            <a:ext cx="35661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13"/>
              <a:buFont typeface="Arial"/>
              <a:buNone/>
            </a:pPr>
            <a:r>
              <a:rPr b="0" lang="en-US" sz="1013">
                <a:solidFill>
                  <a:srgbClr val="606C78"/>
                </a:solidFill>
                <a:latin typeface="Arial"/>
                <a:ea typeface="Arial"/>
                <a:cs typeface="Arial"/>
                <a:sym typeface="Arial"/>
              </a:rPr>
              <a:t>Due-card and review requests check the owner. Another user’s deck returns not found.</a:t>
            </a:r>
            <a:endParaRPr sz="1800"/>
          </a:p>
        </p:txBody>
      </p:sp>
      <p:sp>
        <p:nvSpPr>
          <p:cNvPr id="295" name="Google Shape;295;p11"/>
          <p:cNvSpPr/>
          <p:nvPr/>
        </p:nvSpPr>
        <p:spPr>
          <a:xfrm>
            <a:off x="4834890" y="113157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Review integrity</a:t>
            </a:r>
            <a:endParaRPr sz="1800"/>
          </a:p>
        </p:txBody>
      </p:sp>
      <p:sp>
        <p:nvSpPr>
          <p:cNvPr id="296" name="Google Shape;296;p11"/>
          <p:cNvSpPr/>
          <p:nvPr/>
        </p:nvSpPr>
        <p:spPr>
          <a:xfrm>
            <a:off x="4834890" y="1455420"/>
            <a:ext cx="35661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13"/>
              <a:buFont typeface="Arial"/>
              <a:buNone/>
            </a:pPr>
            <a:r>
              <a:rPr b="0" lang="en-US" sz="1013">
                <a:solidFill>
                  <a:srgbClr val="606C78"/>
                </a:solidFill>
                <a:latin typeface="Arial"/>
                <a:ea typeface="Arial"/>
                <a:cs typeface="Arial"/>
                <a:sym typeface="Arial"/>
              </a:rPr>
              <a:t>Early review ratings return 409. The page guards against duplicate rating requests.</a:t>
            </a:r>
            <a:endParaRPr sz="1800"/>
          </a:p>
        </p:txBody>
      </p:sp>
      <p:sp>
        <p:nvSpPr>
          <p:cNvPr id="297" name="Google Shape;297;p11"/>
          <p:cNvSpPr/>
          <p:nvPr/>
        </p:nvSpPr>
        <p:spPr>
          <a:xfrm>
            <a:off x="685800" y="219456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Cross-site request forgery</a:t>
            </a:r>
            <a:endParaRPr sz="1800"/>
          </a:p>
        </p:txBody>
      </p:sp>
      <p:sp>
        <p:nvSpPr>
          <p:cNvPr id="298" name="Google Shape;298;p11"/>
          <p:cNvSpPr/>
          <p:nvPr/>
        </p:nvSpPr>
        <p:spPr>
          <a:xfrm>
            <a:off x="685800" y="2518410"/>
            <a:ext cx="35661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13"/>
              <a:buFont typeface="Arial"/>
              <a:buNone/>
            </a:pPr>
            <a:r>
              <a:rPr b="0" lang="en-US" sz="1013">
                <a:solidFill>
                  <a:srgbClr val="606C78"/>
                </a:solidFill>
                <a:latin typeface="Arial"/>
                <a:ea typeface="Arial"/>
                <a:cs typeface="Arial"/>
                <a:sym typeface="Arial"/>
              </a:rPr>
              <a:t>SameSite cookies, JSON-only bodies and no CORS access protect state-changing requests.</a:t>
            </a:r>
            <a:endParaRPr sz="1800"/>
          </a:p>
        </p:txBody>
      </p:sp>
      <p:sp>
        <p:nvSpPr>
          <p:cNvPr id="299" name="Google Shape;299;p11"/>
          <p:cNvSpPr/>
          <p:nvPr/>
        </p:nvSpPr>
        <p:spPr>
          <a:xfrm>
            <a:off x="4834890" y="219456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Image and code scanning</a:t>
            </a:r>
            <a:endParaRPr sz="1800"/>
          </a:p>
        </p:txBody>
      </p:sp>
      <p:sp>
        <p:nvSpPr>
          <p:cNvPr id="300" name="Google Shape;300;p11"/>
          <p:cNvSpPr/>
          <p:nvPr/>
        </p:nvSpPr>
        <p:spPr>
          <a:xfrm>
            <a:off x="4834890" y="2518410"/>
            <a:ext cx="35661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13"/>
              <a:buFont typeface="Arial"/>
              <a:buNone/>
            </a:pPr>
            <a:r>
              <a:rPr b="0" lang="en-US" sz="1013">
                <a:solidFill>
                  <a:srgbClr val="606C78"/>
                </a:solidFill>
                <a:latin typeface="Arial"/>
                <a:ea typeface="Arial"/>
                <a:cs typeface="Arial"/>
                <a:sym typeface="Arial"/>
              </a:rPr>
              <a:t>Trivy checks fixable HIGH/CRITICAL flaws. CodeQL scans code on pushes and pull requests.</a:t>
            </a:r>
            <a:endParaRPr sz="1800"/>
          </a:p>
        </p:txBody>
      </p:sp>
      <p:sp>
        <p:nvSpPr>
          <p:cNvPr id="301" name="Google Shape;301;p11"/>
          <p:cNvSpPr/>
          <p:nvPr/>
        </p:nvSpPr>
        <p:spPr>
          <a:xfrm>
            <a:off x="685800" y="325755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Next: verify in deployment</a:t>
            </a:r>
            <a:endParaRPr sz="1800"/>
          </a:p>
        </p:txBody>
      </p:sp>
      <p:sp>
        <p:nvSpPr>
          <p:cNvPr id="302" name="Google Shape;302;p11"/>
          <p:cNvSpPr/>
          <p:nvPr/>
        </p:nvSpPr>
        <p:spPr>
          <a:xfrm>
            <a:off x="685800" y="3581400"/>
            <a:ext cx="35661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13"/>
              <a:buFont typeface="Arial"/>
              <a:buNone/>
            </a:pPr>
            <a:r>
              <a:rPr b="0" lang="en-US" sz="1013">
                <a:solidFill>
                  <a:srgbClr val="606C78"/>
                </a:solidFill>
                <a:latin typeface="Arial"/>
                <a:ea typeface="Arial"/>
                <a:cs typeface="Arial"/>
                <a:sym typeface="Arial"/>
              </a:rPr>
              <a:t>Secure cookies and HTTPS are configured for Render. Verification awaits deployment.</a:t>
            </a:r>
            <a:endParaRPr sz="1800"/>
          </a:p>
        </p:txBody>
      </p:sp>
      <p:sp>
        <p:nvSpPr>
          <p:cNvPr id="303" name="Google Shape;303;p11"/>
          <p:cNvSpPr/>
          <p:nvPr/>
        </p:nvSpPr>
        <p:spPr>
          <a:xfrm>
            <a:off x="4834890" y="325755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Next: AI safeguards</a:t>
            </a:r>
            <a:endParaRPr sz="1800"/>
          </a:p>
        </p:txBody>
      </p:sp>
      <p:sp>
        <p:nvSpPr>
          <p:cNvPr id="304" name="Google Shape;304;p11"/>
          <p:cNvSpPr/>
          <p:nvPr/>
        </p:nvSpPr>
        <p:spPr>
          <a:xfrm>
            <a:off x="4834890" y="3581400"/>
            <a:ext cx="35661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13"/>
              <a:buFont typeface="Arial"/>
              <a:buNone/>
            </a:pPr>
            <a:r>
              <a:rPr b="0" lang="en-US" sz="1013">
                <a:solidFill>
                  <a:srgbClr val="606C78"/>
                </a:solidFill>
                <a:latin typeface="Arial"/>
                <a:ea typeface="Arial"/>
                <a:cs typeface="Arial"/>
                <a:sym typeface="Arial"/>
              </a:rPr>
              <a:t>Prompt limits, per-user quotas and output validation before saving.</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2"/>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311" name="Google Shape;311;p12"/>
          <p:cNvSpPr/>
          <p:nvPr/>
        </p:nvSpPr>
        <p:spPr>
          <a:xfrm>
            <a:off x="447670" y="1351751"/>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312" name="Google Shape;312;p12"/>
          <p:cNvSpPr/>
          <p:nvPr/>
        </p:nvSpPr>
        <p:spPr>
          <a:xfrm>
            <a:off x="982594"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3" name="Google Shape;313;p12"/>
          <p:cNvSpPr/>
          <p:nvPr/>
        </p:nvSpPr>
        <p:spPr>
          <a:xfrm>
            <a:off x="982594"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14" name="Google Shape;314;p12"/>
          <p:cNvSpPr/>
          <p:nvPr/>
        </p:nvSpPr>
        <p:spPr>
          <a:xfrm>
            <a:off x="1558666"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5" name="Google Shape;315;p12"/>
          <p:cNvSpPr/>
          <p:nvPr/>
        </p:nvSpPr>
        <p:spPr>
          <a:xfrm>
            <a:off x="447670"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16" name="Google Shape;316;p12"/>
          <p:cNvSpPr/>
          <p:nvPr/>
        </p:nvSpPr>
        <p:spPr>
          <a:xfrm>
            <a:off x="447670" y="2949665"/>
            <a:ext cx="1543200" cy="7200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0"/>
              </a:spcAft>
              <a:buClr>
                <a:schemeClr val="dk1"/>
              </a:buClr>
              <a:buSzPts val="1100"/>
              <a:buFont typeface="Arial"/>
              <a:buNone/>
            </a:pPr>
            <a:r>
              <a:t/>
            </a:r>
            <a:endParaRPr sz="900">
              <a:solidFill>
                <a:srgbClr val="5F6B76"/>
              </a:solidFill>
            </a:endParaRPr>
          </a:p>
        </p:txBody>
      </p:sp>
      <p:sp>
        <p:nvSpPr>
          <p:cNvPr id="317" name="Google Shape;317;p12"/>
          <p:cNvSpPr/>
          <p:nvPr/>
        </p:nvSpPr>
        <p:spPr>
          <a:xfrm>
            <a:off x="2683378"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8" name="Google Shape;318;p12"/>
          <p:cNvSpPr/>
          <p:nvPr/>
        </p:nvSpPr>
        <p:spPr>
          <a:xfrm>
            <a:off x="2683378"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19" name="Google Shape;319;p12"/>
          <p:cNvSpPr/>
          <p:nvPr/>
        </p:nvSpPr>
        <p:spPr>
          <a:xfrm>
            <a:off x="3259450"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0" name="Google Shape;320;p12"/>
          <p:cNvSpPr/>
          <p:nvPr/>
        </p:nvSpPr>
        <p:spPr>
          <a:xfrm>
            <a:off x="2148454"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21" name="Google Shape;321;p12"/>
          <p:cNvSpPr/>
          <p:nvPr/>
        </p:nvSpPr>
        <p:spPr>
          <a:xfrm>
            <a:off x="2148454"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22" name="Google Shape;322;p12"/>
          <p:cNvSpPr/>
          <p:nvPr/>
        </p:nvSpPr>
        <p:spPr>
          <a:xfrm>
            <a:off x="4384162"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3" name="Google Shape;323;p12"/>
          <p:cNvSpPr/>
          <p:nvPr/>
        </p:nvSpPr>
        <p:spPr>
          <a:xfrm>
            <a:off x="4384162"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24" name="Google Shape;324;p12"/>
          <p:cNvSpPr/>
          <p:nvPr/>
        </p:nvSpPr>
        <p:spPr>
          <a:xfrm>
            <a:off x="4960234"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5" name="Google Shape;325;p12"/>
          <p:cNvSpPr/>
          <p:nvPr/>
        </p:nvSpPr>
        <p:spPr>
          <a:xfrm>
            <a:off x="3849238"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26" name="Google Shape;326;p12"/>
          <p:cNvSpPr/>
          <p:nvPr/>
        </p:nvSpPr>
        <p:spPr>
          <a:xfrm>
            <a:off x="3849238"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27" name="Google Shape;327;p12"/>
          <p:cNvSpPr/>
          <p:nvPr/>
        </p:nvSpPr>
        <p:spPr>
          <a:xfrm>
            <a:off x="6084946"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8" name="Google Shape;328;p12"/>
          <p:cNvSpPr/>
          <p:nvPr/>
        </p:nvSpPr>
        <p:spPr>
          <a:xfrm>
            <a:off x="6084946"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29" name="Google Shape;329;p12"/>
          <p:cNvSpPr/>
          <p:nvPr/>
        </p:nvSpPr>
        <p:spPr>
          <a:xfrm>
            <a:off x="6661018"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30" name="Google Shape;330;p12"/>
          <p:cNvSpPr/>
          <p:nvPr/>
        </p:nvSpPr>
        <p:spPr>
          <a:xfrm>
            <a:off x="5550022"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31" name="Google Shape;331;p12"/>
          <p:cNvSpPr/>
          <p:nvPr/>
        </p:nvSpPr>
        <p:spPr>
          <a:xfrm>
            <a:off x="5550022"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32" name="Google Shape;332;p12"/>
          <p:cNvSpPr/>
          <p:nvPr/>
        </p:nvSpPr>
        <p:spPr>
          <a:xfrm>
            <a:off x="7785730"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33" name="Google Shape;333;p12"/>
          <p:cNvSpPr/>
          <p:nvPr/>
        </p:nvSpPr>
        <p:spPr>
          <a:xfrm>
            <a:off x="7785730"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34" name="Google Shape;334;p12"/>
          <p:cNvSpPr/>
          <p:nvPr/>
        </p:nvSpPr>
        <p:spPr>
          <a:xfrm>
            <a:off x="7250806"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35" name="Google Shape;335;p12"/>
          <p:cNvSpPr/>
          <p:nvPr/>
        </p:nvSpPr>
        <p:spPr>
          <a:xfrm>
            <a:off x="7250806"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36" name="Google Shape;336;p12"/>
          <p:cNvSpPr/>
          <p:nvPr/>
        </p:nvSpPr>
        <p:spPr>
          <a:xfrm>
            <a:off x="548640" y="3634740"/>
            <a:ext cx="8023800" cy="2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6EAA"/>
              </a:buClr>
              <a:buSzPts val="1400"/>
              <a:buFont typeface="Arial"/>
              <a:buNone/>
            </a:pPr>
            <a:r>
              <a:t/>
            </a:r>
            <a:endParaRPr b="0" i="0" sz="1400" u="none" cap="none">
              <a:solidFill>
                <a:schemeClr val="dk1"/>
              </a:solidFill>
              <a:latin typeface="Arial"/>
              <a:ea typeface="Arial"/>
              <a:cs typeface="Arial"/>
              <a:sym typeface="Arial"/>
            </a:endParaRPr>
          </a:p>
        </p:txBody>
      </p:sp>
      <p:sp>
        <p:nvSpPr>
          <p:cNvPr id="337" name="Google Shape;337;p12"/>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338" name="Google Shape;338;p12"/>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lang="en-US" sz="800">
                <a:solidFill>
                  <a:srgbClr val="159A9C"/>
                </a:solidFill>
                <a:latin typeface="Arial"/>
                <a:ea typeface="Arial"/>
                <a:cs typeface="Arial"/>
                <a:sym typeface="Arial"/>
              </a:rPr>
              <a:t>LIVE DEMO / ABOUT 3 MINUTES</a:t>
            </a:r>
            <a:endParaRPr sz="1800"/>
          </a:p>
        </p:txBody>
      </p:sp>
      <p:sp>
        <p:nvSpPr>
          <p:cNvPr id="339" name="Google Shape;339;p12"/>
          <p:cNvSpPr/>
          <p:nvPr/>
        </p:nvSpPr>
        <p:spPr>
          <a:xfrm>
            <a:off x="438075" y="585838"/>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2100"/>
              <a:buFont typeface="Arial"/>
              <a:buNone/>
            </a:pPr>
            <a:r>
              <a:rPr b="1" lang="en-US" sz="2100">
                <a:solidFill>
                  <a:srgbClr val="18232D"/>
                </a:solidFill>
                <a:latin typeface="Arial"/>
                <a:ea typeface="Arial"/>
                <a:cs typeface="Arial"/>
                <a:sym typeface="Arial"/>
              </a:rPr>
              <a:t>A complete study session (Iteration 2)</a:t>
            </a:r>
            <a:endParaRPr sz="1800"/>
          </a:p>
        </p:txBody>
      </p:sp>
      <p:sp>
        <p:nvSpPr>
          <p:cNvPr id="340" name="Google Shape;340;p12"/>
          <p:cNvSpPr/>
          <p:nvPr/>
        </p:nvSpPr>
        <p:spPr>
          <a:xfrm>
            <a:off x="982975"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1</a:t>
            </a:r>
            <a:endParaRPr sz="1800"/>
          </a:p>
        </p:txBody>
      </p:sp>
      <p:sp>
        <p:nvSpPr>
          <p:cNvPr id="341" name="Google Shape;341;p12"/>
          <p:cNvSpPr/>
          <p:nvPr/>
        </p:nvSpPr>
        <p:spPr>
          <a:xfrm>
            <a:off x="2683759"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2</a:t>
            </a:r>
            <a:endParaRPr sz="1800"/>
          </a:p>
        </p:txBody>
      </p:sp>
      <p:sp>
        <p:nvSpPr>
          <p:cNvPr id="342" name="Google Shape;342;p12"/>
          <p:cNvSpPr/>
          <p:nvPr/>
        </p:nvSpPr>
        <p:spPr>
          <a:xfrm>
            <a:off x="4384543"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3</a:t>
            </a:r>
            <a:endParaRPr sz="1800"/>
          </a:p>
        </p:txBody>
      </p:sp>
      <p:sp>
        <p:nvSpPr>
          <p:cNvPr id="343" name="Google Shape;343;p12"/>
          <p:cNvSpPr/>
          <p:nvPr/>
        </p:nvSpPr>
        <p:spPr>
          <a:xfrm>
            <a:off x="6085327"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4</a:t>
            </a:r>
            <a:endParaRPr sz="1800"/>
          </a:p>
        </p:txBody>
      </p:sp>
      <p:sp>
        <p:nvSpPr>
          <p:cNvPr id="344" name="Google Shape;344;p12"/>
          <p:cNvSpPr/>
          <p:nvPr/>
        </p:nvSpPr>
        <p:spPr>
          <a:xfrm>
            <a:off x="7786111"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350"/>
              <a:buFont typeface="Arial"/>
              <a:buNone/>
            </a:pPr>
            <a:r>
              <a:rPr b="1" lang="en-US" sz="1350">
                <a:solidFill>
                  <a:srgbClr val="FFFFFF"/>
                </a:solidFill>
                <a:latin typeface="Arial"/>
                <a:ea typeface="Arial"/>
                <a:cs typeface="Arial"/>
                <a:sym typeface="Arial"/>
              </a:rPr>
              <a:t>5</a:t>
            </a:r>
            <a:endParaRPr sz="1800"/>
          </a:p>
        </p:txBody>
      </p:sp>
      <p:sp>
        <p:nvSpPr>
          <p:cNvPr id="345" name="Google Shape;345;p12"/>
          <p:cNvSpPr/>
          <p:nvPr/>
        </p:nvSpPr>
        <p:spPr>
          <a:xfrm>
            <a:off x="447670"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See what’s due</a:t>
            </a:r>
            <a:endParaRPr sz="1800"/>
          </a:p>
        </p:txBody>
      </p:sp>
      <p:sp>
        <p:nvSpPr>
          <p:cNvPr id="346" name="Google Shape;346;p12"/>
          <p:cNvSpPr/>
          <p:nvPr/>
        </p:nvSpPr>
        <p:spPr>
          <a:xfrm>
            <a:off x="447670"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Deck list: 6 due · 3 new</a:t>
            </a:r>
            <a:endParaRPr sz="1800"/>
          </a:p>
        </p:txBody>
      </p:sp>
      <p:sp>
        <p:nvSpPr>
          <p:cNvPr id="347" name="Google Shape;347;p12"/>
          <p:cNvSpPr/>
          <p:nvPr/>
        </p:nvSpPr>
        <p:spPr>
          <a:xfrm>
            <a:off x="2148454"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Open a deck</a:t>
            </a:r>
            <a:endParaRPr sz="1800"/>
          </a:p>
        </p:txBody>
      </p:sp>
      <p:sp>
        <p:nvSpPr>
          <p:cNvPr id="348" name="Google Shape;348;p12"/>
          <p:cNvSpPr/>
          <p:nvPr/>
        </p:nvSpPr>
        <p:spPr>
          <a:xfrm>
            <a:off x="2148454"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Every card shows its schedule</a:t>
            </a:r>
            <a:endParaRPr sz="1800"/>
          </a:p>
        </p:txBody>
      </p:sp>
      <p:sp>
        <p:nvSpPr>
          <p:cNvPr id="349" name="Google Shape;349;p12"/>
          <p:cNvSpPr/>
          <p:nvPr/>
        </p:nvSpPr>
        <p:spPr>
          <a:xfrm>
            <a:off x="3849238"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Study</a:t>
            </a:r>
            <a:endParaRPr sz="1800"/>
          </a:p>
        </p:txBody>
      </p:sp>
      <p:sp>
        <p:nvSpPr>
          <p:cNvPr id="350" name="Google Shape;350;p12"/>
          <p:cNvSpPr/>
          <p:nvPr/>
        </p:nvSpPr>
        <p:spPr>
          <a:xfrm>
            <a:off x="3849238"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Reveal, then rate with four buttons</a:t>
            </a:r>
            <a:endParaRPr sz="1800"/>
          </a:p>
        </p:txBody>
      </p:sp>
      <p:sp>
        <p:nvSpPr>
          <p:cNvPr id="351" name="Google Shape;351;p12"/>
          <p:cNvSpPr/>
          <p:nvPr/>
        </p:nvSpPr>
        <p:spPr>
          <a:xfrm>
            <a:off x="5550022"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Finish</a:t>
            </a:r>
            <a:endParaRPr sz="1800"/>
          </a:p>
        </p:txBody>
      </p:sp>
      <p:sp>
        <p:nvSpPr>
          <p:cNvPr id="352" name="Google Shape;352;p12"/>
          <p:cNvSpPr/>
          <p:nvPr/>
        </p:nvSpPr>
        <p:spPr>
          <a:xfrm>
            <a:off x="5550022"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Summary and rescheduled cards</a:t>
            </a:r>
            <a:endParaRPr sz="1800"/>
          </a:p>
        </p:txBody>
      </p:sp>
      <p:sp>
        <p:nvSpPr>
          <p:cNvPr id="353" name="Google Shape;353;p12"/>
          <p:cNvSpPr/>
          <p:nvPr/>
        </p:nvSpPr>
        <p:spPr>
          <a:xfrm>
            <a:off x="7250806"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8232D"/>
              </a:buClr>
              <a:buSzPts val="1200"/>
              <a:buFont typeface="Arial"/>
              <a:buNone/>
            </a:pPr>
            <a:r>
              <a:rPr b="1" lang="en-US" sz="1200">
                <a:solidFill>
                  <a:srgbClr val="18232D"/>
                </a:solidFill>
                <a:latin typeface="Arial"/>
                <a:ea typeface="Arial"/>
                <a:cs typeface="Arial"/>
                <a:sym typeface="Arial"/>
              </a:rPr>
              <a:t>Return later</a:t>
            </a:r>
            <a:endParaRPr sz="1800"/>
          </a:p>
        </p:txBody>
      </p:sp>
      <p:sp>
        <p:nvSpPr>
          <p:cNvPr id="354" name="Google Shape;354;p12"/>
          <p:cNvSpPr/>
          <p:nvPr/>
        </p:nvSpPr>
        <p:spPr>
          <a:xfrm>
            <a:off x="7250806"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050"/>
              <a:buFont typeface="Arial"/>
              <a:buNone/>
            </a:pPr>
            <a:r>
              <a:rPr b="0" lang="en-US" sz="1050">
                <a:solidFill>
                  <a:srgbClr val="606C78"/>
                </a:solidFill>
                <a:latin typeface="Arial"/>
                <a:ea typeface="Arial"/>
                <a:cs typeface="Arial"/>
                <a:sym typeface="Arial"/>
              </a:rPr>
              <a:t>Refresh or sign out; progress is saved</a:t>
            </a:r>
            <a:endParaRPr sz="1800"/>
          </a:p>
        </p:txBody>
      </p:sp>
      <p:sp>
        <p:nvSpPr>
          <p:cNvPr id="355" name="Google Shape;355;p12"/>
          <p:cNvSpPr/>
          <p:nvPr/>
        </p:nvSpPr>
        <p:spPr>
          <a:xfrm>
            <a:off x="552525" y="4135725"/>
            <a:ext cx="80391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B6BB0"/>
              </a:buClr>
              <a:buSzPts val="1500"/>
              <a:buFont typeface="Arial"/>
              <a:buNone/>
            </a:pPr>
            <a:r>
              <a:rPr b="1" lang="en-US" sz="1500">
                <a:solidFill>
                  <a:srgbClr val="2B6BB0"/>
                </a:solidFill>
                <a:latin typeface="Arial"/>
                <a:ea typeface="Arial"/>
                <a:cs typeface="Arial"/>
                <a:sym typeface="Arial"/>
              </a:rPr>
              <a:t>One session shows the scheduler, saved progress and the new design.</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3"/>
          <p:cNvSpPr/>
          <p:nvPr/>
        </p:nvSpPr>
        <p:spPr>
          <a:xfrm>
            <a:off x="514350" y="548640"/>
            <a:ext cx="27432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362" name="Google Shape;362;p13"/>
          <p:cNvSpPr/>
          <p:nvPr/>
        </p:nvSpPr>
        <p:spPr>
          <a:xfrm>
            <a:off x="514350" y="1097280"/>
            <a:ext cx="7680900" cy="44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300"/>
              <a:buFont typeface="Arial"/>
              <a:buNone/>
            </a:pPr>
            <a:r>
              <a:t/>
            </a:r>
            <a:endParaRPr b="0" i="0" sz="2300" u="none" cap="none">
              <a:solidFill>
                <a:schemeClr val="dk1"/>
              </a:solidFill>
              <a:latin typeface="Arial"/>
              <a:ea typeface="Arial"/>
              <a:cs typeface="Arial"/>
              <a:sym typeface="Arial"/>
            </a:endParaRPr>
          </a:p>
        </p:txBody>
      </p:sp>
      <p:sp>
        <p:nvSpPr>
          <p:cNvPr id="363" name="Google Shape;363;p13"/>
          <p:cNvSpPr/>
          <p:nvPr/>
        </p:nvSpPr>
        <p:spPr>
          <a:xfrm>
            <a:off x="514350" y="1817370"/>
            <a:ext cx="76809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6EAA"/>
              </a:buClr>
              <a:buSzPts val="1700"/>
              <a:buFont typeface="Arial"/>
              <a:buNone/>
            </a:pPr>
            <a:r>
              <a:t/>
            </a:r>
            <a:endParaRPr b="0" i="0" sz="1700" u="none" cap="none">
              <a:solidFill>
                <a:schemeClr val="dk1"/>
              </a:solidFill>
              <a:latin typeface="Arial"/>
              <a:ea typeface="Arial"/>
              <a:cs typeface="Arial"/>
              <a:sym typeface="Arial"/>
            </a:endParaRPr>
          </a:p>
        </p:txBody>
      </p:sp>
      <p:sp>
        <p:nvSpPr>
          <p:cNvPr id="364" name="Google Shape;364;p13"/>
          <p:cNvSpPr/>
          <p:nvPr/>
        </p:nvSpPr>
        <p:spPr>
          <a:xfrm>
            <a:off x="514350" y="2914650"/>
            <a:ext cx="74067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400"/>
              <a:buFont typeface="Arial"/>
              <a:buNone/>
            </a:pPr>
            <a:r>
              <a:t/>
            </a:r>
            <a:endParaRPr b="0" i="0" sz="1400" u="none" cap="none">
              <a:solidFill>
                <a:schemeClr val="dk1"/>
              </a:solidFill>
              <a:latin typeface="Arial"/>
              <a:ea typeface="Arial"/>
              <a:cs typeface="Arial"/>
              <a:sym typeface="Arial"/>
            </a:endParaRPr>
          </a:p>
        </p:txBody>
      </p:sp>
      <p:sp>
        <p:nvSpPr>
          <p:cNvPr id="365" name="Google Shape;365;p13"/>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7A8491"/>
              </a:buClr>
              <a:buSzPts val="600"/>
              <a:buFont typeface="Arial"/>
              <a:buNone/>
            </a:pPr>
            <a:fld id="{00000000-1234-1234-1234-123412341234}" type="slidenum">
              <a:rPr b="0" i="0" lang="en-US"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366" name="Google Shape;366;p13"/>
          <p:cNvSpPr/>
          <p:nvPr/>
        </p:nvSpPr>
        <p:spPr>
          <a:xfrm>
            <a:off x="514350" y="552450"/>
            <a:ext cx="7620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9B9F"/>
              </a:buClr>
              <a:buSzPts val="750"/>
              <a:buFont typeface="Arial"/>
              <a:buNone/>
            </a:pPr>
            <a:r>
              <a:rPr b="1" lang="en-US" sz="750">
                <a:solidFill>
                  <a:srgbClr val="109B9F"/>
                </a:solidFill>
                <a:latin typeface="Arial"/>
                <a:ea typeface="Arial"/>
                <a:cs typeface="Arial"/>
                <a:sym typeface="Arial"/>
              </a:rPr>
              <a:t>TEAM 2 / ITERATION 2</a:t>
            </a:r>
            <a:endParaRPr sz="1800"/>
          </a:p>
        </p:txBody>
      </p:sp>
      <p:sp>
        <p:nvSpPr>
          <p:cNvPr id="367" name="Google Shape;367;p13"/>
          <p:cNvSpPr/>
          <p:nvPr/>
        </p:nvSpPr>
        <p:spPr>
          <a:xfrm>
            <a:off x="514350" y="1095375"/>
            <a:ext cx="8001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250"/>
              <a:buFont typeface="Arial"/>
              <a:buNone/>
            </a:pPr>
            <a:r>
              <a:rPr b="1" lang="en-US" sz="2250">
                <a:solidFill>
                  <a:srgbClr val="17212B"/>
                </a:solidFill>
                <a:latin typeface="Arial"/>
                <a:ea typeface="Arial"/>
                <a:cs typeface="Arial"/>
                <a:sym typeface="Arial"/>
              </a:rPr>
              <a:t>Feedback and next steps</a:t>
            </a:r>
            <a:endParaRPr sz="1800"/>
          </a:p>
        </p:txBody>
      </p:sp>
      <p:sp>
        <p:nvSpPr>
          <p:cNvPr id="368" name="Google Shape;368;p13"/>
          <p:cNvSpPr/>
          <p:nvPr/>
        </p:nvSpPr>
        <p:spPr>
          <a:xfrm>
            <a:off x="514350" y="2047875"/>
            <a:ext cx="78105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6C78"/>
              </a:buClr>
              <a:buSzPts val="1500"/>
              <a:buFont typeface="Arial"/>
              <a:buNone/>
            </a:pPr>
            <a:r>
              <a:rPr b="0" lang="en-US" sz="1500">
                <a:solidFill>
                  <a:srgbClr val="606C78"/>
                </a:solidFill>
                <a:latin typeface="Arial"/>
                <a:ea typeface="Arial"/>
                <a:cs typeface="Arial"/>
                <a:sym typeface="Arial"/>
              </a:rPr>
              <a:t>Next iteration: AI card generation, with every generated card reviewed before saving.</a:t>
            </a:r>
            <a:endParaRPr sz="1500">
              <a:solidFill>
                <a:srgbClr val="5F6B76"/>
              </a:solidFill>
            </a:endParaRPr>
          </a:p>
          <a:p>
            <a:pPr indent="0" lvl="0" marL="0" marR="0" rtl="0" algn="l">
              <a:spcBef>
                <a:spcPts val="0"/>
              </a:spcBef>
              <a:spcAft>
                <a:spcPts val="0"/>
              </a:spcAft>
              <a:buSzPts val="1500"/>
              <a:buFont typeface="Arial"/>
              <a:buNone/>
            </a:pPr>
            <a:r>
              <a:t/>
            </a:r>
            <a:endParaRPr sz="1500">
              <a:solidFill>
                <a:srgbClr val="5F6B76"/>
              </a:solidFill>
            </a:endParaRPr>
          </a:p>
          <a:p>
            <a:pPr indent="0" lvl="0" marL="0" marR="0" rtl="0" algn="l">
              <a:spcBef>
                <a:spcPts val="0"/>
              </a:spcBef>
              <a:spcAft>
                <a:spcPts val="0"/>
              </a:spcAft>
              <a:buClr>
                <a:srgbClr val="606C78"/>
              </a:buClr>
              <a:buSzPts val="1500"/>
              <a:buFont typeface="Arial"/>
              <a:buNone/>
            </a:pPr>
            <a:r>
              <a:rPr b="0" lang="en-US" sz="1500">
                <a:solidFill>
                  <a:srgbClr val="606C78"/>
                </a:solidFill>
                <a:latin typeface="Arial"/>
                <a:ea typeface="Arial"/>
                <a:cs typeface="Arial"/>
                <a:sym typeface="Arial"/>
              </a:rPr>
              <a:t>We welcome your feedback: what should we improve about studying in Cadence?</a:t>
            </a:r>
            <a:endParaRPr sz="1500">
              <a:solidFill>
                <a:srgbClr val="5F6B7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