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7d555cd2_1_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fa7d555cd2_1_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 everyone. We’re Team 2, and our project is an AI-assisted spaced-repetition learning application.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Spaced repetition is a learning technique where material is reviewed at increasing intervals based on how well you remember it. More difficult material is reviewed more frequently, helping reinforce information before it’s forgotten.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Our project combines that approach with generative AI to make creating study material much easier.</a:t>
            </a:r>
            <a:endParaRPr/>
          </a:p>
        </p:txBody>
      </p:sp>
      <p:sp>
        <p:nvSpPr>
          <p:cNvPr id="60" name="Google Shape;60;g3fa7d555cd2_1_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7d555cd2_1_3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a7d555cd2_1_3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team has six members with defined leadership responsibilities covering requirements, frontend and backend implementation, DevOps, QA, and overall project coordination.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g3fa7d555cd2_1_3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7d555cd2_1_6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a7d555cd2_1_6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Several existing products already use AI to generate flashcards, but many are centered around notes or course material the learner already has.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key difference is open-ended generation. A learner can start with a topic or question, have the system generate a deck around it, and then learn that material through spaced repetition.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a7d555cd2_1_6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7d555cd2_1_8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a7d555cd2_1_8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The core workflow is straightforward. A learner provides a topic or source material, the AI generates candidate flashcards, and the learner reviews and edits them.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They then study the resulting deck, and the spaced-repetition system uses their performance to determine when each card should appear again.</a:t>
            </a:r>
            <a:endParaRPr/>
          </a:p>
        </p:txBody>
      </p:sp>
      <p:sp>
        <p:nvSpPr>
          <p:cNvPr id="129" name="Google Shape;129;g3fa7d555cd2_1_8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7d555cd2_1_1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a7d555cd2_1_1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We’ve divided our requirements into essential, desirable, and optional features.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Our priority is completing the core learning loop: deck and card management, studying, spaced-repetition scheduling, persistent data, and AI-assisted deck creation and review.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Desirable and optional features will only be pursued after that essential functionality is stable.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fa7d555cd2_1_1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a7d555cd2_1_1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fa7d555cd2_1_1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We’ve divided development into three iterations.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Iteration 1 establishes the core learning foundation, including deck and card management, the study interface, spaced-repetition scheduling, and persistent 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Iteration 2 adds AI deck generation and completes the end-to-end AI and spaced-repetition workflow.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Iteration 3 focuses on completing any remaining essential requirements, system-wide testing, bug fixes, and release preparation, with additional features implemented only as time permits.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fa7d555cd2_1_1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a7d555cd2_1_18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fa7d555cd2_1_18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application will use Python with a web-based frontend and a relational database. We’re currently finalizing some of the specific technology choices during design.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We’ll also integrate an LLM service for card generation, with GitHub, Docker, and GitHub Actions supporting version control, consistent environments, and continuous integration.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fa7d555cd2_1_18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a7d555cd2_1_2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fa7d555cd2_1_2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development workflow uses feature branches and pull requests rather than direct changes to our integration or production branches.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Before code is merged, it must pass our automated CI checks and peer review. The develop branch is used for integration and testing, while main represents production-ready code.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fa7d555cd2_1_2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a7d555cd2_1_2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fa7d555cd2_1_2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Testing occurs throughout development rather than only at the end.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Developers will unit-test their own components, we’ll use integration tests for boundaries such as the database and LLM service, and the team will perform acceptance testing at iteration reviews.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targets include a 100-percent automated test pass rate on main and greater than 70-percent overall statement coverage.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fa7d555cd2_1_2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a7d555cd2_1_27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fa7d555cd2_1_27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Our primary risks are scope creep, integration and testing delays, and the reliability of AI-generated content.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We’re addressing those by prioritizing essential requirements, integrating and testing continuously, and validating AI output before it enters the application. Users also review generated cards before adding them to their decks.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fa7d555cd2_1_27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a7d555cd2_1_30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fa7d555cd2_1_30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We define success primarily by the quality of the completed core product.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That means all essential features are implemented and integrated, there are no known critical or high-impact defects in the final release, and we have a reproducible development process using version control, testing, CI/CD, and code review.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 features come only after those objectives are met.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g3fa7d555cd2_1_30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a7d555cd2_1_33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fa7d555cd2_1_33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guiding principle is to build the core learning loop first: generate, review, study, schedule, and repeat.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next step is finalizing the architecture and development environment and beginning Iteration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you.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fa7d555cd2_1_33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0" y="0"/>
            <a:ext cx="9143771" cy="82296"/>
          </a:xfrm>
          <a:prstGeom prst="rect">
            <a:avLst/>
          </a:prstGeom>
          <a:solidFill>
            <a:srgbClr val="29A3A3"/>
          </a:solidFill>
          <a:ln cap="flat" cmpd="sng" w="12700">
            <a:solidFill>
              <a:srgbClr val="29A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4"/>
          <p:cNvSpPr/>
          <p:nvPr/>
        </p:nvSpPr>
        <p:spPr>
          <a:xfrm>
            <a:off x="7338060" y="4855464"/>
            <a:ext cx="14401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491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CS673 • Team 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5897880" y="82296"/>
            <a:ext cx="3243834" cy="4773168"/>
          </a:xfrm>
          <a:prstGeom prst="rect">
            <a:avLst/>
          </a:prstGeom>
          <a:solidFill>
            <a:srgbClr val="E7F2F3"/>
          </a:solidFill>
          <a:ln cap="flat" cmpd="sng" w="12700">
            <a:solidFill>
              <a:srgbClr val="E7F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480060" y="44577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CS673 SOFTWARE ENGINEERING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480060" y="857250"/>
            <a:ext cx="52120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AI-Powered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Spaced Repetition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Learning Platform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93776" y="250317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Project Proposal &amp; Planning • Iteration 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93776" y="2866644"/>
            <a:ext cx="137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Team 2: TBA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6412230" y="754380"/>
            <a:ext cx="2091690" cy="3257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6665976" y="1474470"/>
            <a:ext cx="15773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What is spaced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repetition?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16"/>
          <p:cNvCxnSpPr/>
          <p:nvPr/>
        </p:nvCxnSpPr>
        <p:spPr>
          <a:xfrm>
            <a:off x="6686550" y="2180844"/>
            <a:ext cx="1543050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16"/>
          <p:cNvSpPr/>
          <p:nvPr/>
        </p:nvSpPr>
        <p:spPr>
          <a:xfrm>
            <a:off x="6665976" y="2386584"/>
            <a:ext cx="1543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Review information at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increasing intervals based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on recall performance.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ORGANIZATION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Team &amp; Roles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14350" y="1062990"/>
            <a:ext cx="493776" cy="493776"/>
          </a:xfrm>
          <a:prstGeom prst="ellipse">
            <a:avLst/>
          </a:prstGeom>
          <a:solidFill>
            <a:srgbClr val="DDEEE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514350" y="1186434"/>
            <a:ext cx="4937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165860" y="109728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Miles Cameron</a:t>
            </a:r>
            <a:endParaRPr b="1" sz="1300">
              <a:solidFill>
                <a:srgbClr val="17212B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1165860" y="1351026"/>
            <a:ext cx="19545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Team Leader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360420" y="1062990"/>
            <a:ext cx="493776" cy="493776"/>
          </a:xfrm>
          <a:prstGeom prst="ellipse">
            <a:avLst/>
          </a:prstGeom>
          <a:solidFill>
            <a:srgbClr val="E7E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3360420" y="1186434"/>
            <a:ext cx="4937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011930" y="109728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Nurzat Mukhamedali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t/>
            </a:r>
            <a:endParaRPr b="1" sz="1300">
              <a:solidFill>
                <a:srgbClr val="17212B"/>
              </a:solidFill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011930" y="1351026"/>
            <a:ext cx="19545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Requirements Leader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206490" y="1062990"/>
            <a:ext cx="493776" cy="493776"/>
          </a:xfrm>
          <a:prstGeom prst="ellipse">
            <a:avLst/>
          </a:prstGeom>
          <a:solidFill>
            <a:srgbClr val="F2E8D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6206490" y="1186434"/>
            <a:ext cx="4937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858000" y="109728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Paul Probst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858000" y="1351026"/>
            <a:ext cx="19545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Frontend Implementation Leader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14350" y="2606040"/>
            <a:ext cx="493776" cy="493776"/>
          </a:xfrm>
          <a:prstGeom prst="ellipse">
            <a:avLst/>
          </a:prstGeom>
          <a:solidFill>
            <a:srgbClr val="DDEEE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514350" y="2729484"/>
            <a:ext cx="4937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165860" y="264033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Victor Cadena</a:t>
            </a:r>
            <a:endParaRPr b="1" sz="1300">
              <a:solidFill>
                <a:srgbClr val="17212B"/>
              </a:solidFill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165860" y="2894076"/>
            <a:ext cx="19545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Backend Implementation Leader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360420" y="2606040"/>
            <a:ext cx="493776" cy="493776"/>
          </a:xfrm>
          <a:prstGeom prst="ellipse">
            <a:avLst/>
          </a:prstGeom>
          <a:solidFill>
            <a:srgbClr val="E7E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360420" y="2729484"/>
            <a:ext cx="4937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011930" y="264033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Duc Anh Nguyen</a:t>
            </a:r>
            <a:endParaRPr b="1" sz="1300">
              <a:solidFill>
                <a:srgbClr val="17212B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011930" y="2894076"/>
            <a:ext cx="19545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Config / DevOps Leader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206490" y="2606040"/>
            <a:ext cx="493776" cy="493776"/>
          </a:xfrm>
          <a:prstGeom prst="ellipse">
            <a:avLst/>
          </a:prstGeom>
          <a:solidFill>
            <a:srgbClr val="F2E8D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6206490" y="2729484"/>
            <a:ext cx="4937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858000" y="264033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Osasenaga Von Okunbor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858000" y="2894076"/>
            <a:ext cx="19545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QA Leader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PROBLEM &amp; OPPORTUNITY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Project Vision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14350" y="1062990"/>
            <a:ext cx="2537460" cy="140589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514350" y="1062990"/>
            <a:ext cx="48006" cy="140589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685800" y="1200150"/>
            <a:ext cx="22288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685800" y="1488186"/>
            <a:ext cx="2228850" cy="870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Existing study tools increasingly use AI to generate flashcards, but many center on transforming existing notes or course material into study content.</a:t>
            </a:r>
            <a:endParaRPr sz="900">
              <a:solidFill>
                <a:srgbClr val="5F6B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305556" y="1062990"/>
            <a:ext cx="2537460" cy="140589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3305556" y="1062990"/>
            <a:ext cx="48006" cy="140589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477006" y="1200150"/>
            <a:ext cx="22288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477006" y="1488186"/>
            <a:ext cx="2228850" cy="870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Combine open-ended, prompt-based content generation with spaced repetition as the core learning workflow.</a:t>
            </a:r>
            <a:endParaRPr sz="900">
              <a:solidFill>
                <a:srgbClr val="5F6B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096762" y="1062990"/>
            <a:ext cx="2537460" cy="140589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6096762" y="1062990"/>
            <a:ext cx="48006" cy="140589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6268212" y="1200150"/>
            <a:ext cx="22288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Target users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268212" y="1488186"/>
            <a:ext cx="2228850" cy="870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Students, independent learners, language learners, and professionals preparing for certification exams.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514350" y="2914650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Core value proposition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514350" y="3257550"/>
            <a:ext cx="78181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Less time authoring study material. More varied practice. Review timing driven by performance.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CORE WORKFLOW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How the Product Works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980694" y="1062990"/>
            <a:ext cx="493776" cy="49377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980694" y="1179576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1556766" y="1186434"/>
            <a:ext cx="377190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445770" y="1748790"/>
            <a:ext cx="15430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Prompt or source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45770" y="2091690"/>
            <a:ext cx="154305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Learner provides an open-ended prompt or optional source material.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2681478" y="1062990"/>
            <a:ext cx="493776" cy="49377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2681478" y="1179576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3257550" y="1186434"/>
            <a:ext cx="377190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2146554" y="1748790"/>
            <a:ext cx="15430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146554" y="2091690"/>
            <a:ext cx="154305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LLM creates candidate flashcards.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382262" y="1062990"/>
            <a:ext cx="493776" cy="49377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382262" y="1179576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958334" y="1186434"/>
            <a:ext cx="377190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3847338" y="1748790"/>
            <a:ext cx="15430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Review &amp; edit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847338" y="2091690"/>
            <a:ext cx="154305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Learner accepts, edits, or discards cards.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6083046" y="1062990"/>
            <a:ext cx="493776" cy="49377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6083046" y="1179576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6659118" y="1186434"/>
            <a:ext cx="377190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548122" y="1748790"/>
            <a:ext cx="15430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Study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548122" y="2091690"/>
            <a:ext cx="154305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Reveal, typed-answer, or multiple-choice formats.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783830" y="1062990"/>
            <a:ext cx="493776" cy="49377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7783830" y="1179576"/>
            <a:ext cx="493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7248906" y="1748790"/>
            <a:ext cx="15430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248906" y="2091690"/>
            <a:ext cx="154305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SRS uses performance to determine the next review.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48640" y="363474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6EAA"/>
              </a:buClr>
              <a:buSzPts val="1400"/>
              <a:buFont typeface="Arial"/>
              <a:buNone/>
            </a:pPr>
            <a:r>
              <a:rPr b="1" lang="en">
                <a:solidFill>
                  <a:srgbClr val="2C6EAA"/>
                </a:solidFill>
              </a:rPr>
              <a:t>AI-assisted creation, with the learner in control of the final study material.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PRIORITIZATION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Requirements &amp; Scope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14350" y="994410"/>
            <a:ext cx="137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ESSENTIAL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14350" y="1318374"/>
            <a:ext cx="2434500" cy="548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14350" y="1303020"/>
            <a:ext cx="48006" cy="54864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685800" y="1440180"/>
            <a:ext cx="21259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Deck &amp; card management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85800" y="1728216"/>
            <a:ext cx="2125980" cy="13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3223260" y="1318374"/>
            <a:ext cx="2434500" cy="548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3223260" y="1303020"/>
            <a:ext cx="48006" cy="54864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3394710" y="1440180"/>
            <a:ext cx="21259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Interactive study interface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394710" y="1728216"/>
            <a:ext cx="2125980" cy="13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932170" y="1318374"/>
            <a:ext cx="2434500" cy="548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932170" y="1303020"/>
            <a:ext cx="48006" cy="54864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6103620" y="1440180"/>
            <a:ext cx="21259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Spaced repetition system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103620" y="1728216"/>
            <a:ext cx="2125980" cy="13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14350" y="2038464"/>
            <a:ext cx="2434500" cy="548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514350" y="2023110"/>
            <a:ext cx="48006" cy="54864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85800" y="2160270"/>
            <a:ext cx="21259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Data persistence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85800" y="2448306"/>
            <a:ext cx="2125980" cy="13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223260" y="2038464"/>
            <a:ext cx="2434500" cy="548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3223260" y="2023110"/>
            <a:ext cx="48006" cy="54864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3394710" y="2160270"/>
            <a:ext cx="21259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AI deck generation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394710" y="2448306"/>
            <a:ext cx="2125980" cy="13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932170" y="2038464"/>
            <a:ext cx="2434500" cy="548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932170" y="2023110"/>
            <a:ext cx="48006" cy="54864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103620" y="2160270"/>
            <a:ext cx="21259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AI deck review &amp; editing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103620" y="2448306"/>
            <a:ext cx="2125980" cy="13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14350" y="2880360"/>
            <a:ext cx="137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6EA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C6EAA"/>
                </a:solidFill>
                <a:latin typeface="Arial"/>
                <a:ea typeface="Arial"/>
                <a:cs typeface="Arial"/>
                <a:sym typeface="Arial"/>
              </a:rPr>
              <a:t>DESIRABLE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14350" y="3170034"/>
            <a:ext cx="3874800" cy="58290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14350" y="3154680"/>
            <a:ext cx="48006" cy="58293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685800" y="329184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Typed-answer study mode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85800" y="3579876"/>
            <a:ext cx="3566160" cy="4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Exact or near-exact answer evaluation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629150" y="3170034"/>
            <a:ext cx="3874800" cy="58290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4629150" y="3154680"/>
            <a:ext cx="48006" cy="58293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4800600" y="329184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Duplicate card detection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800600" y="3579876"/>
            <a:ext cx="3566160" cy="4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Flag redundant cards during AI generation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14350" y="4011930"/>
            <a:ext cx="137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7A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D77A32"/>
                </a:solidFill>
                <a:latin typeface="Arial"/>
                <a:ea typeface="Arial"/>
                <a:cs typeface="Arial"/>
                <a:sym typeface="Arial"/>
              </a:rPr>
              <a:t>OPTIONAL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14350" y="4272534"/>
            <a:ext cx="7543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Document/source upload  •  Voice support / text-to-speech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DELIVERY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Milestones &amp; Iteration Plan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14350" y="1062990"/>
            <a:ext cx="2503170" cy="315468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14350" y="1062990"/>
            <a:ext cx="48006" cy="315468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685800" y="120015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685800" y="1488186"/>
            <a:ext cx="2194560" cy="2619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Core Learning Foundation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Deck/card management • Study interface • Core SRS • Persistent data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Engineering: Architecture • Data model • API contracts • Project skeleton • Docker • Testing</a:t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85800" y="3806190"/>
            <a:ext cx="994410" cy="240030"/>
          </a:xfrm>
          <a:prstGeom prst="roundRect">
            <a:avLst>
              <a:gd fmla="val 16667" name="adj"/>
            </a:avLst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685800" y="3854196"/>
            <a:ext cx="9944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</a:rPr>
              <a:t>80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person-hours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291840" y="1062990"/>
            <a:ext cx="2503170" cy="315468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3291840" y="1062990"/>
            <a:ext cx="48006" cy="315468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3463290" y="120015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463290" y="1488186"/>
            <a:ext cx="2194560" cy="2619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AI + End-to-End Workflow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AI deck generation • Review/edit cards • Duplicate prevention • Complete AI/SRS workflow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Engineering: LLM integration • Output validation • Component integration • CI • Expanded testing</a:t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463290" y="3806190"/>
            <a:ext cx="994410" cy="240030"/>
          </a:xfrm>
          <a:prstGeom prst="roundRect">
            <a:avLst>
              <a:gd fmla="val 16667" name="adj"/>
            </a:avLst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3463290" y="3854196"/>
            <a:ext cx="9944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</a:rPr>
              <a:t>65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person-hours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069330" y="1062990"/>
            <a:ext cx="2503170" cy="315468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6069330" y="1062990"/>
            <a:ext cx="48006" cy="315468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240780" y="120015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Iteration 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240780" y="1488186"/>
            <a:ext cx="2194560" cy="2619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Stabilization + Enhancements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Complete essential requirements • Desirable/optional features as capacity allows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Engineering: System/regression testing • Bug fixes • UI/UX cleanup • Deployment validation • Release prep</a:t>
            </a:r>
            <a:endParaRPr sz="900">
              <a:solidFill>
                <a:srgbClr val="5F6B76"/>
              </a:solidFill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240780" y="3806190"/>
            <a:ext cx="994410" cy="240030"/>
          </a:xfrm>
          <a:prstGeom prst="roundRect">
            <a:avLst>
              <a:gd fmla="val 16667" name="adj"/>
            </a:avLst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6240780" y="3854196"/>
            <a:ext cx="9944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 person-hours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Proposed Technical Stack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14350" y="1062990"/>
            <a:ext cx="1817370" cy="120015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14350" y="1062990"/>
            <a:ext cx="48006" cy="120015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685800" y="120015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685800" y="1488186"/>
            <a:ext cx="1508760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React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HTML / CSS / JS</a:t>
            </a:r>
            <a:endParaRPr sz="900">
              <a:solidFill>
                <a:srgbClr val="5F6B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Browser UI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606040" y="1062990"/>
            <a:ext cx="1817370" cy="120015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2606040" y="1062990"/>
            <a:ext cx="48006" cy="120015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777490" y="120015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2777490" y="1488186"/>
            <a:ext cx="1508760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REST API + business logic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697730" y="1062990"/>
            <a:ext cx="1817370" cy="120015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4697730" y="1062990"/>
            <a:ext cx="48006" cy="1200150"/>
          </a:xfrm>
          <a:prstGeom prst="rect">
            <a:avLst/>
          </a:prstGeom>
          <a:solidFill>
            <a:srgbClr val="5C8F68"/>
          </a:solidFill>
          <a:ln cap="flat" cmpd="sng" w="12700">
            <a:solidFill>
              <a:srgbClr val="5C8F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4869180" y="120015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869180" y="1488186"/>
            <a:ext cx="1508760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5F6B76"/>
                </a:solidFill>
              </a:rPr>
              <a:t>Postgre</a:t>
            </a: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Decks, cards, review history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6789420" y="1062990"/>
            <a:ext cx="1817370" cy="120015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6789420" y="1062990"/>
            <a:ext cx="48006" cy="120015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6960870" y="1200150"/>
            <a:ext cx="1508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6960870" y="1488186"/>
            <a:ext cx="1508760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LLM service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Structured card generation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22"/>
          <p:cNvCxnSpPr/>
          <p:nvPr/>
        </p:nvCxnSpPr>
        <p:spPr>
          <a:xfrm>
            <a:off x="1303020" y="2846070"/>
            <a:ext cx="6480810" cy="0"/>
          </a:xfrm>
          <a:prstGeom prst="straightConnector1">
            <a:avLst/>
          </a:prstGeom>
          <a:noFill/>
          <a:ln cap="flat" cmpd="sng" w="254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22"/>
          <p:cNvSpPr/>
          <p:nvPr/>
        </p:nvSpPr>
        <p:spPr>
          <a:xfrm>
            <a:off x="514350" y="312039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514350" y="3417210"/>
            <a:ext cx="18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Version control + PRs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2606040" y="312039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2606040" y="3417210"/>
            <a:ext cx="18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Environment parity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4697730" y="312039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4697730" y="3417210"/>
            <a:ext cx="18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CI/CD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6789420" y="312039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CodeQL / Dependabot / ZAP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6789420" y="3417210"/>
            <a:ext cx="18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Security &amp; quality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14350" y="4217670"/>
            <a:ext cx="7543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Stack is proposed and subject to finalization during design.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CONFIGURATION MANAGEMENT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Development Workflow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445770" y="1200150"/>
            <a:ext cx="1440180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445770" y="1200150"/>
            <a:ext cx="48006" cy="92583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617220" y="133731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feature/*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17220" y="1625346"/>
            <a:ext cx="1131570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1940814" y="1495044"/>
            <a:ext cx="205740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2146554" y="1200150"/>
            <a:ext cx="1440180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2146554" y="1200150"/>
            <a:ext cx="48006" cy="92583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2318004" y="133731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Pull Request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2318004" y="1625346"/>
            <a:ext cx="1131570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CI checks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3641598" y="1495044"/>
            <a:ext cx="205740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3847338" y="1200150"/>
            <a:ext cx="1440180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3847338" y="1200150"/>
            <a:ext cx="48006" cy="92583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4018788" y="133731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4018788" y="1625346"/>
            <a:ext cx="1131570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Integrate &amp; test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5342382" y="1495044"/>
            <a:ext cx="205740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548122" y="1200150"/>
            <a:ext cx="1440180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548122" y="1200150"/>
            <a:ext cx="48006" cy="92583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719572" y="133731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Pull Request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719572" y="1625346"/>
            <a:ext cx="1131570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Review &amp; approve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7043166" y="1495044"/>
            <a:ext cx="205740" cy="240030"/>
          </a:xfrm>
          <a:prstGeom prst="chevron">
            <a:avLst>
              <a:gd fmla="val 50000" name="adj"/>
            </a:avLst>
          </a:prstGeom>
          <a:solidFill>
            <a:srgbClr val="C9D7DC"/>
          </a:solidFill>
          <a:ln cap="flat" cmpd="sng" w="12700">
            <a:solidFill>
              <a:srgbClr val="C9D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7248906" y="1200150"/>
            <a:ext cx="1440180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7248906" y="1200150"/>
            <a:ext cx="48006" cy="925830"/>
          </a:xfrm>
          <a:prstGeom prst="rect">
            <a:avLst/>
          </a:prstGeom>
          <a:solidFill>
            <a:srgbClr val="5C8F68"/>
          </a:solidFill>
          <a:ln cap="flat" cmpd="sng" w="12700">
            <a:solidFill>
              <a:srgbClr val="5C8F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7420356" y="133731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7420356" y="1625346"/>
            <a:ext cx="1131570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Production-ready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514350" y="2571750"/>
            <a:ext cx="137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Merge gates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514350" y="2880360"/>
            <a:ext cx="79552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Automated build • linting • unit/integration tests • coverage • security checks • peer approval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514350" y="3600450"/>
            <a:ext cx="78867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Commit rule: small, focused logical changes with clear messages; code builds and relevant tests pass before PR submission.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TESTING &amp; METRICS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Quality Assurance Strategy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14350" y="1062990"/>
            <a:ext cx="250317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514350" y="1062990"/>
            <a:ext cx="48006" cy="137160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685800" y="120015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Unit testing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685800" y="1488186"/>
            <a:ext cx="2194560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PyTest / Jest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Automated, white-box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Focus on SRS logic and components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3312414" y="1062990"/>
            <a:ext cx="250317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3312414" y="1062990"/>
            <a:ext cx="48006" cy="137160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3483864" y="120015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Integration testing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3483864" y="1488186"/>
            <a:ext cx="2194560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API + database + LLM interfaces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Automated, grey-box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Schema and persistence validation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6110478" y="1062990"/>
            <a:ext cx="250317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6110478" y="1062990"/>
            <a:ext cx="48006" cy="137160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6281928" y="120015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System / UAT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6281928" y="1488186"/>
            <a:ext cx="2194560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End-to-end browser behavior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Manual, black-box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Performed at iteration reviews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514350" y="2880360"/>
            <a:ext cx="1577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Quality targets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514350" y="325755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1440180" y="3236976"/>
            <a:ext cx="1645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automated test pass rate on main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3291840" y="325755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6EAA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C6EAA"/>
                </a:solidFill>
                <a:latin typeface="Arial"/>
                <a:ea typeface="Arial"/>
                <a:cs typeface="Arial"/>
                <a:sym typeface="Arial"/>
              </a:rPr>
              <a:t>&gt;70%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4217670" y="3236976"/>
            <a:ext cx="1645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overall statement coverage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6069330" y="3257550"/>
            <a:ext cx="8915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F68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C8F68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6995160" y="3236976"/>
            <a:ext cx="1645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planned stories must pass acceptance criteria to count complete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4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PRIMARY RISKS &amp; MITIGATIONS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Risk Management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14350" y="994410"/>
            <a:ext cx="3874770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514350" y="994410"/>
            <a:ext cx="48006" cy="788670"/>
          </a:xfrm>
          <a:prstGeom prst="rect">
            <a:avLst/>
          </a:prstGeom>
          <a:solidFill>
            <a:srgbClr val="B85B5B"/>
          </a:solidFill>
          <a:ln cap="flat" cmpd="sng" w="12700">
            <a:solidFill>
              <a:srgbClr val="B8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685800" y="113157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Scope creep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685800" y="1419606"/>
            <a:ext cx="356616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Prioritize essential features; defer optional work.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4663440" y="994410"/>
            <a:ext cx="3874770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4663440" y="994410"/>
            <a:ext cx="48006" cy="78867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4834890" y="113157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Planning / design gaps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4834890" y="1419606"/>
            <a:ext cx="356616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Define requirements and interfaces early.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514350" y="2057400"/>
            <a:ext cx="3874770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>
            <a:off x="514350" y="2057400"/>
            <a:ext cx="48006" cy="788670"/>
          </a:xfrm>
          <a:prstGeom prst="rect">
            <a:avLst/>
          </a:prstGeom>
          <a:solidFill>
            <a:srgbClr val="2C6EAA"/>
          </a:solidFill>
          <a:ln cap="flat" cmpd="sng" w="12700">
            <a:solidFill>
              <a:srgbClr val="2C6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685800" y="219456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Testing / integration delays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685800" y="2482596"/>
            <a:ext cx="356616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Integrate continuously; use automated tests and PR reviews.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4663440" y="2057400"/>
            <a:ext cx="3874770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4663440" y="2057400"/>
            <a:ext cx="48006" cy="788670"/>
          </a:xfrm>
          <a:prstGeom prst="rect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4834890" y="219456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AI content quality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4834890" y="2482596"/>
            <a:ext cx="356616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Structured prompts, schema validation, and user review.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14350" y="3120390"/>
            <a:ext cx="3874770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514350" y="3120390"/>
            <a:ext cx="48006" cy="788670"/>
          </a:xfrm>
          <a:prstGeom prst="rect">
            <a:avLst/>
          </a:prstGeom>
          <a:solidFill>
            <a:srgbClr val="D77A32"/>
          </a:solidFill>
          <a:ln cap="flat" cmpd="sng" w="12700">
            <a:solidFill>
              <a:srgbClr val="D77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685800" y="325755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LLM availability / cost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685800" y="3545586"/>
            <a:ext cx="356616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Safeguards for API limits, outages, and cost.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4663440" y="3120390"/>
            <a:ext cx="3874770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4663440" y="3120390"/>
            <a:ext cx="48006" cy="788670"/>
          </a:xfrm>
          <a:prstGeom prst="rect">
            <a:avLst/>
          </a:prstGeom>
          <a:solidFill>
            <a:srgbClr val="5C8F68"/>
          </a:solidFill>
          <a:ln cap="flat" cmpd="sng" w="12700">
            <a:solidFill>
              <a:srgbClr val="5C8F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4834890" y="325755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Team coordination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4834890" y="3545586"/>
            <a:ext cx="356616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Track workload and progress each iteration.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5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/>
          <p:nvPr/>
        </p:nvSpPr>
        <p:spPr>
          <a:xfrm>
            <a:off x="445770" y="260604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OBJECTIVES &amp; PRIORITIES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445770" y="493776"/>
            <a:ext cx="8229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Definition of Success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582930" y="1062990"/>
            <a:ext cx="288036" cy="28803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582930" y="1138428"/>
            <a:ext cx="2880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1062990" y="1014984"/>
            <a:ext cx="72009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All essential features implemented and integrated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582930" y="1680210"/>
            <a:ext cx="288036" cy="28803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582930" y="1755648"/>
            <a:ext cx="2880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1062990" y="1632204"/>
            <a:ext cx="72009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No known critical or high-impact defects in final release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582930" y="2297430"/>
            <a:ext cx="288036" cy="28803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582930" y="2372868"/>
            <a:ext cx="2880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1062990" y="2249424"/>
            <a:ext cx="72009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Reproducible workflow using version control, Docker, CI/CD, and reviews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582930" y="2914650"/>
            <a:ext cx="288036" cy="28803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582930" y="2990088"/>
            <a:ext cx="2880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1062990" y="2866644"/>
            <a:ext cx="72009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Desirable features only after essential functionality is stable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582930" y="3531870"/>
            <a:ext cx="288036" cy="288036"/>
          </a:xfrm>
          <a:prstGeom prst="ellipse">
            <a:avLst/>
          </a:prstGeom>
          <a:solidFill>
            <a:srgbClr val="159A9C"/>
          </a:solidFill>
          <a:ln cap="flat" cmpd="sng" w="127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6"/>
          <p:cNvSpPr/>
          <p:nvPr/>
        </p:nvSpPr>
        <p:spPr>
          <a:xfrm>
            <a:off x="582930" y="3607308"/>
            <a:ext cx="2880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1062990" y="3483864"/>
            <a:ext cx="72009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Meaningful contribution and practical learning across the team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6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/>
          <p:nvPr/>
        </p:nvSpPr>
        <p:spPr>
          <a:xfrm>
            <a:off x="514350" y="548640"/>
            <a:ext cx="2743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9A9C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59A9C"/>
                </a:solidFill>
                <a:latin typeface="Arial"/>
                <a:ea typeface="Arial"/>
                <a:cs typeface="Arial"/>
                <a:sym typeface="Arial"/>
              </a:rPr>
              <a:t>TEAM 2 • ITERATION 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514350" y="1097280"/>
            <a:ext cx="76809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7212B"/>
                </a:solidFill>
                <a:latin typeface="Arial"/>
                <a:ea typeface="Arial"/>
                <a:cs typeface="Arial"/>
                <a:sym typeface="Arial"/>
              </a:rPr>
              <a:t>Build the core learning loop first.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514350" y="1817370"/>
            <a:ext cx="76809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6EAA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2C6EAA"/>
                </a:solidFill>
                <a:latin typeface="Arial"/>
                <a:ea typeface="Arial"/>
                <a:cs typeface="Arial"/>
                <a:sym typeface="Arial"/>
              </a:rPr>
              <a:t>Generate → Review → Study → Schedule → Repeat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27"/>
          <p:cNvCxnSpPr/>
          <p:nvPr/>
        </p:nvCxnSpPr>
        <p:spPr>
          <a:xfrm>
            <a:off x="514350" y="2503170"/>
            <a:ext cx="8058150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7"/>
          <p:cNvSpPr/>
          <p:nvPr/>
        </p:nvSpPr>
        <p:spPr>
          <a:xfrm>
            <a:off x="514350" y="2914650"/>
            <a:ext cx="7406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B76"/>
                </a:solidFill>
                <a:latin typeface="Arial"/>
                <a:ea typeface="Arial"/>
                <a:cs typeface="Arial"/>
                <a:sym typeface="Arial"/>
              </a:rPr>
              <a:t>Next: finalize architecture and stack, establish the development environment, and begin Iteration 1 core functionality.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7"/>
          <p:cNvSpPr txBox="1"/>
          <p:nvPr>
            <p:ph idx="4294967295" type="sldNum"/>
          </p:nvPr>
        </p:nvSpPr>
        <p:spPr>
          <a:xfrm>
            <a:off x="8881110" y="4855464"/>
            <a:ext cx="1234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7A849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A84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